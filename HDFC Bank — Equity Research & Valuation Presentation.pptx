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28282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28282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28282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1" i="0">
                <a:solidFill>
                  <a:srgbClr val="28282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99618" y="346734"/>
            <a:ext cx="9088763" cy="179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rgbClr val="28282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29204" y="2096371"/>
            <a:ext cx="9375775" cy="3595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854252"/>
            <a:ext cx="3606165" cy="1400175"/>
            <a:chOff x="0" y="7854252"/>
            <a:chExt cx="3606165" cy="1400175"/>
          </a:xfrm>
        </p:grpSpPr>
        <p:sp>
          <p:nvSpPr>
            <p:cNvPr id="3" name="object 3"/>
            <p:cNvSpPr/>
            <p:nvPr/>
          </p:nvSpPr>
          <p:spPr>
            <a:xfrm>
              <a:off x="0" y="8259075"/>
              <a:ext cx="2983230" cy="995680"/>
            </a:xfrm>
            <a:custGeom>
              <a:avLst/>
              <a:gdLst/>
              <a:ahLst/>
              <a:cxnLst/>
              <a:rect l="l" t="t" r="r" b="b"/>
              <a:pathLst>
                <a:path w="2983230" h="995679">
                  <a:moveTo>
                    <a:pt x="2490790" y="995351"/>
                  </a:moveTo>
                  <a:lnTo>
                    <a:pt x="0" y="995351"/>
                  </a:lnTo>
                  <a:lnTo>
                    <a:pt x="0" y="824358"/>
                  </a:lnTo>
                  <a:lnTo>
                    <a:pt x="2485115" y="824358"/>
                  </a:lnTo>
                  <a:lnTo>
                    <a:pt x="2537862" y="820062"/>
                  </a:lnTo>
                  <a:lnTo>
                    <a:pt x="2587974" y="807630"/>
                  </a:lnTo>
                  <a:lnTo>
                    <a:pt x="2634766" y="787748"/>
                  </a:lnTo>
                  <a:lnTo>
                    <a:pt x="2677549" y="761099"/>
                  </a:lnTo>
                  <a:lnTo>
                    <a:pt x="2715635" y="728368"/>
                  </a:lnTo>
                  <a:lnTo>
                    <a:pt x="2748366" y="690255"/>
                  </a:lnTo>
                  <a:lnTo>
                    <a:pt x="2775015" y="647459"/>
                  </a:lnTo>
                  <a:lnTo>
                    <a:pt x="2794897" y="600667"/>
                  </a:lnTo>
                  <a:lnTo>
                    <a:pt x="2807329" y="550568"/>
                  </a:lnTo>
                  <a:lnTo>
                    <a:pt x="2811625" y="497848"/>
                  </a:lnTo>
                  <a:lnTo>
                    <a:pt x="2807329" y="445101"/>
                  </a:lnTo>
                  <a:lnTo>
                    <a:pt x="2794898" y="394985"/>
                  </a:lnTo>
                  <a:lnTo>
                    <a:pt x="2775015" y="348185"/>
                  </a:lnTo>
                  <a:lnTo>
                    <a:pt x="2748366" y="305385"/>
                  </a:lnTo>
                  <a:lnTo>
                    <a:pt x="2715635" y="267271"/>
                  </a:lnTo>
                  <a:lnTo>
                    <a:pt x="2677549" y="234541"/>
                  </a:lnTo>
                  <a:lnTo>
                    <a:pt x="2634766" y="207892"/>
                  </a:lnTo>
                  <a:lnTo>
                    <a:pt x="2587975" y="188009"/>
                  </a:lnTo>
                  <a:lnTo>
                    <a:pt x="2537862" y="175578"/>
                  </a:lnTo>
                  <a:lnTo>
                    <a:pt x="2485115" y="171282"/>
                  </a:lnTo>
                  <a:lnTo>
                    <a:pt x="0" y="171282"/>
                  </a:lnTo>
                  <a:lnTo>
                    <a:pt x="0" y="0"/>
                  </a:lnTo>
                  <a:lnTo>
                    <a:pt x="2485115" y="0"/>
                  </a:lnTo>
                  <a:lnTo>
                    <a:pt x="2535841" y="2582"/>
                  </a:lnTo>
                  <a:lnTo>
                    <a:pt x="2585146" y="10157"/>
                  </a:lnTo>
                  <a:lnTo>
                    <a:pt x="2632773" y="22471"/>
                  </a:lnTo>
                  <a:lnTo>
                    <a:pt x="2678465" y="39268"/>
                  </a:lnTo>
                  <a:lnTo>
                    <a:pt x="2721964" y="60291"/>
                  </a:lnTo>
                  <a:lnTo>
                    <a:pt x="2763015" y="85286"/>
                  </a:lnTo>
                  <a:lnTo>
                    <a:pt x="2801360" y="113996"/>
                  </a:lnTo>
                  <a:lnTo>
                    <a:pt x="2836741" y="146165"/>
                  </a:lnTo>
                  <a:lnTo>
                    <a:pt x="2868911" y="181545"/>
                  </a:lnTo>
                  <a:lnTo>
                    <a:pt x="2897621" y="219885"/>
                  </a:lnTo>
                  <a:lnTo>
                    <a:pt x="2922616" y="260931"/>
                  </a:lnTo>
                  <a:lnTo>
                    <a:pt x="2943639" y="304428"/>
                  </a:lnTo>
                  <a:lnTo>
                    <a:pt x="2960435" y="350123"/>
                  </a:lnTo>
                  <a:lnTo>
                    <a:pt x="2972749" y="397761"/>
                  </a:lnTo>
                  <a:lnTo>
                    <a:pt x="2980325" y="447087"/>
                  </a:lnTo>
                  <a:lnTo>
                    <a:pt x="2982907" y="497848"/>
                  </a:lnTo>
                  <a:lnTo>
                    <a:pt x="2980325" y="548574"/>
                  </a:lnTo>
                  <a:lnTo>
                    <a:pt x="2972749" y="597879"/>
                  </a:lnTo>
                  <a:lnTo>
                    <a:pt x="2960435" y="645506"/>
                  </a:lnTo>
                  <a:lnTo>
                    <a:pt x="2943639" y="691198"/>
                  </a:lnTo>
                  <a:lnTo>
                    <a:pt x="2922616" y="734697"/>
                  </a:lnTo>
                  <a:lnTo>
                    <a:pt x="2897621" y="775748"/>
                  </a:lnTo>
                  <a:lnTo>
                    <a:pt x="2868911" y="814092"/>
                  </a:lnTo>
                  <a:lnTo>
                    <a:pt x="2836741" y="849474"/>
                  </a:lnTo>
                  <a:lnTo>
                    <a:pt x="2801360" y="881644"/>
                  </a:lnTo>
                  <a:lnTo>
                    <a:pt x="2763015" y="910354"/>
                  </a:lnTo>
                  <a:lnTo>
                    <a:pt x="2721964" y="935348"/>
                  </a:lnTo>
                  <a:lnTo>
                    <a:pt x="2678465" y="956372"/>
                  </a:lnTo>
                  <a:lnTo>
                    <a:pt x="2632773" y="973168"/>
                  </a:lnTo>
                  <a:lnTo>
                    <a:pt x="2585146" y="985482"/>
                  </a:lnTo>
                  <a:lnTo>
                    <a:pt x="2535841" y="993058"/>
                  </a:lnTo>
                  <a:lnTo>
                    <a:pt x="2490790" y="995351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7854252"/>
              <a:ext cx="3606165" cy="993775"/>
            </a:xfrm>
            <a:custGeom>
              <a:avLst/>
              <a:gdLst/>
              <a:ahLst/>
              <a:cxnLst/>
              <a:rect l="l" t="t" r="r" b="b"/>
              <a:pathLst>
                <a:path w="3606165" h="993775">
                  <a:moveTo>
                    <a:pt x="3111397" y="993626"/>
                  </a:moveTo>
                  <a:lnTo>
                    <a:pt x="0" y="993626"/>
                  </a:lnTo>
                  <a:lnTo>
                    <a:pt x="0" y="822344"/>
                  </a:lnTo>
                  <a:lnTo>
                    <a:pt x="3111397" y="822344"/>
                  </a:lnTo>
                  <a:lnTo>
                    <a:pt x="3164144" y="818048"/>
                  </a:lnTo>
                  <a:lnTo>
                    <a:pt x="3214260" y="805616"/>
                  </a:lnTo>
                  <a:lnTo>
                    <a:pt x="3261060" y="785734"/>
                  </a:lnTo>
                  <a:lnTo>
                    <a:pt x="3303859" y="759085"/>
                  </a:lnTo>
                  <a:lnTo>
                    <a:pt x="3341973" y="726355"/>
                  </a:lnTo>
                  <a:lnTo>
                    <a:pt x="3374704" y="688241"/>
                  </a:lnTo>
                  <a:lnTo>
                    <a:pt x="3401353" y="645441"/>
                  </a:lnTo>
                  <a:lnTo>
                    <a:pt x="3421235" y="598641"/>
                  </a:lnTo>
                  <a:lnTo>
                    <a:pt x="3433667" y="548525"/>
                  </a:lnTo>
                  <a:lnTo>
                    <a:pt x="3437963" y="495778"/>
                  </a:lnTo>
                  <a:lnTo>
                    <a:pt x="3433667" y="443031"/>
                  </a:lnTo>
                  <a:lnTo>
                    <a:pt x="3421236" y="392918"/>
                  </a:lnTo>
                  <a:lnTo>
                    <a:pt x="3401353" y="346127"/>
                  </a:lnTo>
                  <a:lnTo>
                    <a:pt x="3374704" y="303344"/>
                  </a:lnTo>
                  <a:lnTo>
                    <a:pt x="3341973" y="265257"/>
                  </a:lnTo>
                  <a:lnTo>
                    <a:pt x="3303860" y="232548"/>
                  </a:lnTo>
                  <a:lnTo>
                    <a:pt x="3261060" y="205902"/>
                  </a:lnTo>
                  <a:lnTo>
                    <a:pt x="3214260" y="186012"/>
                  </a:lnTo>
                  <a:lnTo>
                    <a:pt x="3164144" y="173569"/>
                  </a:lnTo>
                  <a:lnTo>
                    <a:pt x="3111397" y="169268"/>
                  </a:lnTo>
                  <a:lnTo>
                    <a:pt x="0" y="169268"/>
                  </a:lnTo>
                  <a:lnTo>
                    <a:pt x="0" y="0"/>
                  </a:lnTo>
                  <a:lnTo>
                    <a:pt x="3150973" y="0"/>
                  </a:lnTo>
                  <a:lnTo>
                    <a:pt x="3162139" y="568"/>
                  </a:lnTo>
                  <a:lnTo>
                    <a:pt x="3211452" y="8144"/>
                  </a:lnTo>
                  <a:lnTo>
                    <a:pt x="3259082" y="20458"/>
                  </a:lnTo>
                  <a:lnTo>
                    <a:pt x="3304775" y="37254"/>
                  </a:lnTo>
                  <a:lnTo>
                    <a:pt x="3348275" y="58277"/>
                  </a:lnTo>
                  <a:lnTo>
                    <a:pt x="3389328" y="83272"/>
                  </a:lnTo>
                  <a:lnTo>
                    <a:pt x="3427681" y="111982"/>
                  </a:lnTo>
                  <a:lnTo>
                    <a:pt x="3463079" y="144152"/>
                  </a:lnTo>
                  <a:lnTo>
                    <a:pt x="3495249" y="179531"/>
                  </a:lnTo>
                  <a:lnTo>
                    <a:pt x="3523959" y="217870"/>
                  </a:lnTo>
                  <a:lnTo>
                    <a:pt x="3548954" y="258914"/>
                  </a:lnTo>
                  <a:lnTo>
                    <a:pt x="3569977" y="302407"/>
                  </a:lnTo>
                  <a:lnTo>
                    <a:pt x="3586773" y="348095"/>
                  </a:lnTo>
                  <a:lnTo>
                    <a:pt x="3599087" y="395723"/>
                  </a:lnTo>
                  <a:lnTo>
                    <a:pt x="3605625" y="438278"/>
                  </a:lnTo>
                  <a:lnTo>
                    <a:pt x="3605625" y="553278"/>
                  </a:lnTo>
                  <a:lnTo>
                    <a:pt x="3599087" y="595834"/>
                  </a:lnTo>
                  <a:lnTo>
                    <a:pt x="3586773" y="643463"/>
                  </a:lnTo>
                  <a:lnTo>
                    <a:pt x="3569977" y="689156"/>
                  </a:lnTo>
                  <a:lnTo>
                    <a:pt x="3548954" y="732656"/>
                  </a:lnTo>
                  <a:lnTo>
                    <a:pt x="3523959" y="773709"/>
                  </a:lnTo>
                  <a:lnTo>
                    <a:pt x="3495249" y="812062"/>
                  </a:lnTo>
                  <a:lnTo>
                    <a:pt x="3463079" y="847460"/>
                  </a:lnTo>
                  <a:lnTo>
                    <a:pt x="3427698" y="879630"/>
                  </a:lnTo>
                  <a:lnTo>
                    <a:pt x="3389352" y="908340"/>
                  </a:lnTo>
                  <a:lnTo>
                    <a:pt x="3348299" y="933334"/>
                  </a:lnTo>
                  <a:lnTo>
                    <a:pt x="3304796" y="954358"/>
                  </a:lnTo>
                  <a:lnTo>
                    <a:pt x="3259097" y="971154"/>
                  </a:lnTo>
                  <a:lnTo>
                    <a:pt x="3211460" y="983468"/>
                  </a:lnTo>
                  <a:lnTo>
                    <a:pt x="3162141" y="991044"/>
                  </a:lnTo>
                  <a:lnTo>
                    <a:pt x="3111397" y="993626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14678700" y="1028699"/>
            <a:ext cx="3609340" cy="1400175"/>
            <a:chOff x="14678700" y="1028699"/>
            <a:chExt cx="3609340" cy="1400175"/>
          </a:xfrm>
        </p:grpSpPr>
        <p:sp>
          <p:nvSpPr>
            <p:cNvPr id="6" name="object 6"/>
            <p:cNvSpPr/>
            <p:nvPr/>
          </p:nvSpPr>
          <p:spPr>
            <a:xfrm>
              <a:off x="14678700" y="1433522"/>
              <a:ext cx="3609340" cy="995680"/>
            </a:xfrm>
            <a:custGeom>
              <a:avLst/>
              <a:gdLst/>
              <a:ahLst/>
              <a:cxnLst/>
              <a:rect l="l" t="t" r="r" b="b"/>
              <a:pathLst>
                <a:path w="3609340" h="995680">
                  <a:moveTo>
                    <a:pt x="3609299" y="995351"/>
                  </a:moveTo>
                  <a:lnTo>
                    <a:pt x="492114" y="995351"/>
                  </a:lnTo>
                  <a:lnTo>
                    <a:pt x="447050" y="993058"/>
                  </a:lnTo>
                  <a:lnTo>
                    <a:pt x="397736" y="985482"/>
                  </a:lnTo>
                  <a:lnTo>
                    <a:pt x="350106" y="973168"/>
                  </a:lnTo>
                  <a:lnTo>
                    <a:pt x="304414" y="956372"/>
                  </a:lnTo>
                  <a:lnTo>
                    <a:pt x="260914" y="935348"/>
                  </a:lnTo>
                  <a:lnTo>
                    <a:pt x="219860" y="910354"/>
                  </a:lnTo>
                  <a:lnTo>
                    <a:pt x="181507" y="881644"/>
                  </a:lnTo>
                  <a:lnTo>
                    <a:pt x="146110" y="849474"/>
                  </a:lnTo>
                  <a:lnTo>
                    <a:pt x="113942" y="814093"/>
                  </a:lnTo>
                  <a:lnTo>
                    <a:pt x="85239" y="775748"/>
                  </a:lnTo>
                  <a:lnTo>
                    <a:pt x="60253" y="734697"/>
                  </a:lnTo>
                  <a:lnTo>
                    <a:pt x="39240" y="691198"/>
                  </a:lnTo>
                  <a:lnTo>
                    <a:pt x="22454" y="645506"/>
                  </a:lnTo>
                  <a:lnTo>
                    <a:pt x="10149" y="597879"/>
                  </a:lnTo>
                  <a:lnTo>
                    <a:pt x="2579" y="548574"/>
                  </a:lnTo>
                  <a:lnTo>
                    <a:pt x="0" y="497848"/>
                  </a:lnTo>
                  <a:lnTo>
                    <a:pt x="2579" y="447106"/>
                  </a:lnTo>
                  <a:lnTo>
                    <a:pt x="10150" y="397792"/>
                  </a:lnTo>
                  <a:lnTo>
                    <a:pt x="22457" y="350162"/>
                  </a:lnTo>
                  <a:lnTo>
                    <a:pt x="39247" y="304470"/>
                  </a:lnTo>
                  <a:lnTo>
                    <a:pt x="60267" y="260970"/>
                  </a:lnTo>
                  <a:lnTo>
                    <a:pt x="85262" y="219916"/>
                  </a:lnTo>
                  <a:lnTo>
                    <a:pt x="113980" y="181563"/>
                  </a:lnTo>
                  <a:lnTo>
                    <a:pt x="146166" y="146166"/>
                  </a:lnTo>
                  <a:lnTo>
                    <a:pt x="181563" y="113980"/>
                  </a:lnTo>
                  <a:lnTo>
                    <a:pt x="219915" y="85262"/>
                  </a:lnTo>
                  <a:lnTo>
                    <a:pt x="260967" y="60267"/>
                  </a:lnTo>
                  <a:lnTo>
                    <a:pt x="304463" y="39247"/>
                  </a:lnTo>
                  <a:lnTo>
                    <a:pt x="350149" y="22457"/>
                  </a:lnTo>
                  <a:lnTo>
                    <a:pt x="397769" y="10150"/>
                  </a:lnTo>
                  <a:lnTo>
                    <a:pt x="447068" y="2579"/>
                  </a:lnTo>
                  <a:lnTo>
                    <a:pt x="497792" y="0"/>
                  </a:lnTo>
                  <a:lnTo>
                    <a:pt x="3609299" y="0"/>
                  </a:lnTo>
                  <a:lnTo>
                    <a:pt x="3609299" y="171282"/>
                  </a:lnTo>
                  <a:lnTo>
                    <a:pt x="497792" y="171282"/>
                  </a:lnTo>
                  <a:lnTo>
                    <a:pt x="445045" y="175578"/>
                  </a:lnTo>
                  <a:lnTo>
                    <a:pt x="394929" y="188009"/>
                  </a:lnTo>
                  <a:lnTo>
                    <a:pt x="348129" y="207892"/>
                  </a:lnTo>
                  <a:lnTo>
                    <a:pt x="305329" y="234541"/>
                  </a:lnTo>
                  <a:lnTo>
                    <a:pt x="267215" y="267271"/>
                  </a:lnTo>
                  <a:lnTo>
                    <a:pt x="234485" y="305385"/>
                  </a:lnTo>
                  <a:lnTo>
                    <a:pt x="207836" y="348185"/>
                  </a:lnTo>
                  <a:lnTo>
                    <a:pt x="187953" y="394985"/>
                  </a:lnTo>
                  <a:lnTo>
                    <a:pt x="175522" y="445101"/>
                  </a:lnTo>
                  <a:lnTo>
                    <a:pt x="171226" y="497848"/>
                  </a:lnTo>
                  <a:lnTo>
                    <a:pt x="175522" y="550595"/>
                  </a:lnTo>
                  <a:lnTo>
                    <a:pt x="187953" y="600708"/>
                  </a:lnTo>
                  <a:lnTo>
                    <a:pt x="207836" y="647499"/>
                  </a:lnTo>
                  <a:lnTo>
                    <a:pt x="234485" y="690282"/>
                  </a:lnTo>
                  <a:lnTo>
                    <a:pt x="267215" y="728368"/>
                  </a:lnTo>
                  <a:lnTo>
                    <a:pt x="305329" y="761099"/>
                  </a:lnTo>
                  <a:lnTo>
                    <a:pt x="348129" y="787748"/>
                  </a:lnTo>
                  <a:lnTo>
                    <a:pt x="394929" y="807630"/>
                  </a:lnTo>
                  <a:lnTo>
                    <a:pt x="445045" y="820062"/>
                  </a:lnTo>
                  <a:lnTo>
                    <a:pt x="497792" y="824358"/>
                  </a:lnTo>
                  <a:lnTo>
                    <a:pt x="3609299" y="824358"/>
                  </a:lnTo>
                  <a:lnTo>
                    <a:pt x="3609299" y="995351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304983" y="1028699"/>
              <a:ext cx="2983230" cy="993775"/>
            </a:xfrm>
            <a:custGeom>
              <a:avLst/>
              <a:gdLst/>
              <a:ahLst/>
              <a:cxnLst/>
              <a:rect l="l" t="t" r="r" b="b"/>
              <a:pathLst>
                <a:path w="2983230" h="993775">
                  <a:moveTo>
                    <a:pt x="2983017" y="993626"/>
                  </a:moveTo>
                  <a:lnTo>
                    <a:pt x="497848" y="993626"/>
                  </a:lnTo>
                  <a:lnTo>
                    <a:pt x="447106" y="991044"/>
                  </a:lnTo>
                  <a:lnTo>
                    <a:pt x="397792" y="983468"/>
                  </a:lnTo>
                  <a:lnTo>
                    <a:pt x="350162" y="971154"/>
                  </a:lnTo>
                  <a:lnTo>
                    <a:pt x="304470" y="954358"/>
                  </a:lnTo>
                  <a:lnTo>
                    <a:pt x="260970" y="933335"/>
                  </a:lnTo>
                  <a:lnTo>
                    <a:pt x="219916" y="908340"/>
                  </a:lnTo>
                  <a:lnTo>
                    <a:pt x="181563" y="879630"/>
                  </a:lnTo>
                  <a:lnTo>
                    <a:pt x="146166" y="847460"/>
                  </a:lnTo>
                  <a:lnTo>
                    <a:pt x="113996" y="812062"/>
                  </a:lnTo>
                  <a:lnTo>
                    <a:pt x="85286" y="773710"/>
                  </a:lnTo>
                  <a:lnTo>
                    <a:pt x="60291" y="732656"/>
                  </a:lnTo>
                  <a:lnTo>
                    <a:pt x="39268" y="689156"/>
                  </a:lnTo>
                  <a:lnTo>
                    <a:pt x="22472" y="643463"/>
                  </a:lnTo>
                  <a:lnTo>
                    <a:pt x="10157" y="595834"/>
                  </a:lnTo>
                  <a:lnTo>
                    <a:pt x="2582" y="546520"/>
                  </a:lnTo>
                  <a:lnTo>
                    <a:pt x="0" y="495778"/>
                  </a:lnTo>
                  <a:lnTo>
                    <a:pt x="2579" y="445036"/>
                  </a:lnTo>
                  <a:lnTo>
                    <a:pt x="10150" y="395723"/>
                  </a:lnTo>
                  <a:lnTo>
                    <a:pt x="22457" y="348095"/>
                  </a:lnTo>
                  <a:lnTo>
                    <a:pt x="39247" y="302407"/>
                  </a:lnTo>
                  <a:lnTo>
                    <a:pt x="60267" y="258914"/>
                  </a:lnTo>
                  <a:lnTo>
                    <a:pt x="85262" y="217870"/>
                  </a:lnTo>
                  <a:lnTo>
                    <a:pt x="113980" y="179531"/>
                  </a:lnTo>
                  <a:lnTo>
                    <a:pt x="146166" y="144152"/>
                  </a:lnTo>
                  <a:lnTo>
                    <a:pt x="181545" y="111982"/>
                  </a:lnTo>
                  <a:lnTo>
                    <a:pt x="219885" y="83272"/>
                  </a:lnTo>
                  <a:lnTo>
                    <a:pt x="260931" y="58277"/>
                  </a:lnTo>
                  <a:lnTo>
                    <a:pt x="304428" y="37254"/>
                  </a:lnTo>
                  <a:lnTo>
                    <a:pt x="350123" y="20458"/>
                  </a:lnTo>
                  <a:lnTo>
                    <a:pt x="397761" y="8144"/>
                  </a:lnTo>
                  <a:lnTo>
                    <a:pt x="447087" y="568"/>
                  </a:lnTo>
                  <a:lnTo>
                    <a:pt x="458258" y="0"/>
                  </a:lnTo>
                  <a:lnTo>
                    <a:pt x="2983017" y="0"/>
                  </a:lnTo>
                  <a:lnTo>
                    <a:pt x="2983017" y="169268"/>
                  </a:lnTo>
                  <a:lnTo>
                    <a:pt x="497848" y="169268"/>
                  </a:lnTo>
                  <a:lnTo>
                    <a:pt x="445101" y="173564"/>
                  </a:lnTo>
                  <a:lnTo>
                    <a:pt x="394985" y="185996"/>
                  </a:lnTo>
                  <a:lnTo>
                    <a:pt x="348185" y="205878"/>
                  </a:lnTo>
                  <a:lnTo>
                    <a:pt x="305385" y="232527"/>
                  </a:lnTo>
                  <a:lnTo>
                    <a:pt x="267271" y="265258"/>
                  </a:lnTo>
                  <a:lnTo>
                    <a:pt x="234541" y="303371"/>
                  </a:lnTo>
                  <a:lnTo>
                    <a:pt x="207892" y="346167"/>
                  </a:lnTo>
                  <a:lnTo>
                    <a:pt x="188009" y="392959"/>
                  </a:lnTo>
                  <a:lnTo>
                    <a:pt x="175578" y="443058"/>
                  </a:lnTo>
                  <a:lnTo>
                    <a:pt x="171282" y="495778"/>
                  </a:lnTo>
                  <a:lnTo>
                    <a:pt x="175578" y="548525"/>
                  </a:lnTo>
                  <a:lnTo>
                    <a:pt x="188009" y="598641"/>
                  </a:lnTo>
                  <a:lnTo>
                    <a:pt x="207892" y="645441"/>
                  </a:lnTo>
                  <a:lnTo>
                    <a:pt x="234541" y="688241"/>
                  </a:lnTo>
                  <a:lnTo>
                    <a:pt x="267271" y="726355"/>
                  </a:lnTo>
                  <a:lnTo>
                    <a:pt x="305385" y="759085"/>
                  </a:lnTo>
                  <a:lnTo>
                    <a:pt x="348185" y="785734"/>
                  </a:lnTo>
                  <a:lnTo>
                    <a:pt x="394985" y="805617"/>
                  </a:lnTo>
                  <a:lnTo>
                    <a:pt x="445101" y="818048"/>
                  </a:lnTo>
                  <a:lnTo>
                    <a:pt x="497848" y="822344"/>
                  </a:lnTo>
                  <a:lnTo>
                    <a:pt x="2983017" y="822344"/>
                  </a:lnTo>
                  <a:lnTo>
                    <a:pt x="2983017" y="993626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0" y="0"/>
            <a:ext cx="3086100" cy="3086100"/>
            <a:chOff x="0" y="0"/>
            <a:chExt cx="3086100" cy="3086100"/>
          </a:xfrm>
        </p:grpSpPr>
        <p:sp>
          <p:nvSpPr>
            <p:cNvPr id="9" name="object 9"/>
            <p:cNvSpPr/>
            <p:nvPr/>
          </p:nvSpPr>
          <p:spPr>
            <a:xfrm>
              <a:off x="0" y="623738"/>
              <a:ext cx="3086100" cy="810260"/>
            </a:xfrm>
            <a:custGeom>
              <a:avLst/>
              <a:gdLst/>
              <a:ahLst/>
              <a:cxnLst/>
              <a:rect l="l" t="t" r="r" b="b"/>
              <a:pathLst>
                <a:path w="3086100" h="810260">
                  <a:moveTo>
                    <a:pt x="2681137" y="809924"/>
                  </a:moveTo>
                  <a:lnTo>
                    <a:pt x="0" y="809924"/>
                  </a:lnTo>
                  <a:lnTo>
                    <a:pt x="0" y="621499"/>
                  </a:lnTo>
                  <a:lnTo>
                    <a:pt x="2681137" y="621499"/>
                  </a:lnTo>
                  <a:lnTo>
                    <a:pt x="2724577" y="617070"/>
                  </a:lnTo>
                  <a:lnTo>
                    <a:pt x="2765131" y="604380"/>
                  </a:lnTo>
                  <a:lnTo>
                    <a:pt x="2801901" y="584329"/>
                  </a:lnTo>
                  <a:lnTo>
                    <a:pt x="2833989" y="557814"/>
                  </a:lnTo>
                  <a:lnTo>
                    <a:pt x="2860498" y="525726"/>
                  </a:lnTo>
                  <a:lnTo>
                    <a:pt x="2880536" y="488956"/>
                  </a:lnTo>
                  <a:lnTo>
                    <a:pt x="2893212" y="448402"/>
                  </a:lnTo>
                  <a:lnTo>
                    <a:pt x="2897635" y="404962"/>
                  </a:lnTo>
                  <a:lnTo>
                    <a:pt x="2893212" y="361505"/>
                  </a:lnTo>
                  <a:lnTo>
                    <a:pt x="2880536" y="320948"/>
                  </a:lnTo>
                  <a:lnTo>
                    <a:pt x="2860498" y="284175"/>
                  </a:lnTo>
                  <a:lnTo>
                    <a:pt x="2833989" y="252070"/>
                  </a:lnTo>
                  <a:lnTo>
                    <a:pt x="2801901" y="225561"/>
                  </a:lnTo>
                  <a:lnTo>
                    <a:pt x="2765131" y="205523"/>
                  </a:lnTo>
                  <a:lnTo>
                    <a:pt x="2724577" y="192848"/>
                  </a:lnTo>
                  <a:lnTo>
                    <a:pt x="2681137" y="188424"/>
                  </a:lnTo>
                  <a:lnTo>
                    <a:pt x="0" y="188424"/>
                  </a:lnTo>
                  <a:lnTo>
                    <a:pt x="0" y="0"/>
                  </a:lnTo>
                  <a:lnTo>
                    <a:pt x="2681137" y="0"/>
                  </a:lnTo>
                  <a:lnTo>
                    <a:pt x="2735925" y="3710"/>
                  </a:lnTo>
                  <a:lnTo>
                    <a:pt x="2788529" y="14514"/>
                  </a:lnTo>
                  <a:lnTo>
                    <a:pt x="2838455" y="31921"/>
                  </a:lnTo>
                  <a:lnTo>
                    <a:pt x="2885207" y="55439"/>
                  </a:lnTo>
                  <a:lnTo>
                    <a:pt x="2928291" y="84579"/>
                  </a:lnTo>
                  <a:lnTo>
                    <a:pt x="2967210" y="118850"/>
                  </a:lnTo>
                  <a:lnTo>
                    <a:pt x="3001483" y="157769"/>
                  </a:lnTo>
                  <a:lnTo>
                    <a:pt x="3030630" y="200853"/>
                  </a:lnTo>
                  <a:lnTo>
                    <a:pt x="3054159" y="247609"/>
                  </a:lnTo>
                  <a:lnTo>
                    <a:pt x="3071575" y="297542"/>
                  </a:lnTo>
                  <a:lnTo>
                    <a:pt x="3082386" y="350157"/>
                  </a:lnTo>
                  <a:lnTo>
                    <a:pt x="3086099" y="404962"/>
                  </a:lnTo>
                  <a:lnTo>
                    <a:pt x="3082386" y="459763"/>
                  </a:lnTo>
                  <a:lnTo>
                    <a:pt x="3071575" y="512372"/>
                  </a:lnTo>
                  <a:lnTo>
                    <a:pt x="3054158" y="562295"/>
                  </a:lnTo>
                  <a:lnTo>
                    <a:pt x="3030630" y="609041"/>
                  </a:lnTo>
                  <a:lnTo>
                    <a:pt x="3001483" y="652118"/>
                  </a:lnTo>
                  <a:lnTo>
                    <a:pt x="2967210" y="691034"/>
                  </a:lnTo>
                  <a:lnTo>
                    <a:pt x="2928293" y="725308"/>
                  </a:lnTo>
                  <a:lnTo>
                    <a:pt x="2885216" y="754455"/>
                  </a:lnTo>
                  <a:lnTo>
                    <a:pt x="2838470" y="777983"/>
                  </a:lnTo>
                  <a:lnTo>
                    <a:pt x="2788547" y="795399"/>
                  </a:lnTo>
                  <a:lnTo>
                    <a:pt x="2735939" y="806211"/>
                  </a:lnTo>
                  <a:lnTo>
                    <a:pt x="2681137" y="809924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3698" y="0"/>
              <a:ext cx="810260" cy="3086100"/>
            </a:xfrm>
            <a:custGeom>
              <a:avLst/>
              <a:gdLst/>
              <a:ahLst/>
              <a:cxnLst/>
              <a:rect l="l" t="t" r="r" b="b"/>
              <a:pathLst>
                <a:path w="810260" h="3086100">
                  <a:moveTo>
                    <a:pt x="188464" y="636576"/>
                  </a:moveTo>
                  <a:lnTo>
                    <a:pt x="39" y="636576"/>
                  </a:lnTo>
                  <a:lnTo>
                    <a:pt x="39" y="0"/>
                  </a:lnTo>
                  <a:lnTo>
                    <a:pt x="188464" y="0"/>
                  </a:lnTo>
                  <a:lnTo>
                    <a:pt x="188464" y="636576"/>
                  </a:lnTo>
                  <a:close/>
                </a:path>
                <a:path w="810260" h="3086100">
                  <a:moveTo>
                    <a:pt x="809963" y="1262984"/>
                  </a:moveTo>
                  <a:lnTo>
                    <a:pt x="621499" y="1262984"/>
                  </a:lnTo>
                  <a:lnTo>
                    <a:pt x="621499" y="0"/>
                  </a:lnTo>
                  <a:lnTo>
                    <a:pt x="809963" y="0"/>
                  </a:lnTo>
                  <a:lnTo>
                    <a:pt x="809963" y="1262984"/>
                  </a:lnTo>
                  <a:close/>
                </a:path>
                <a:path w="810260" h="3086100">
                  <a:moveTo>
                    <a:pt x="405001" y="3086099"/>
                  </a:moveTo>
                  <a:lnTo>
                    <a:pt x="350196" y="3082386"/>
                  </a:lnTo>
                  <a:lnTo>
                    <a:pt x="297581" y="3071575"/>
                  </a:lnTo>
                  <a:lnTo>
                    <a:pt x="247648" y="3054158"/>
                  </a:lnTo>
                  <a:lnTo>
                    <a:pt x="200892" y="3030630"/>
                  </a:lnTo>
                  <a:lnTo>
                    <a:pt x="157808" y="3001483"/>
                  </a:lnTo>
                  <a:lnTo>
                    <a:pt x="118889" y="2967210"/>
                  </a:lnTo>
                  <a:lnTo>
                    <a:pt x="84616" y="2928291"/>
                  </a:lnTo>
                  <a:lnTo>
                    <a:pt x="55468" y="2885207"/>
                  </a:lnTo>
                  <a:lnTo>
                    <a:pt x="31940" y="2838455"/>
                  </a:lnTo>
                  <a:lnTo>
                    <a:pt x="14524" y="2788529"/>
                  </a:lnTo>
                  <a:lnTo>
                    <a:pt x="3713" y="2735925"/>
                  </a:lnTo>
                  <a:lnTo>
                    <a:pt x="0" y="2681137"/>
                  </a:lnTo>
                  <a:lnTo>
                    <a:pt x="0" y="796849"/>
                  </a:lnTo>
                  <a:lnTo>
                    <a:pt x="188464" y="796849"/>
                  </a:lnTo>
                  <a:lnTo>
                    <a:pt x="188464" y="2681137"/>
                  </a:lnTo>
                  <a:lnTo>
                    <a:pt x="192893" y="2724577"/>
                  </a:lnTo>
                  <a:lnTo>
                    <a:pt x="205582" y="2765131"/>
                  </a:lnTo>
                  <a:lnTo>
                    <a:pt x="225634" y="2801901"/>
                  </a:lnTo>
                  <a:lnTo>
                    <a:pt x="252149" y="2833989"/>
                  </a:lnTo>
                  <a:lnTo>
                    <a:pt x="284237" y="2860498"/>
                  </a:lnTo>
                  <a:lnTo>
                    <a:pt x="321007" y="2880536"/>
                  </a:lnTo>
                  <a:lnTo>
                    <a:pt x="361561" y="2893212"/>
                  </a:lnTo>
                  <a:lnTo>
                    <a:pt x="405001" y="2897635"/>
                  </a:lnTo>
                  <a:lnTo>
                    <a:pt x="746092" y="2897635"/>
                  </a:lnTo>
                  <a:lnTo>
                    <a:pt x="725349" y="2928291"/>
                  </a:lnTo>
                  <a:lnTo>
                    <a:pt x="691074" y="2967210"/>
                  </a:lnTo>
                  <a:lnTo>
                    <a:pt x="652157" y="3001483"/>
                  </a:lnTo>
                  <a:lnTo>
                    <a:pt x="609080" y="3030630"/>
                  </a:lnTo>
                  <a:lnTo>
                    <a:pt x="562334" y="3054158"/>
                  </a:lnTo>
                  <a:lnTo>
                    <a:pt x="512411" y="3071575"/>
                  </a:lnTo>
                  <a:lnTo>
                    <a:pt x="459803" y="3082386"/>
                  </a:lnTo>
                  <a:lnTo>
                    <a:pt x="405001" y="3086099"/>
                  </a:lnTo>
                  <a:close/>
                </a:path>
                <a:path w="810260" h="3086100">
                  <a:moveTo>
                    <a:pt x="746092" y="2897635"/>
                  </a:moveTo>
                  <a:lnTo>
                    <a:pt x="405001" y="2897635"/>
                  </a:lnTo>
                  <a:lnTo>
                    <a:pt x="448435" y="2893212"/>
                  </a:lnTo>
                  <a:lnTo>
                    <a:pt x="488976" y="2880536"/>
                  </a:lnTo>
                  <a:lnTo>
                    <a:pt x="525732" y="2860498"/>
                  </a:lnTo>
                  <a:lnTo>
                    <a:pt x="557814" y="2833989"/>
                  </a:lnTo>
                  <a:lnTo>
                    <a:pt x="584329" y="2801901"/>
                  </a:lnTo>
                  <a:lnTo>
                    <a:pt x="604380" y="2765131"/>
                  </a:lnTo>
                  <a:lnTo>
                    <a:pt x="617070" y="2724577"/>
                  </a:lnTo>
                  <a:lnTo>
                    <a:pt x="621499" y="2681137"/>
                  </a:lnTo>
                  <a:lnTo>
                    <a:pt x="621499" y="1418663"/>
                  </a:lnTo>
                  <a:lnTo>
                    <a:pt x="809963" y="1418663"/>
                  </a:lnTo>
                  <a:lnTo>
                    <a:pt x="809963" y="2681137"/>
                  </a:lnTo>
                  <a:lnTo>
                    <a:pt x="806251" y="2735925"/>
                  </a:lnTo>
                  <a:lnTo>
                    <a:pt x="795442" y="2788529"/>
                  </a:lnTo>
                  <a:lnTo>
                    <a:pt x="778028" y="2838455"/>
                  </a:lnTo>
                  <a:lnTo>
                    <a:pt x="754499" y="2885207"/>
                  </a:lnTo>
                  <a:lnTo>
                    <a:pt x="746092" y="2897635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15201898" y="7200900"/>
            <a:ext cx="3086100" cy="3086100"/>
            <a:chOff x="15201898" y="7200900"/>
            <a:chExt cx="3086100" cy="3086100"/>
          </a:xfrm>
        </p:grpSpPr>
        <p:sp>
          <p:nvSpPr>
            <p:cNvPr id="12" name="object 12"/>
            <p:cNvSpPr/>
            <p:nvPr/>
          </p:nvSpPr>
          <p:spPr>
            <a:xfrm>
              <a:off x="15201898" y="8853337"/>
              <a:ext cx="3086100" cy="810260"/>
            </a:xfrm>
            <a:custGeom>
              <a:avLst/>
              <a:gdLst/>
              <a:ahLst/>
              <a:cxnLst/>
              <a:rect l="l" t="t" r="r" b="b"/>
              <a:pathLst>
                <a:path w="3086100" h="810259">
                  <a:moveTo>
                    <a:pt x="3086099" y="809924"/>
                  </a:moveTo>
                  <a:lnTo>
                    <a:pt x="404961" y="809924"/>
                  </a:lnTo>
                  <a:lnTo>
                    <a:pt x="350160" y="806211"/>
                  </a:lnTo>
                  <a:lnTo>
                    <a:pt x="297551" y="795399"/>
                  </a:lnTo>
                  <a:lnTo>
                    <a:pt x="247628" y="777983"/>
                  </a:lnTo>
                  <a:lnTo>
                    <a:pt x="200882" y="754455"/>
                  </a:lnTo>
                  <a:lnTo>
                    <a:pt x="157805" y="725308"/>
                  </a:lnTo>
                  <a:lnTo>
                    <a:pt x="118889" y="691034"/>
                  </a:lnTo>
                  <a:lnTo>
                    <a:pt x="84615" y="652118"/>
                  </a:lnTo>
                  <a:lnTo>
                    <a:pt x="55468" y="609041"/>
                  </a:lnTo>
                  <a:lnTo>
                    <a:pt x="31940" y="562295"/>
                  </a:lnTo>
                  <a:lnTo>
                    <a:pt x="14524" y="512372"/>
                  </a:lnTo>
                  <a:lnTo>
                    <a:pt x="3712" y="459763"/>
                  </a:lnTo>
                  <a:lnTo>
                    <a:pt x="0" y="404962"/>
                  </a:lnTo>
                  <a:lnTo>
                    <a:pt x="3712" y="350157"/>
                  </a:lnTo>
                  <a:lnTo>
                    <a:pt x="14524" y="297542"/>
                  </a:lnTo>
                  <a:lnTo>
                    <a:pt x="31940" y="247609"/>
                  </a:lnTo>
                  <a:lnTo>
                    <a:pt x="55468" y="200853"/>
                  </a:lnTo>
                  <a:lnTo>
                    <a:pt x="84615" y="157769"/>
                  </a:lnTo>
                  <a:lnTo>
                    <a:pt x="118889" y="118850"/>
                  </a:lnTo>
                  <a:lnTo>
                    <a:pt x="157805" y="84579"/>
                  </a:lnTo>
                  <a:lnTo>
                    <a:pt x="200882" y="55439"/>
                  </a:lnTo>
                  <a:lnTo>
                    <a:pt x="247628" y="31921"/>
                  </a:lnTo>
                  <a:lnTo>
                    <a:pt x="297551" y="14514"/>
                  </a:lnTo>
                  <a:lnTo>
                    <a:pt x="350160" y="3710"/>
                  </a:lnTo>
                  <a:lnTo>
                    <a:pt x="404961" y="0"/>
                  </a:lnTo>
                  <a:lnTo>
                    <a:pt x="3086099" y="0"/>
                  </a:lnTo>
                  <a:lnTo>
                    <a:pt x="3086099" y="188424"/>
                  </a:lnTo>
                  <a:lnTo>
                    <a:pt x="404961" y="188424"/>
                  </a:lnTo>
                  <a:lnTo>
                    <a:pt x="361521" y="192848"/>
                  </a:lnTo>
                  <a:lnTo>
                    <a:pt x="320967" y="205523"/>
                  </a:lnTo>
                  <a:lnTo>
                    <a:pt x="284197" y="225561"/>
                  </a:lnTo>
                  <a:lnTo>
                    <a:pt x="252109" y="252070"/>
                  </a:lnTo>
                  <a:lnTo>
                    <a:pt x="225600" y="284175"/>
                  </a:lnTo>
                  <a:lnTo>
                    <a:pt x="205562" y="320948"/>
                  </a:lnTo>
                  <a:lnTo>
                    <a:pt x="192886" y="361505"/>
                  </a:lnTo>
                  <a:lnTo>
                    <a:pt x="188463" y="404962"/>
                  </a:lnTo>
                  <a:lnTo>
                    <a:pt x="192886" y="448402"/>
                  </a:lnTo>
                  <a:lnTo>
                    <a:pt x="205562" y="488956"/>
                  </a:lnTo>
                  <a:lnTo>
                    <a:pt x="225600" y="525726"/>
                  </a:lnTo>
                  <a:lnTo>
                    <a:pt x="252109" y="557814"/>
                  </a:lnTo>
                  <a:lnTo>
                    <a:pt x="284197" y="584329"/>
                  </a:lnTo>
                  <a:lnTo>
                    <a:pt x="320967" y="604380"/>
                  </a:lnTo>
                  <a:lnTo>
                    <a:pt x="361521" y="617070"/>
                  </a:lnTo>
                  <a:lnTo>
                    <a:pt x="404961" y="621499"/>
                  </a:lnTo>
                  <a:lnTo>
                    <a:pt x="3086099" y="621499"/>
                  </a:lnTo>
                  <a:lnTo>
                    <a:pt x="3086099" y="809924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854296" y="7200900"/>
              <a:ext cx="810260" cy="3086100"/>
            </a:xfrm>
            <a:custGeom>
              <a:avLst/>
              <a:gdLst/>
              <a:ahLst/>
              <a:cxnLst/>
              <a:rect l="l" t="t" r="r" b="b"/>
              <a:pathLst>
                <a:path w="810259" h="3086100">
                  <a:moveTo>
                    <a:pt x="188464" y="1665276"/>
                  </a:moveTo>
                  <a:lnTo>
                    <a:pt x="39" y="1665276"/>
                  </a:lnTo>
                  <a:lnTo>
                    <a:pt x="39" y="404962"/>
                  </a:lnTo>
                  <a:lnTo>
                    <a:pt x="3752" y="350160"/>
                  </a:lnTo>
                  <a:lnTo>
                    <a:pt x="14563" y="297552"/>
                  </a:lnTo>
                  <a:lnTo>
                    <a:pt x="31980" y="247629"/>
                  </a:lnTo>
                  <a:lnTo>
                    <a:pt x="55508" y="200882"/>
                  </a:lnTo>
                  <a:lnTo>
                    <a:pt x="84655" y="157805"/>
                  </a:lnTo>
                  <a:lnTo>
                    <a:pt x="118928" y="118889"/>
                  </a:lnTo>
                  <a:lnTo>
                    <a:pt x="157845" y="84616"/>
                  </a:lnTo>
                  <a:lnTo>
                    <a:pt x="200922" y="55468"/>
                  </a:lnTo>
                  <a:lnTo>
                    <a:pt x="247668" y="31940"/>
                  </a:lnTo>
                  <a:lnTo>
                    <a:pt x="297591" y="14524"/>
                  </a:lnTo>
                  <a:lnTo>
                    <a:pt x="350199" y="3713"/>
                  </a:lnTo>
                  <a:lnTo>
                    <a:pt x="405001" y="0"/>
                  </a:lnTo>
                  <a:lnTo>
                    <a:pt x="459803" y="3713"/>
                  </a:lnTo>
                  <a:lnTo>
                    <a:pt x="512413" y="14524"/>
                  </a:lnTo>
                  <a:lnTo>
                    <a:pt x="562339" y="31940"/>
                  </a:lnTo>
                  <a:lnTo>
                    <a:pt x="609092" y="55468"/>
                  </a:lnTo>
                  <a:lnTo>
                    <a:pt x="652180" y="84616"/>
                  </a:lnTo>
                  <a:lnTo>
                    <a:pt x="691113" y="118889"/>
                  </a:lnTo>
                  <a:lnTo>
                    <a:pt x="725370" y="157805"/>
                  </a:lnTo>
                  <a:lnTo>
                    <a:pt x="746080" y="188424"/>
                  </a:lnTo>
                  <a:lnTo>
                    <a:pt x="405001" y="188424"/>
                  </a:lnTo>
                  <a:lnTo>
                    <a:pt x="361561" y="192854"/>
                  </a:lnTo>
                  <a:lnTo>
                    <a:pt x="321007" y="205543"/>
                  </a:lnTo>
                  <a:lnTo>
                    <a:pt x="284237" y="225594"/>
                  </a:lnTo>
                  <a:lnTo>
                    <a:pt x="252149" y="252109"/>
                  </a:lnTo>
                  <a:lnTo>
                    <a:pt x="225634" y="284197"/>
                  </a:lnTo>
                  <a:lnTo>
                    <a:pt x="205582" y="320968"/>
                  </a:lnTo>
                  <a:lnTo>
                    <a:pt x="192893" y="361522"/>
                  </a:lnTo>
                  <a:lnTo>
                    <a:pt x="188464" y="404962"/>
                  </a:lnTo>
                  <a:lnTo>
                    <a:pt x="188464" y="1665276"/>
                  </a:lnTo>
                  <a:close/>
                </a:path>
                <a:path w="810259" h="3086100">
                  <a:moveTo>
                    <a:pt x="809963" y="2291684"/>
                  </a:moveTo>
                  <a:lnTo>
                    <a:pt x="621499" y="2291684"/>
                  </a:lnTo>
                  <a:lnTo>
                    <a:pt x="621499" y="404962"/>
                  </a:lnTo>
                  <a:lnTo>
                    <a:pt x="617070" y="361522"/>
                  </a:lnTo>
                  <a:lnTo>
                    <a:pt x="604380" y="320968"/>
                  </a:lnTo>
                  <a:lnTo>
                    <a:pt x="584329" y="284197"/>
                  </a:lnTo>
                  <a:lnTo>
                    <a:pt x="557814" y="252109"/>
                  </a:lnTo>
                  <a:lnTo>
                    <a:pt x="525732" y="225594"/>
                  </a:lnTo>
                  <a:lnTo>
                    <a:pt x="488976" y="205543"/>
                  </a:lnTo>
                  <a:lnTo>
                    <a:pt x="448435" y="192854"/>
                  </a:lnTo>
                  <a:lnTo>
                    <a:pt x="405001" y="188424"/>
                  </a:lnTo>
                  <a:lnTo>
                    <a:pt x="746080" y="188424"/>
                  </a:lnTo>
                  <a:lnTo>
                    <a:pt x="778027" y="247629"/>
                  </a:lnTo>
                  <a:lnTo>
                    <a:pt x="795440" y="297552"/>
                  </a:lnTo>
                  <a:lnTo>
                    <a:pt x="806250" y="350160"/>
                  </a:lnTo>
                  <a:lnTo>
                    <a:pt x="809963" y="404962"/>
                  </a:lnTo>
                  <a:lnTo>
                    <a:pt x="809963" y="2291684"/>
                  </a:lnTo>
                  <a:close/>
                </a:path>
                <a:path w="810259" h="3086100">
                  <a:moveTo>
                    <a:pt x="188464" y="3086100"/>
                  </a:moveTo>
                  <a:lnTo>
                    <a:pt x="0" y="3086100"/>
                  </a:lnTo>
                  <a:lnTo>
                    <a:pt x="0" y="1825549"/>
                  </a:lnTo>
                  <a:lnTo>
                    <a:pt x="188464" y="1825549"/>
                  </a:lnTo>
                  <a:lnTo>
                    <a:pt x="188464" y="3086100"/>
                  </a:lnTo>
                  <a:close/>
                </a:path>
                <a:path w="810259" h="3086100">
                  <a:moveTo>
                    <a:pt x="809963" y="3086100"/>
                  </a:moveTo>
                  <a:lnTo>
                    <a:pt x="621499" y="3086100"/>
                  </a:lnTo>
                  <a:lnTo>
                    <a:pt x="621499" y="2447363"/>
                  </a:lnTo>
                  <a:lnTo>
                    <a:pt x="809963" y="2447363"/>
                  </a:lnTo>
                  <a:lnTo>
                    <a:pt x="809963" y="3086100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812371" y="694004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69" h="521970">
                <a:moveTo>
                  <a:pt x="260856" y="521713"/>
                </a:moveTo>
                <a:lnTo>
                  <a:pt x="213967" y="517510"/>
                </a:lnTo>
                <a:lnTo>
                  <a:pt x="169835" y="505393"/>
                </a:lnTo>
                <a:lnTo>
                  <a:pt x="129197" y="486098"/>
                </a:lnTo>
                <a:lnTo>
                  <a:pt x="92790" y="460363"/>
                </a:lnTo>
                <a:lnTo>
                  <a:pt x="61350" y="428923"/>
                </a:lnTo>
                <a:lnTo>
                  <a:pt x="35614" y="392516"/>
                </a:lnTo>
                <a:lnTo>
                  <a:pt x="16319" y="351878"/>
                </a:lnTo>
                <a:lnTo>
                  <a:pt x="4202" y="307746"/>
                </a:lnTo>
                <a:lnTo>
                  <a:pt x="0" y="260856"/>
                </a:lnTo>
                <a:lnTo>
                  <a:pt x="4202" y="213967"/>
                </a:lnTo>
                <a:lnTo>
                  <a:pt x="16319" y="169835"/>
                </a:lnTo>
                <a:lnTo>
                  <a:pt x="35614" y="129197"/>
                </a:lnTo>
                <a:lnTo>
                  <a:pt x="61350" y="92790"/>
                </a:lnTo>
                <a:lnTo>
                  <a:pt x="92790" y="61350"/>
                </a:lnTo>
                <a:lnTo>
                  <a:pt x="129197" y="35614"/>
                </a:lnTo>
                <a:lnTo>
                  <a:pt x="169835" y="16319"/>
                </a:lnTo>
                <a:lnTo>
                  <a:pt x="213967" y="4202"/>
                </a:lnTo>
                <a:lnTo>
                  <a:pt x="260856" y="0"/>
                </a:lnTo>
                <a:lnTo>
                  <a:pt x="307746" y="4202"/>
                </a:lnTo>
                <a:lnTo>
                  <a:pt x="351878" y="16319"/>
                </a:lnTo>
                <a:lnTo>
                  <a:pt x="392516" y="35614"/>
                </a:lnTo>
                <a:lnTo>
                  <a:pt x="428923" y="61350"/>
                </a:lnTo>
                <a:lnTo>
                  <a:pt x="460363" y="92790"/>
                </a:lnTo>
                <a:lnTo>
                  <a:pt x="486098" y="129197"/>
                </a:lnTo>
                <a:lnTo>
                  <a:pt x="505393" y="169835"/>
                </a:lnTo>
                <a:lnTo>
                  <a:pt x="517510" y="213967"/>
                </a:lnTo>
                <a:lnTo>
                  <a:pt x="521713" y="260856"/>
                </a:lnTo>
                <a:lnTo>
                  <a:pt x="517510" y="307746"/>
                </a:lnTo>
                <a:lnTo>
                  <a:pt x="505393" y="351878"/>
                </a:lnTo>
                <a:lnTo>
                  <a:pt x="486098" y="392516"/>
                </a:lnTo>
                <a:lnTo>
                  <a:pt x="460363" y="428923"/>
                </a:lnTo>
                <a:lnTo>
                  <a:pt x="428923" y="460363"/>
                </a:lnTo>
                <a:lnTo>
                  <a:pt x="392516" y="486098"/>
                </a:lnTo>
                <a:lnTo>
                  <a:pt x="351878" y="505393"/>
                </a:lnTo>
                <a:lnTo>
                  <a:pt x="307746" y="517510"/>
                </a:lnTo>
                <a:lnTo>
                  <a:pt x="260856" y="521713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22" rIns="0" bIns="0" rtlCol="0" vert="horz">
            <a:spAutoFit/>
          </a:bodyPr>
          <a:lstStyle/>
          <a:p>
            <a:pPr marL="1104265">
              <a:lnSpc>
                <a:spcPct val="100000"/>
              </a:lnSpc>
              <a:spcBef>
                <a:spcPts val="105"/>
              </a:spcBef>
            </a:pPr>
            <a:r>
              <a:rPr dirty="0" sz="9900" spc="-265"/>
              <a:t>HDFC</a:t>
            </a:r>
            <a:r>
              <a:rPr dirty="0" sz="9900" spc="-880"/>
              <a:t> </a:t>
            </a:r>
            <a:r>
              <a:rPr dirty="0" sz="9900" spc="-690"/>
              <a:t>BANK</a:t>
            </a:r>
            <a:endParaRPr sz="9900"/>
          </a:p>
        </p:txBody>
      </p:sp>
      <p:sp>
        <p:nvSpPr>
          <p:cNvPr id="16" name="object 16"/>
          <p:cNvSpPr/>
          <p:nvPr/>
        </p:nvSpPr>
        <p:spPr>
          <a:xfrm>
            <a:off x="16953915" y="2989836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69" h="521970">
                <a:moveTo>
                  <a:pt x="260856" y="521713"/>
                </a:moveTo>
                <a:lnTo>
                  <a:pt x="213967" y="517510"/>
                </a:lnTo>
                <a:lnTo>
                  <a:pt x="169835" y="505393"/>
                </a:lnTo>
                <a:lnTo>
                  <a:pt x="129197" y="486098"/>
                </a:lnTo>
                <a:lnTo>
                  <a:pt x="92790" y="460363"/>
                </a:lnTo>
                <a:lnTo>
                  <a:pt x="61350" y="428923"/>
                </a:lnTo>
                <a:lnTo>
                  <a:pt x="35614" y="392516"/>
                </a:lnTo>
                <a:lnTo>
                  <a:pt x="16319" y="351878"/>
                </a:lnTo>
                <a:lnTo>
                  <a:pt x="4202" y="307746"/>
                </a:lnTo>
                <a:lnTo>
                  <a:pt x="0" y="260856"/>
                </a:lnTo>
                <a:lnTo>
                  <a:pt x="4202" y="213967"/>
                </a:lnTo>
                <a:lnTo>
                  <a:pt x="16319" y="169835"/>
                </a:lnTo>
                <a:lnTo>
                  <a:pt x="35614" y="129197"/>
                </a:lnTo>
                <a:lnTo>
                  <a:pt x="61350" y="92790"/>
                </a:lnTo>
                <a:lnTo>
                  <a:pt x="92790" y="61350"/>
                </a:lnTo>
                <a:lnTo>
                  <a:pt x="129197" y="35614"/>
                </a:lnTo>
                <a:lnTo>
                  <a:pt x="169835" y="16319"/>
                </a:lnTo>
                <a:lnTo>
                  <a:pt x="213967" y="4202"/>
                </a:lnTo>
                <a:lnTo>
                  <a:pt x="260856" y="0"/>
                </a:lnTo>
                <a:lnTo>
                  <a:pt x="307746" y="4202"/>
                </a:lnTo>
                <a:lnTo>
                  <a:pt x="351878" y="16319"/>
                </a:lnTo>
                <a:lnTo>
                  <a:pt x="392516" y="35614"/>
                </a:lnTo>
                <a:lnTo>
                  <a:pt x="428923" y="61350"/>
                </a:lnTo>
                <a:lnTo>
                  <a:pt x="460363" y="92790"/>
                </a:lnTo>
                <a:lnTo>
                  <a:pt x="486099" y="129197"/>
                </a:lnTo>
                <a:lnTo>
                  <a:pt x="505394" y="169835"/>
                </a:lnTo>
                <a:lnTo>
                  <a:pt x="517511" y="213967"/>
                </a:lnTo>
                <a:lnTo>
                  <a:pt x="521713" y="260856"/>
                </a:lnTo>
                <a:lnTo>
                  <a:pt x="517511" y="307746"/>
                </a:lnTo>
                <a:lnTo>
                  <a:pt x="505394" y="351878"/>
                </a:lnTo>
                <a:lnTo>
                  <a:pt x="486099" y="392516"/>
                </a:lnTo>
                <a:lnTo>
                  <a:pt x="460363" y="428923"/>
                </a:lnTo>
                <a:lnTo>
                  <a:pt x="428923" y="460363"/>
                </a:lnTo>
                <a:lnTo>
                  <a:pt x="392516" y="486098"/>
                </a:lnTo>
                <a:lnTo>
                  <a:pt x="351878" y="505393"/>
                </a:lnTo>
                <a:lnTo>
                  <a:pt x="307746" y="517510"/>
                </a:lnTo>
                <a:lnTo>
                  <a:pt x="260856" y="521713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890046" y="2168769"/>
            <a:ext cx="8508365" cy="74187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dirty="0" sz="7700" spc="-670" b="1">
                <a:solidFill>
                  <a:srgbClr val="282828"/>
                </a:solidFill>
                <a:latin typeface="Tahoma"/>
                <a:cs typeface="Tahoma"/>
              </a:rPr>
              <a:t>EǪUITY</a:t>
            </a:r>
            <a:r>
              <a:rPr dirty="0" sz="7700" spc="-675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7700" spc="-380" b="1">
                <a:solidFill>
                  <a:srgbClr val="282828"/>
                </a:solidFill>
                <a:latin typeface="Tahoma"/>
                <a:cs typeface="Tahoma"/>
              </a:rPr>
              <a:t>RESEARCH</a:t>
            </a:r>
            <a:endParaRPr sz="7700">
              <a:latin typeface="Tahoma"/>
              <a:cs typeface="Tahoma"/>
            </a:endParaRPr>
          </a:p>
          <a:p>
            <a:pPr algn="ctr" marL="1281430" marR="1273810">
              <a:lnSpc>
                <a:spcPct val="115500"/>
              </a:lnSpc>
              <a:spcBef>
                <a:spcPts val="2880"/>
              </a:spcBef>
            </a:pPr>
            <a:r>
              <a:rPr dirty="0" sz="3950" spc="45">
                <a:solidFill>
                  <a:srgbClr val="282828"/>
                </a:solidFill>
                <a:latin typeface="Tahoma"/>
                <a:cs typeface="Tahoma"/>
              </a:rPr>
              <a:t>Financial</a:t>
            </a:r>
            <a:r>
              <a:rPr dirty="0" sz="3950" spc="-4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10">
                <a:solidFill>
                  <a:srgbClr val="282828"/>
                </a:solidFill>
                <a:latin typeface="Tahoma"/>
                <a:cs typeface="Tahoma"/>
              </a:rPr>
              <a:t>Analysis,Forecast </a:t>
            </a:r>
            <a:r>
              <a:rPr dirty="0" sz="3950" spc="165">
                <a:solidFill>
                  <a:srgbClr val="282828"/>
                </a:solidFill>
                <a:latin typeface="Tahoma"/>
                <a:cs typeface="Tahoma"/>
              </a:rPr>
              <a:t>C</a:t>
            </a:r>
            <a:r>
              <a:rPr dirty="0" sz="3950" spc="-43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10">
                <a:solidFill>
                  <a:srgbClr val="282828"/>
                </a:solidFill>
                <a:latin typeface="Tahoma"/>
                <a:cs typeface="Tahoma"/>
              </a:rPr>
              <a:t>Valuation</a:t>
            </a:r>
            <a:endParaRPr sz="3950">
              <a:latin typeface="Tahoma"/>
              <a:cs typeface="Tahoma"/>
            </a:endParaRPr>
          </a:p>
          <a:p>
            <a:pPr algn="ctr" marL="1557655" marR="1550670">
              <a:lnSpc>
                <a:spcPct val="115500"/>
              </a:lnSpc>
              <a:spcBef>
                <a:spcPts val="2585"/>
              </a:spcBef>
            </a:pPr>
            <a:r>
              <a:rPr dirty="0" sz="3950">
                <a:solidFill>
                  <a:srgbClr val="282828"/>
                </a:solidFill>
                <a:latin typeface="Tahoma"/>
                <a:cs typeface="Tahoma"/>
              </a:rPr>
              <a:t>Analysis</a:t>
            </a:r>
            <a:r>
              <a:rPr dirty="0" sz="3950" spc="-3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45">
                <a:solidFill>
                  <a:srgbClr val="282828"/>
                </a:solidFill>
                <a:latin typeface="Tahoma"/>
                <a:cs typeface="Tahoma"/>
              </a:rPr>
              <a:t>Period:</a:t>
            </a:r>
            <a:r>
              <a:rPr dirty="0" sz="3950" spc="-3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85">
                <a:solidFill>
                  <a:srgbClr val="282828"/>
                </a:solidFill>
                <a:latin typeface="Tahoma"/>
                <a:cs typeface="Tahoma"/>
              </a:rPr>
              <a:t>FY2022–</a:t>
            </a:r>
            <a:r>
              <a:rPr dirty="0" sz="3950" spc="-10">
                <a:solidFill>
                  <a:srgbClr val="282828"/>
                </a:solidFill>
                <a:latin typeface="Tahoma"/>
                <a:cs typeface="Tahoma"/>
              </a:rPr>
              <a:t>FY2026</a:t>
            </a:r>
            <a:endParaRPr sz="3950">
              <a:latin typeface="Tahoma"/>
              <a:cs typeface="Tahoma"/>
            </a:endParaRPr>
          </a:p>
          <a:p>
            <a:pPr algn="ctr" marL="2146300" marR="2138680">
              <a:lnSpc>
                <a:spcPct val="115500"/>
              </a:lnSpc>
              <a:spcBef>
                <a:spcPts val="1875"/>
              </a:spcBef>
            </a:pPr>
            <a:r>
              <a:rPr dirty="0" sz="3950" spc="-55">
                <a:solidFill>
                  <a:srgbClr val="282828"/>
                </a:solidFill>
                <a:latin typeface="Tahoma"/>
                <a:cs typeface="Tahoma"/>
              </a:rPr>
              <a:t>Independent</a:t>
            </a:r>
            <a:r>
              <a:rPr dirty="0" sz="3950" spc="-3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20">
                <a:solidFill>
                  <a:srgbClr val="282828"/>
                </a:solidFill>
                <a:latin typeface="Tahoma"/>
                <a:cs typeface="Tahoma"/>
              </a:rPr>
              <a:t>Equity </a:t>
            </a:r>
            <a:r>
              <a:rPr dirty="0" sz="3950">
                <a:solidFill>
                  <a:srgbClr val="282828"/>
                </a:solidFill>
                <a:latin typeface="Tahoma"/>
                <a:cs typeface="Tahoma"/>
              </a:rPr>
              <a:t>Research</a:t>
            </a:r>
            <a:r>
              <a:rPr dirty="0" sz="3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10">
                <a:solidFill>
                  <a:srgbClr val="282828"/>
                </a:solidFill>
                <a:latin typeface="Tahoma"/>
                <a:cs typeface="Tahoma"/>
              </a:rPr>
              <a:t>Project</a:t>
            </a:r>
            <a:endParaRPr sz="39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029"/>
              </a:spcBef>
            </a:pPr>
            <a:r>
              <a:rPr dirty="0" sz="3950" spc="-85">
                <a:solidFill>
                  <a:srgbClr val="282828"/>
                </a:solidFill>
                <a:latin typeface="Tahoma"/>
                <a:cs typeface="Tahoma"/>
              </a:rPr>
              <a:t>by</a:t>
            </a:r>
            <a:r>
              <a:rPr dirty="0" sz="3950" spc="-42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10">
                <a:solidFill>
                  <a:srgbClr val="282828"/>
                </a:solidFill>
                <a:latin typeface="Tahoma"/>
                <a:cs typeface="Tahoma"/>
              </a:rPr>
              <a:t>Varshitha</a:t>
            </a:r>
            <a:r>
              <a:rPr dirty="0" sz="3950" spc="-42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950" spc="-10">
                <a:solidFill>
                  <a:srgbClr val="282828"/>
                </a:solidFill>
                <a:latin typeface="Tahoma"/>
                <a:cs typeface="Tahoma"/>
              </a:rPr>
              <a:t>Chowdary</a:t>
            </a:r>
            <a:endParaRPr sz="3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01898" y="8026219"/>
            <a:ext cx="3086100" cy="2261235"/>
            <a:chOff x="15201898" y="8026219"/>
            <a:chExt cx="3086100" cy="2261235"/>
          </a:xfrm>
        </p:grpSpPr>
        <p:sp>
          <p:nvSpPr>
            <p:cNvPr id="3" name="object 3"/>
            <p:cNvSpPr/>
            <p:nvPr/>
          </p:nvSpPr>
          <p:spPr>
            <a:xfrm>
              <a:off x="15201898" y="9678656"/>
              <a:ext cx="3086100" cy="608965"/>
            </a:xfrm>
            <a:custGeom>
              <a:avLst/>
              <a:gdLst/>
              <a:ahLst/>
              <a:cxnLst/>
              <a:rect l="l" t="t" r="r" b="b"/>
              <a:pathLst>
                <a:path w="3086100" h="608965">
                  <a:moveTo>
                    <a:pt x="333629" y="608342"/>
                  </a:moveTo>
                  <a:lnTo>
                    <a:pt x="55117" y="608342"/>
                  </a:lnTo>
                  <a:lnTo>
                    <a:pt x="31940" y="562295"/>
                  </a:lnTo>
                  <a:lnTo>
                    <a:pt x="14524" y="512372"/>
                  </a:lnTo>
                  <a:lnTo>
                    <a:pt x="3713" y="459763"/>
                  </a:lnTo>
                  <a:lnTo>
                    <a:pt x="0" y="404962"/>
                  </a:lnTo>
                  <a:lnTo>
                    <a:pt x="3713" y="350157"/>
                  </a:lnTo>
                  <a:lnTo>
                    <a:pt x="14524" y="297542"/>
                  </a:lnTo>
                  <a:lnTo>
                    <a:pt x="31940" y="247609"/>
                  </a:lnTo>
                  <a:lnTo>
                    <a:pt x="55468" y="200853"/>
                  </a:lnTo>
                  <a:lnTo>
                    <a:pt x="84616" y="157769"/>
                  </a:lnTo>
                  <a:lnTo>
                    <a:pt x="118889" y="118850"/>
                  </a:lnTo>
                  <a:lnTo>
                    <a:pt x="157805" y="84579"/>
                  </a:lnTo>
                  <a:lnTo>
                    <a:pt x="200882" y="55439"/>
                  </a:lnTo>
                  <a:lnTo>
                    <a:pt x="247629" y="31921"/>
                  </a:lnTo>
                  <a:lnTo>
                    <a:pt x="297552" y="14514"/>
                  </a:lnTo>
                  <a:lnTo>
                    <a:pt x="350160" y="3710"/>
                  </a:lnTo>
                  <a:lnTo>
                    <a:pt x="404962" y="0"/>
                  </a:lnTo>
                  <a:lnTo>
                    <a:pt x="3086099" y="0"/>
                  </a:lnTo>
                  <a:lnTo>
                    <a:pt x="3086099" y="188424"/>
                  </a:lnTo>
                  <a:lnTo>
                    <a:pt x="404962" y="188424"/>
                  </a:lnTo>
                  <a:lnTo>
                    <a:pt x="361522" y="192848"/>
                  </a:lnTo>
                  <a:lnTo>
                    <a:pt x="320968" y="205523"/>
                  </a:lnTo>
                  <a:lnTo>
                    <a:pt x="284197" y="225561"/>
                  </a:lnTo>
                  <a:lnTo>
                    <a:pt x="252109" y="252070"/>
                  </a:lnTo>
                  <a:lnTo>
                    <a:pt x="225601" y="284175"/>
                  </a:lnTo>
                  <a:lnTo>
                    <a:pt x="205563" y="320948"/>
                  </a:lnTo>
                  <a:lnTo>
                    <a:pt x="192887" y="361505"/>
                  </a:lnTo>
                  <a:lnTo>
                    <a:pt x="188464" y="404962"/>
                  </a:lnTo>
                  <a:lnTo>
                    <a:pt x="192887" y="448402"/>
                  </a:lnTo>
                  <a:lnTo>
                    <a:pt x="205563" y="488956"/>
                  </a:lnTo>
                  <a:lnTo>
                    <a:pt x="225601" y="525726"/>
                  </a:lnTo>
                  <a:lnTo>
                    <a:pt x="252109" y="557814"/>
                  </a:lnTo>
                  <a:lnTo>
                    <a:pt x="284197" y="584329"/>
                  </a:lnTo>
                  <a:lnTo>
                    <a:pt x="320968" y="604380"/>
                  </a:lnTo>
                  <a:lnTo>
                    <a:pt x="333629" y="608342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854296" y="8026219"/>
              <a:ext cx="810260" cy="2261235"/>
            </a:xfrm>
            <a:custGeom>
              <a:avLst/>
              <a:gdLst/>
              <a:ahLst/>
              <a:cxnLst/>
              <a:rect l="l" t="t" r="r" b="b"/>
              <a:pathLst>
                <a:path w="810259" h="2261234">
                  <a:moveTo>
                    <a:pt x="188464" y="1665276"/>
                  </a:moveTo>
                  <a:lnTo>
                    <a:pt x="39" y="1665276"/>
                  </a:lnTo>
                  <a:lnTo>
                    <a:pt x="39" y="404962"/>
                  </a:lnTo>
                  <a:lnTo>
                    <a:pt x="3752" y="350160"/>
                  </a:lnTo>
                  <a:lnTo>
                    <a:pt x="14563" y="297552"/>
                  </a:lnTo>
                  <a:lnTo>
                    <a:pt x="31980" y="247629"/>
                  </a:lnTo>
                  <a:lnTo>
                    <a:pt x="55508" y="200882"/>
                  </a:lnTo>
                  <a:lnTo>
                    <a:pt x="84655" y="157805"/>
                  </a:lnTo>
                  <a:lnTo>
                    <a:pt x="118928" y="118889"/>
                  </a:lnTo>
                  <a:lnTo>
                    <a:pt x="157845" y="84616"/>
                  </a:lnTo>
                  <a:lnTo>
                    <a:pt x="200922" y="55468"/>
                  </a:lnTo>
                  <a:lnTo>
                    <a:pt x="247668" y="31940"/>
                  </a:lnTo>
                  <a:lnTo>
                    <a:pt x="297591" y="14524"/>
                  </a:lnTo>
                  <a:lnTo>
                    <a:pt x="350199" y="3713"/>
                  </a:lnTo>
                  <a:lnTo>
                    <a:pt x="405001" y="0"/>
                  </a:lnTo>
                  <a:lnTo>
                    <a:pt x="459803" y="3713"/>
                  </a:lnTo>
                  <a:lnTo>
                    <a:pt x="512413" y="14524"/>
                  </a:lnTo>
                  <a:lnTo>
                    <a:pt x="562339" y="31940"/>
                  </a:lnTo>
                  <a:lnTo>
                    <a:pt x="609092" y="55468"/>
                  </a:lnTo>
                  <a:lnTo>
                    <a:pt x="652180" y="84616"/>
                  </a:lnTo>
                  <a:lnTo>
                    <a:pt x="691113" y="118889"/>
                  </a:lnTo>
                  <a:lnTo>
                    <a:pt x="725370" y="157805"/>
                  </a:lnTo>
                  <a:lnTo>
                    <a:pt x="746080" y="188424"/>
                  </a:lnTo>
                  <a:lnTo>
                    <a:pt x="405001" y="188424"/>
                  </a:lnTo>
                  <a:lnTo>
                    <a:pt x="361561" y="192854"/>
                  </a:lnTo>
                  <a:lnTo>
                    <a:pt x="321007" y="205543"/>
                  </a:lnTo>
                  <a:lnTo>
                    <a:pt x="284237" y="225594"/>
                  </a:lnTo>
                  <a:lnTo>
                    <a:pt x="252149" y="252109"/>
                  </a:lnTo>
                  <a:lnTo>
                    <a:pt x="225634" y="284197"/>
                  </a:lnTo>
                  <a:lnTo>
                    <a:pt x="205582" y="320968"/>
                  </a:lnTo>
                  <a:lnTo>
                    <a:pt x="192893" y="361522"/>
                  </a:lnTo>
                  <a:lnTo>
                    <a:pt x="188464" y="404962"/>
                  </a:lnTo>
                  <a:lnTo>
                    <a:pt x="188464" y="1665276"/>
                  </a:lnTo>
                  <a:close/>
                </a:path>
                <a:path w="810259" h="2261234">
                  <a:moveTo>
                    <a:pt x="809963" y="2260780"/>
                  </a:moveTo>
                  <a:lnTo>
                    <a:pt x="621499" y="2260780"/>
                  </a:lnTo>
                  <a:lnTo>
                    <a:pt x="621499" y="404962"/>
                  </a:lnTo>
                  <a:lnTo>
                    <a:pt x="617070" y="361522"/>
                  </a:lnTo>
                  <a:lnTo>
                    <a:pt x="604380" y="320968"/>
                  </a:lnTo>
                  <a:lnTo>
                    <a:pt x="584329" y="284197"/>
                  </a:lnTo>
                  <a:lnTo>
                    <a:pt x="557814" y="252109"/>
                  </a:lnTo>
                  <a:lnTo>
                    <a:pt x="525732" y="225594"/>
                  </a:lnTo>
                  <a:lnTo>
                    <a:pt x="488976" y="205543"/>
                  </a:lnTo>
                  <a:lnTo>
                    <a:pt x="448435" y="192854"/>
                  </a:lnTo>
                  <a:lnTo>
                    <a:pt x="405001" y="188424"/>
                  </a:lnTo>
                  <a:lnTo>
                    <a:pt x="746080" y="188424"/>
                  </a:lnTo>
                  <a:lnTo>
                    <a:pt x="778027" y="247629"/>
                  </a:lnTo>
                  <a:lnTo>
                    <a:pt x="795440" y="297552"/>
                  </a:lnTo>
                  <a:lnTo>
                    <a:pt x="806250" y="350160"/>
                  </a:lnTo>
                  <a:lnTo>
                    <a:pt x="809963" y="404962"/>
                  </a:lnTo>
                  <a:lnTo>
                    <a:pt x="809963" y="2260780"/>
                  </a:lnTo>
                  <a:close/>
                </a:path>
                <a:path w="810259" h="2261234">
                  <a:moveTo>
                    <a:pt x="188464" y="2260780"/>
                  </a:moveTo>
                  <a:lnTo>
                    <a:pt x="0" y="2260780"/>
                  </a:lnTo>
                  <a:lnTo>
                    <a:pt x="0" y="1825549"/>
                  </a:lnTo>
                  <a:lnTo>
                    <a:pt x="188464" y="1825549"/>
                  </a:lnTo>
                  <a:lnTo>
                    <a:pt x="188464" y="2260780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767843" y="899744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69" h="521970">
                <a:moveTo>
                  <a:pt x="260856" y="521713"/>
                </a:moveTo>
                <a:lnTo>
                  <a:pt x="213967" y="517510"/>
                </a:lnTo>
                <a:lnTo>
                  <a:pt x="169835" y="505393"/>
                </a:lnTo>
                <a:lnTo>
                  <a:pt x="129197" y="486098"/>
                </a:lnTo>
                <a:lnTo>
                  <a:pt x="92790" y="460363"/>
                </a:lnTo>
                <a:lnTo>
                  <a:pt x="61350" y="428923"/>
                </a:lnTo>
                <a:lnTo>
                  <a:pt x="35614" y="392516"/>
                </a:lnTo>
                <a:lnTo>
                  <a:pt x="16319" y="351878"/>
                </a:lnTo>
                <a:lnTo>
                  <a:pt x="4202" y="307746"/>
                </a:lnTo>
                <a:lnTo>
                  <a:pt x="0" y="260856"/>
                </a:lnTo>
                <a:lnTo>
                  <a:pt x="4202" y="213967"/>
                </a:lnTo>
                <a:lnTo>
                  <a:pt x="16319" y="169835"/>
                </a:lnTo>
                <a:lnTo>
                  <a:pt x="35614" y="129197"/>
                </a:lnTo>
                <a:lnTo>
                  <a:pt x="61350" y="92790"/>
                </a:lnTo>
                <a:lnTo>
                  <a:pt x="92790" y="61350"/>
                </a:lnTo>
                <a:lnTo>
                  <a:pt x="129197" y="35614"/>
                </a:lnTo>
                <a:lnTo>
                  <a:pt x="169835" y="16319"/>
                </a:lnTo>
                <a:lnTo>
                  <a:pt x="213967" y="4202"/>
                </a:lnTo>
                <a:lnTo>
                  <a:pt x="260856" y="0"/>
                </a:lnTo>
                <a:lnTo>
                  <a:pt x="307746" y="4202"/>
                </a:lnTo>
                <a:lnTo>
                  <a:pt x="351878" y="16319"/>
                </a:lnTo>
                <a:lnTo>
                  <a:pt x="392516" y="35614"/>
                </a:lnTo>
                <a:lnTo>
                  <a:pt x="428923" y="61350"/>
                </a:lnTo>
                <a:lnTo>
                  <a:pt x="460363" y="92790"/>
                </a:lnTo>
                <a:lnTo>
                  <a:pt x="486098" y="129197"/>
                </a:lnTo>
                <a:lnTo>
                  <a:pt x="505393" y="169835"/>
                </a:lnTo>
                <a:lnTo>
                  <a:pt x="517510" y="213967"/>
                </a:lnTo>
                <a:lnTo>
                  <a:pt x="521713" y="260856"/>
                </a:lnTo>
                <a:lnTo>
                  <a:pt x="517510" y="307746"/>
                </a:lnTo>
                <a:lnTo>
                  <a:pt x="505393" y="351878"/>
                </a:lnTo>
                <a:lnTo>
                  <a:pt x="486098" y="392516"/>
                </a:lnTo>
                <a:lnTo>
                  <a:pt x="460363" y="428923"/>
                </a:lnTo>
                <a:lnTo>
                  <a:pt x="428923" y="460363"/>
                </a:lnTo>
                <a:lnTo>
                  <a:pt x="392516" y="486098"/>
                </a:lnTo>
                <a:lnTo>
                  <a:pt x="351878" y="505393"/>
                </a:lnTo>
                <a:lnTo>
                  <a:pt x="307746" y="517510"/>
                </a:lnTo>
                <a:lnTo>
                  <a:pt x="260856" y="521713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740530" y="509930"/>
            <a:ext cx="1037590" cy="1037590"/>
          </a:xfrm>
          <a:custGeom>
            <a:avLst/>
            <a:gdLst/>
            <a:ahLst/>
            <a:cxnLst/>
            <a:rect l="l" t="t" r="r" b="b"/>
            <a:pathLst>
              <a:path w="1037590" h="1037590">
                <a:moveTo>
                  <a:pt x="518769" y="1037538"/>
                </a:moveTo>
                <a:lnTo>
                  <a:pt x="471550" y="1035418"/>
                </a:lnTo>
                <a:lnTo>
                  <a:pt x="425519" y="1029180"/>
                </a:lnTo>
                <a:lnTo>
                  <a:pt x="380859" y="1019007"/>
                </a:lnTo>
                <a:lnTo>
                  <a:pt x="337753" y="1005082"/>
                </a:lnTo>
                <a:lnTo>
                  <a:pt x="296384" y="987589"/>
                </a:lnTo>
                <a:lnTo>
                  <a:pt x="256936" y="966711"/>
                </a:lnTo>
                <a:lnTo>
                  <a:pt x="219591" y="942630"/>
                </a:lnTo>
                <a:lnTo>
                  <a:pt x="184532" y="915530"/>
                </a:lnTo>
                <a:lnTo>
                  <a:pt x="151943" y="885594"/>
                </a:lnTo>
                <a:lnTo>
                  <a:pt x="122007" y="853005"/>
                </a:lnTo>
                <a:lnTo>
                  <a:pt x="94908" y="817946"/>
                </a:lnTo>
                <a:lnTo>
                  <a:pt x="70827" y="780601"/>
                </a:lnTo>
                <a:lnTo>
                  <a:pt x="49948" y="741153"/>
                </a:lnTo>
                <a:lnTo>
                  <a:pt x="32455" y="699784"/>
                </a:lnTo>
                <a:lnTo>
                  <a:pt x="18530" y="656678"/>
                </a:lnTo>
                <a:lnTo>
                  <a:pt x="8358" y="612018"/>
                </a:lnTo>
                <a:lnTo>
                  <a:pt x="2120" y="565987"/>
                </a:lnTo>
                <a:lnTo>
                  <a:pt x="0" y="518769"/>
                </a:lnTo>
                <a:lnTo>
                  <a:pt x="2120" y="471550"/>
                </a:lnTo>
                <a:lnTo>
                  <a:pt x="8358" y="425519"/>
                </a:lnTo>
                <a:lnTo>
                  <a:pt x="18530" y="380859"/>
                </a:lnTo>
                <a:lnTo>
                  <a:pt x="32455" y="337753"/>
                </a:lnTo>
                <a:lnTo>
                  <a:pt x="49948" y="296384"/>
                </a:lnTo>
                <a:lnTo>
                  <a:pt x="70827" y="256936"/>
                </a:lnTo>
                <a:lnTo>
                  <a:pt x="94908" y="219591"/>
                </a:lnTo>
                <a:lnTo>
                  <a:pt x="122007" y="184532"/>
                </a:lnTo>
                <a:lnTo>
                  <a:pt x="151943" y="151943"/>
                </a:lnTo>
                <a:lnTo>
                  <a:pt x="184532" y="122007"/>
                </a:lnTo>
                <a:lnTo>
                  <a:pt x="219591" y="94908"/>
                </a:lnTo>
                <a:lnTo>
                  <a:pt x="256936" y="70827"/>
                </a:lnTo>
                <a:lnTo>
                  <a:pt x="296384" y="49948"/>
                </a:lnTo>
                <a:lnTo>
                  <a:pt x="337753" y="32455"/>
                </a:lnTo>
                <a:lnTo>
                  <a:pt x="380859" y="18530"/>
                </a:lnTo>
                <a:lnTo>
                  <a:pt x="425519" y="8358"/>
                </a:lnTo>
                <a:lnTo>
                  <a:pt x="471550" y="2120"/>
                </a:lnTo>
                <a:lnTo>
                  <a:pt x="518769" y="0"/>
                </a:lnTo>
                <a:lnTo>
                  <a:pt x="565987" y="2120"/>
                </a:lnTo>
                <a:lnTo>
                  <a:pt x="612018" y="8358"/>
                </a:lnTo>
                <a:lnTo>
                  <a:pt x="656678" y="18530"/>
                </a:lnTo>
                <a:lnTo>
                  <a:pt x="699784" y="32455"/>
                </a:lnTo>
                <a:lnTo>
                  <a:pt x="741153" y="49948"/>
                </a:lnTo>
                <a:lnTo>
                  <a:pt x="780601" y="70827"/>
                </a:lnTo>
                <a:lnTo>
                  <a:pt x="817946" y="94908"/>
                </a:lnTo>
                <a:lnTo>
                  <a:pt x="853005" y="122007"/>
                </a:lnTo>
                <a:lnTo>
                  <a:pt x="885594" y="151943"/>
                </a:lnTo>
                <a:lnTo>
                  <a:pt x="915530" y="184532"/>
                </a:lnTo>
                <a:lnTo>
                  <a:pt x="942630" y="219591"/>
                </a:lnTo>
                <a:lnTo>
                  <a:pt x="966711" y="256936"/>
                </a:lnTo>
                <a:lnTo>
                  <a:pt x="987589" y="296384"/>
                </a:lnTo>
                <a:lnTo>
                  <a:pt x="1005082" y="337753"/>
                </a:lnTo>
                <a:lnTo>
                  <a:pt x="1019007" y="380859"/>
                </a:lnTo>
                <a:lnTo>
                  <a:pt x="1029180" y="425519"/>
                </a:lnTo>
                <a:lnTo>
                  <a:pt x="1035418" y="471550"/>
                </a:lnTo>
                <a:lnTo>
                  <a:pt x="1037538" y="518769"/>
                </a:lnTo>
                <a:lnTo>
                  <a:pt x="1035418" y="565987"/>
                </a:lnTo>
                <a:lnTo>
                  <a:pt x="1029180" y="612018"/>
                </a:lnTo>
                <a:lnTo>
                  <a:pt x="1019007" y="656678"/>
                </a:lnTo>
                <a:lnTo>
                  <a:pt x="1005082" y="699784"/>
                </a:lnTo>
                <a:lnTo>
                  <a:pt x="987589" y="741153"/>
                </a:lnTo>
                <a:lnTo>
                  <a:pt x="966711" y="780601"/>
                </a:lnTo>
                <a:lnTo>
                  <a:pt x="942630" y="817946"/>
                </a:lnTo>
                <a:lnTo>
                  <a:pt x="915530" y="853005"/>
                </a:lnTo>
                <a:lnTo>
                  <a:pt x="885594" y="885594"/>
                </a:lnTo>
                <a:lnTo>
                  <a:pt x="853005" y="915530"/>
                </a:lnTo>
                <a:lnTo>
                  <a:pt x="817946" y="942630"/>
                </a:lnTo>
                <a:lnTo>
                  <a:pt x="780601" y="966711"/>
                </a:lnTo>
                <a:lnTo>
                  <a:pt x="741153" y="987589"/>
                </a:lnTo>
                <a:lnTo>
                  <a:pt x="699784" y="1005082"/>
                </a:lnTo>
                <a:lnTo>
                  <a:pt x="656678" y="1019007"/>
                </a:lnTo>
                <a:lnTo>
                  <a:pt x="612018" y="1029180"/>
                </a:lnTo>
                <a:lnTo>
                  <a:pt x="565987" y="1035418"/>
                </a:lnTo>
                <a:lnTo>
                  <a:pt x="518769" y="1037538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2931321"/>
            <a:ext cx="9620249" cy="4362449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4137971" y="1104620"/>
            <a:ext cx="974661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40"/>
              <a:t>HDFC</a:t>
            </a:r>
            <a:r>
              <a:rPr dirty="0" spc="-420"/>
              <a:t> </a:t>
            </a:r>
            <a:r>
              <a:rPr dirty="0" spc="-320"/>
              <a:t>Bank</a:t>
            </a:r>
            <a:r>
              <a:rPr dirty="0" spc="-415"/>
              <a:t> </a:t>
            </a:r>
            <a:r>
              <a:rPr dirty="0"/>
              <a:t>—</a:t>
            </a:r>
            <a:r>
              <a:rPr dirty="0" spc="-420"/>
              <a:t> </a:t>
            </a:r>
            <a:r>
              <a:rPr dirty="0" spc="-245"/>
              <a:t>Company</a:t>
            </a:r>
            <a:r>
              <a:rPr dirty="0" spc="-415"/>
              <a:t> </a:t>
            </a:r>
            <a:r>
              <a:rPr dirty="0" spc="-350"/>
              <a:t>Overview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43821" y="2356434"/>
            <a:ext cx="15274925" cy="688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885805" marR="1570990">
              <a:lnSpc>
                <a:spcPct val="115399"/>
              </a:lnSpc>
              <a:spcBef>
                <a:spcPts val="100"/>
              </a:spcBef>
            </a:pP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Company</a:t>
            </a:r>
            <a:r>
              <a:rPr dirty="0" sz="2600" spc="-1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Snapshot </a:t>
            </a:r>
            <a:r>
              <a:rPr dirty="0" sz="2600" spc="-55">
                <a:solidFill>
                  <a:srgbClr val="282828"/>
                </a:solidFill>
                <a:latin typeface="Tahoma"/>
                <a:cs typeface="Tahoma"/>
              </a:rPr>
              <a:t>Bank: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75">
                <a:solidFill>
                  <a:srgbClr val="282828"/>
                </a:solidFill>
                <a:latin typeface="Tahoma"/>
                <a:cs typeface="Tahoma"/>
              </a:rPr>
              <a:t>HDFC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282828"/>
                </a:solidFill>
                <a:latin typeface="Tahoma"/>
                <a:cs typeface="Tahoma"/>
              </a:rPr>
              <a:t>Bank</a:t>
            </a:r>
            <a:endParaRPr sz="2600">
              <a:latin typeface="Tahoma"/>
              <a:cs typeface="Tahoma"/>
            </a:endParaRPr>
          </a:p>
          <a:p>
            <a:pPr algn="ctr" marL="9598660" marR="283845">
              <a:lnSpc>
                <a:spcPct val="115399"/>
              </a:lnSpc>
            </a:pPr>
            <a:r>
              <a:rPr dirty="0" sz="2600" spc="-85">
                <a:solidFill>
                  <a:srgbClr val="282828"/>
                </a:solidFill>
                <a:latin typeface="Tahoma"/>
                <a:cs typeface="Tahoma"/>
              </a:rPr>
              <a:t>Industry:</a:t>
            </a:r>
            <a:r>
              <a:rPr dirty="0" sz="26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45">
                <a:solidFill>
                  <a:srgbClr val="282828"/>
                </a:solidFill>
                <a:latin typeface="Tahoma"/>
                <a:cs typeface="Tahoma"/>
              </a:rPr>
              <a:t>Banking</a:t>
            </a:r>
            <a:r>
              <a:rPr dirty="0" sz="26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282828"/>
                </a:solidFill>
                <a:latin typeface="Tahoma"/>
                <a:cs typeface="Tahoma"/>
              </a:rPr>
              <a:t>C</a:t>
            </a:r>
            <a:r>
              <a:rPr dirty="0" sz="2600" spc="-20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Financial</a:t>
            </a:r>
            <a:r>
              <a:rPr dirty="0" sz="26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Services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Business:</a:t>
            </a:r>
            <a:r>
              <a:rPr dirty="0" sz="26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40">
                <a:solidFill>
                  <a:srgbClr val="282828"/>
                </a:solidFill>
                <a:latin typeface="Tahoma"/>
                <a:cs typeface="Tahoma"/>
              </a:rPr>
              <a:t>Private-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Sector</a:t>
            </a:r>
            <a:r>
              <a:rPr dirty="0" sz="2600" spc="-20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Commercial Banking</a:t>
            </a:r>
            <a:endParaRPr sz="2600">
              <a:latin typeface="Tahoma"/>
              <a:cs typeface="Tahoma"/>
            </a:endParaRPr>
          </a:p>
          <a:p>
            <a:pPr algn="ctr" marL="9992360" marR="676910" indent="-635">
              <a:lnSpc>
                <a:spcPct val="115399"/>
              </a:lnSpc>
            </a:pP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Core</a:t>
            </a:r>
            <a:r>
              <a:rPr dirty="0" sz="26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45">
                <a:solidFill>
                  <a:srgbClr val="282828"/>
                </a:solidFill>
                <a:latin typeface="Tahoma"/>
                <a:cs typeface="Tahoma"/>
              </a:rPr>
              <a:t>Segments:</a:t>
            </a:r>
            <a:r>
              <a:rPr dirty="0" sz="2600" spc="-20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Retail</a:t>
            </a:r>
            <a:r>
              <a:rPr dirty="0" sz="2600" spc="-20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Banking,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Wholesale</a:t>
            </a:r>
            <a:r>
              <a:rPr dirty="0" sz="26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45">
                <a:solidFill>
                  <a:srgbClr val="282828"/>
                </a:solidFill>
                <a:latin typeface="Tahoma"/>
                <a:cs typeface="Tahoma"/>
              </a:rPr>
              <a:t>Banking</a:t>
            </a:r>
            <a:r>
              <a:rPr dirty="0" sz="26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90">
                <a:solidFill>
                  <a:srgbClr val="282828"/>
                </a:solidFill>
                <a:latin typeface="Tahoma"/>
                <a:cs typeface="Tahoma"/>
              </a:rPr>
              <a:t>C</a:t>
            </a:r>
            <a:r>
              <a:rPr dirty="0" sz="2600" spc="-21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Treasury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Analysis</a:t>
            </a:r>
            <a:r>
              <a:rPr dirty="0" sz="26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35">
                <a:solidFill>
                  <a:srgbClr val="282828"/>
                </a:solidFill>
                <a:latin typeface="Tahoma"/>
                <a:cs typeface="Tahoma"/>
              </a:rPr>
              <a:t>Period:</a:t>
            </a:r>
            <a:r>
              <a:rPr dirty="0" sz="2600" spc="-21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85">
                <a:solidFill>
                  <a:srgbClr val="282828"/>
                </a:solidFill>
                <a:latin typeface="Tahoma"/>
                <a:cs typeface="Tahoma"/>
              </a:rPr>
              <a:t>FY2022–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FY2026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Research</a:t>
            </a:r>
            <a:r>
              <a:rPr dirty="0" sz="2600" spc="-21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282828"/>
                </a:solidFill>
                <a:latin typeface="Tahoma"/>
                <a:cs typeface="Tahoma"/>
              </a:rPr>
              <a:t>Focus</a:t>
            </a:r>
            <a:endParaRPr sz="2600">
              <a:latin typeface="Tahoma"/>
              <a:cs typeface="Tahoma"/>
            </a:endParaRPr>
          </a:p>
          <a:p>
            <a:pPr algn="ctr" marL="9307195">
              <a:lnSpc>
                <a:spcPct val="100000"/>
              </a:lnSpc>
              <a:spcBef>
                <a:spcPts val="475"/>
              </a:spcBef>
            </a:pP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Financial</a:t>
            </a:r>
            <a:r>
              <a:rPr dirty="0" sz="26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Performance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300">
                <a:solidFill>
                  <a:srgbClr val="282828"/>
                </a:solidFill>
                <a:latin typeface="Tahoma"/>
                <a:cs typeface="Tahoma"/>
              </a:rPr>
              <a:t>|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Risk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300">
                <a:solidFill>
                  <a:srgbClr val="282828"/>
                </a:solidFill>
                <a:latin typeface="Tahoma"/>
                <a:cs typeface="Tahoma"/>
              </a:rPr>
              <a:t>|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Forecasting</a:t>
            </a:r>
            <a:endParaRPr sz="2600">
              <a:latin typeface="Tahoma"/>
              <a:cs typeface="Tahoma"/>
            </a:endParaRPr>
          </a:p>
          <a:p>
            <a:pPr algn="ctr" marL="9307195">
              <a:lnSpc>
                <a:spcPct val="100000"/>
              </a:lnSpc>
              <a:spcBef>
                <a:spcPts val="480"/>
              </a:spcBef>
            </a:pPr>
            <a:r>
              <a:rPr dirty="0" sz="2600" spc="-300">
                <a:solidFill>
                  <a:srgbClr val="282828"/>
                </a:solidFill>
                <a:latin typeface="Tahoma"/>
                <a:cs typeface="Tahoma"/>
              </a:rPr>
              <a:t>|</a:t>
            </a:r>
            <a:r>
              <a:rPr dirty="0" sz="260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Valuation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35"/>
              </a:spcBef>
            </a:pPr>
            <a:endParaRPr sz="2600">
              <a:latin typeface="Tahoma"/>
              <a:cs typeface="Tahoma"/>
            </a:endParaRPr>
          </a:p>
          <a:p>
            <a:pPr marL="648335" marR="1544320" indent="-636270">
              <a:lnSpc>
                <a:spcPct val="114599"/>
              </a:lnSpc>
            </a:pPr>
            <a:r>
              <a:rPr dirty="0" sz="3000" spc="-40">
                <a:solidFill>
                  <a:srgbClr val="282828"/>
                </a:solidFill>
                <a:latin typeface="Tahoma"/>
                <a:cs typeface="Tahoma"/>
              </a:rPr>
              <a:t>Objective: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30">
                <a:solidFill>
                  <a:srgbClr val="282828"/>
                </a:solidFill>
                <a:latin typeface="Tahoma"/>
                <a:cs typeface="Tahoma"/>
              </a:rPr>
              <a:t>Evaluate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85">
                <a:solidFill>
                  <a:srgbClr val="282828"/>
                </a:solidFill>
                <a:latin typeface="Tahoma"/>
                <a:cs typeface="Tahoma"/>
              </a:rPr>
              <a:t>HDFC</a:t>
            </a:r>
            <a:r>
              <a:rPr dirty="0" sz="30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282828"/>
                </a:solidFill>
                <a:latin typeface="Tahoma"/>
                <a:cs typeface="Tahoma"/>
              </a:rPr>
              <a:t>Bank's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282828"/>
                </a:solidFill>
                <a:latin typeface="Tahoma"/>
                <a:cs typeface="Tahoma"/>
              </a:rPr>
              <a:t>financial</a:t>
            </a:r>
            <a:r>
              <a:rPr dirty="0" sz="30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282828"/>
                </a:solidFill>
                <a:latin typeface="Tahoma"/>
                <a:cs typeface="Tahoma"/>
              </a:rPr>
              <a:t>performance,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50">
                <a:solidFill>
                  <a:srgbClr val="282828"/>
                </a:solidFill>
                <a:latin typeface="Tahoma"/>
                <a:cs typeface="Tahoma"/>
              </a:rPr>
              <a:t>future</a:t>
            </a:r>
            <a:r>
              <a:rPr dirty="0" sz="30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90">
                <a:solidFill>
                  <a:srgbClr val="282828"/>
                </a:solidFill>
                <a:latin typeface="Tahoma"/>
                <a:cs typeface="Tahoma"/>
              </a:rPr>
              <a:t>growth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282828"/>
                </a:solidFill>
                <a:latin typeface="Tahoma"/>
                <a:cs typeface="Tahoma"/>
              </a:rPr>
              <a:t>potential</a:t>
            </a:r>
            <a:r>
              <a:rPr dirty="0" sz="30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282828"/>
                </a:solidFill>
                <a:latin typeface="Tahoma"/>
                <a:cs typeface="Tahoma"/>
              </a:rPr>
              <a:t>and </a:t>
            </a:r>
            <a:r>
              <a:rPr dirty="0" sz="3000" spc="-30">
                <a:solidFill>
                  <a:srgbClr val="282828"/>
                </a:solidFill>
                <a:latin typeface="Tahoma"/>
                <a:cs typeface="Tahoma"/>
              </a:rPr>
              <a:t>investment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282828"/>
                </a:solidFill>
                <a:latin typeface="Tahoma"/>
                <a:cs typeface="Tahoma"/>
              </a:rPr>
              <a:t>attractiveness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35">
                <a:solidFill>
                  <a:srgbClr val="282828"/>
                </a:solidFill>
                <a:latin typeface="Tahoma"/>
                <a:cs typeface="Tahoma"/>
              </a:rPr>
              <a:t>using</a:t>
            </a:r>
            <a:r>
              <a:rPr dirty="0" sz="30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282828"/>
                </a:solidFill>
                <a:latin typeface="Tahoma"/>
                <a:cs typeface="Tahoma"/>
              </a:rPr>
              <a:t>an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282828"/>
                </a:solidFill>
                <a:latin typeface="Tahoma"/>
                <a:cs typeface="Tahoma"/>
              </a:rPr>
              <a:t>independent</a:t>
            </a:r>
            <a:r>
              <a:rPr dirty="0" sz="30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45">
                <a:solidFill>
                  <a:srgbClr val="282828"/>
                </a:solidFill>
                <a:latin typeface="Tahoma"/>
                <a:cs typeface="Tahoma"/>
              </a:rPr>
              <a:t>equity-</a:t>
            </a:r>
            <a:r>
              <a:rPr dirty="0" sz="3000" spc="-10">
                <a:solidFill>
                  <a:srgbClr val="282828"/>
                </a:solidFill>
                <a:latin typeface="Tahoma"/>
                <a:cs typeface="Tahoma"/>
              </a:rPr>
              <a:t>research</a:t>
            </a:r>
            <a:r>
              <a:rPr dirty="0" sz="30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282828"/>
                </a:solidFill>
                <a:latin typeface="Tahoma"/>
                <a:cs typeface="Tahoma"/>
              </a:rPr>
              <a:t>framework.</a:t>
            </a:r>
            <a:endParaRPr sz="3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38739" y="1028699"/>
            <a:ext cx="3049270" cy="1400175"/>
            <a:chOff x="15238739" y="1028699"/>
            <a:chExt cx="3049270" cy="1400175"/>
          </a:xfrm>
        </p:grpSpPr>
        <p:sp>
          <p:nvSpPr>
            <p:cNvPr id="3" name="object 3"/>
            <p:cNvSpPr/>
            <p:nvPr/>
          </p:nvSpPr>
          <p:spPr>
            <a:xfrm>
              <a:off x="15238739" y="1433522"/>
              <a:ext cx="3049270" cy="995680"/>
            </a:xfrm>
            <a:custGeom>
              <a:avLst/>
              <a:gdLst/>
              <a:ahLst/>
              <a:cxnLst/>
              <a:rect l="l" t="t" r="r" b="b"/>
              <a:pathLst>
                <a:path w="3049269" h="995680">
                  <a:moveTo>
                    <a:pt x="3049260" y="995351"/>
                  </a:moveTo>
                  <a:lnTo>
                    <a:pt x="492114" y="995351"/>
                  </a:lnTo>
                  <a:lnTo>
                    <a:pt x="447050" y="993058"/>
                  </a:lnTo>
                  <a:lnTo>
                    <a:pt x="397736" y="985482"/>
                  </a:lnTo>
                  <a:lnTo>
                    <a:pt x="350106" y="973168"/>
                  </a:lnTo>
                  <a:lnTo>
                    <a:pt x="304414" y="956372"/>
                  </a:lnTo>
                  <a:lnTo>
                    <a:pt x="260914" y="935348"/>
                  </a:lnTo>
                  <a:lnTo>
                    <a:pt x="219860" y="910354"/>
                  </a:lnTo>
                  <a:lnTo>
                    <a:pt x="181507" y="881644"/>
                  </a:lnTo>
                  <a:lnTo>
                    <a:pt x="146110" y="849474"/>
                  </a:lnTo>
                  <a:lnTo>
                    <a:pt x="113942" y="814093"/>
                  </a:lnTo>
                  <a:lnTo>
                    <a:pt x="85239" y="775748"/>
                  </a:lnTo>
                  <a:lnTo>
                    <a:pt x="60253" y="734697"/>
                  </a:lnTo>
                  <a:lnTo>
                    <a:pt x="39240" y="691198"/>
                  </a:lnTo>
                  <a:lnTo>
                    <a:pt x="22454" y="645506"/>
                  </a:lnTo>
                  <a:lnTo>
                    <a:pt x="10149" y="597879"/>
                  </a:lnTo>
                  <a:lnTo>
                    <a:pt x="2579" y="548574"/>
                  </a:lnTo>
                  <a:lnTo>
                    <a:pt x="0" y="497848"/>
                  </a:lnTo>
                  <a:lnTo>
                    <a:pt x="2579" y="447106"/>
                  </a:lnTo>
                  <a:lnTo>
                    <a:pt x="10150" y="397792"/>
                  </a:lnTo>
                  <a:lnTo>
                    <a:pt x="22457" y="350162"/>
                  </a:lnTo>
                  <a:lnTo>
                    <a:pt x="39247" y="304470"/>
                  </a:lnTo>
                  <a:lnTo>
                    <a:pt x="60267" y="260970"/>
                  </a:lnTo>
                  <a:lnTo>
                    <a:pt x="85262" y="219916"/>
                  </a:lnTo>
                  <a:lnTo>
                    <a:pt x="113980" y="181563"/>
                  </a:lnTo>
                  <a:lnTo>
                    <a:pt x="146166" y="146166"/>
                  </a:lnTo>
                  <a:lnTo>
                    <a:pt x="181563" y="113980"/>
                  </a:lnTo>
                  <a:lnTo>
                    <a:pt x="219915" y="85262"/>
                  </a:lnTo>
                  <a:lnTo>
                    <a:pt x="260967" y="60267"/>
                  </a:lnTo>
                  <a:lnTo>
                    <a:pt x="304463" y="39247"/>
                  </a:lnTo>
                  <a:lnTo>
                    <a:pt x="350149" y="22457"/>
                  </a:lnTo>
                  <a:lnTo>
                    <a:pt x="397769" y="10150"/>
                  </a:lnTo>
                  <a:lnTo>
                    <a:pt x="447068" y="2579"/>
                  </a:lnTo>
                  <a:lnTo>
                    <a:pt x="497792" y="0"/>
                  </a:lnTo>
                  <a:lnTo>
                    <a:pt x="3049260" y="0"/>
                  </a:lnTo>
                  <a:lnTo>
                    <a:pt x="3049260" y="171282"/>
                  </a:lnTo>
                  <a:lnTo>
                    <a:pt x="497792" y="171282"/>
                  </a:lnTo>
                  <a:lnTo>
                    <a:pt x="445045" y="175578"/>
                  </a:lnTo>
                  <a:lnTo>
                    <a:pt x="394929" y="188009"/>
                  </a:lnTo>
                  <a:lnTo>
                    <a:pt x="348129" y="207892"/>
                  </a:lnTo>
                  <a:lnTo>
                    <a:pt x="305329" y="234541"/>
                  </a:lnTo>
                  <a:lnTo>
                    <a:pt x="267215" y="267271"/>
                  </a:lnTo>
                  <a:lnTo>
                    <a:pt x="234485" y="305385"/>
                  </a:lnTo>
                  <a:lnTo>
                    <a:pt x="207836" y="348185"/>
                  </a:lnTo>
                  <a:lnTo>
                    <a:pt x="187953" y="394985"/>
                  </a:lnTo>
                  <a:lnTo>
                    <a:pt x="175522" y="445101"/>
                  </a:lnTo>
                  <a:lnTo>
                    <a:pt x="171226" y="497848"/>
                  </a:lnTo>
                  <a:lnTo>
                    <a:pt x="175522" y="550595"/>
                  </a:lnTo>
                  <a:lnTo>
                    <a:pt x="187953" y="600708"/>
                  </a:lnTo>
                  <a:lnTo>
                    <a:pt x="207836" y="647499"/>
                  </a:lnTo>
                  <a:lnTo>
                    <a:pt x="234485" y="690282"/>
                  </a:lnTo>
                  <a:lnTo>
                    <a:pt x="267215" y="728368"/>
                  </a:lnTo>
                  <a:lnTo>
                    <a:pt x="305329" y="761099"/>
                  </a:lnTo>
                  <a:lnTo>
                    <a:pt x="348129" y="787748"/>
                  </a:lnTo>
                  <a:lnTo>
                    <a:pt x="394929" y="807630"/>
                  </a:lnTo>
                  <a:lnTo>
                    <a:pt x="445045" y="820062"/>
                  </a:lnTo>
                  <a:lnTo>
                    <a:pt x="497792" y="824358"/>
                  </a:lnTo>
                  <a:lnTo>
                    <a:pt x="3049260" y="824358"/>
                  </a:lnTo>
                  <a:lnTo>
                    <a:pt x="3049260" y="995351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5865021" y="1028699"/>
              <a:ext cx="2423160" cy="993775"/>
            </a:xfrm>
            <a:custGeom>
              <a:avLst/>
              <a:gdLst/>
              <a:ahLst/>
              <a:cxnLst/>
              <a:rect l="l" t="t" r="r" b="b"/>
              <a:pathLst>
                <a:path w="2423159" h="993775">
                  <a:moveTo>
                    <a:pt x="2422978" y="993626"/>
                  </a:moveTo>
                  <a:lnTo>
                    <a:pt x="497848" y="993626"/>
                  </a:lnTo>
                  <a:lnTo>
                    <a:pt x="447106" y="991044"/>
                  </a:lnTo>
                  <a:lnTo>
                    <a:pt x="397792" y="983468"/>
                  </a:lnTo>
                  <a:lnTo>
                    <a:pt x="350162" y="971154"/>
                  </a:lnTo>
                  <a:lnTo>
                    <a:pt x="304470" y="954358"/>
                  </a:lnTo>
                  <a:lnTo>
                    <a:pt x="260970" y="933335"/>
                  </a:lnTo>
                  <a:lnTo>
                    <a:pt x="219916" y="908340"/>
                  </a:lnTo>
                  <a:lnTo>
                    <a:pt x="181563" y="879630"/>
                  </a:lnTo>
                  <a:lnTo>
                    <a:pt x="146166" y="847460"/>
                  </a:lnTo>
                  <a:lnTo>
                    <a:pt x="113996" y="812062"/>
                  </a:lnTo>
                  <a:lnTo>
                    <a:pt x="85286" y="773710"/>
                  </a:lnTo>
                  <a:lnTo>
                    <a:pt x="60291" y="732656"/>
                  </a:lnTo>
                  <a:lnTo>
                    <a:pt x="39268" y="689156"/>
                  </a:lnTo>
                  <a:lnTo>
                    <a:pt x="22472" y="643463"/>
                  </a:lnTo>
                  <a:lnTo>
                    <a:pt x="10157" y="595834"/>
                  </a:lnTo>
                  <a:lnTo>
                    <a:pt x="2582" y="546520"/>
                  </a:lnTo>
                  <a:lnTo>
                    <a:pt x="0" y="495778"/>
                  </a:lnTo>
                  <a:lnTo>
                    <a:pt x="2579" y="445036"/>
                  </a:lnTo>
                  <a:lnTo>
                    <a:pt x="10150" y="395723"/>
                  </a:lnTo>
                  <a:lnTo>
                    <a:pt x="22457" y="348095"/>
                  </a:lnTo>
                  <a:lnTo>
                    <a:pt x="39247" y="302407"/>
                  </a:lnTo>
                  <a:lnTo>
                    <a:pt x="60267" y="258914"/>
                  </a:lnTo>
                  <a:lnTo>
                    <a:pt x="85262" y="217870"/>
                  </a:lnTo>
                  <a:lnTo>
                    <a:pt x="113980" y="179531"/>
                  </a:lnTo>
                  <a:lnTo>
                    <a:pt x="146166" y="144152"/>
                  </a:lnTo>
                  <a:lnTo>
                    <a:pt x="181545" y="111982"/>
                  </a:lnTo>
                  <a:lnTo>
                    <a:pt x="219885" y="83272"/>
                  </a:lnTo>
                  <a:lnTo>
                    <a:pt x="260931" y="58277"/>
                  </a:lnTo>
                  <a:lnTo>
                    <a:pt x="304428" y="37254"/>
                  </a:lnTo>
                  <a:lnTo>
                    <a:pt x="350123" y="20458"/>
                  </a:lnTo>
                  <a:lnTo>
                    <a:pt x="397761" y="8144"/>
                  </a:lnTo>
                  <a:lnTo>
                    <a:pt x="447087" y="568"/>
                  </a:lnTo>
                  <a:lnTo>
                    <a:pt x="458258" y="0"/>
                  </a:lnTo>
                  <a:lnTo>
                    <a:pt x="2422978" y="0"/>
                  </a:lnTo>
                  <a:lnTo>
                    <a:pt x="2422978" y="169268"/>
                  </a:lnTo>
                  <a:lnTo>
                    <a:pt x="497848" y="169268"/>
                  </a:lnTo>
                  <a:lnTo>
                    <a:pt x="445101" y="173564"/>
                  </a:lnTo>
                  <a:lnTo>
                    <a:pt x="394985" y="185996"/>
                  </a:lnTo>
                  <a:lnTo>
                    <a:pt x="348185" y="205878"/>
                  </a:lnTo>
                  <a:lnTo>
                    <a:pt x="305385" y="232527"/>
                  </a:lnTo>
                  <a:lnTo>
                    <a:pt x="267271" y="265258"/>
                  </a:lnTo>
                  <a:lnTo>
                    <a:pt x="234541" y="303371"/>
                  </a:lnTo>
                  <a:lnTo>
                    <a:pt x="207892" y="346167"/>
                  </a:lnTo>
                  <a:lnTo>
                    <a:pt x="188009" y="392959"/>
                  </a:lnTo>
                  <a:lnTo>
                    <a:pt x="175578" y="443058"/>
                  </a:lnTo>
                  <a:lnTo>
                    <a:pt x="171282" y="495778"/>
                  </a:lnTo>
                  <a:lnTo>
                    <a:pt x="175578" y="548525"/>
                  </a:lnTo>
                  <a:lnTo>
                    <a:pt x="188009" y="598641"/>
                  </a:lnTo>
                  <a:lnTo>
                    <a:pt x="207892" y="645441"/>
                  </a:lnTo>
                  <a:lnTo>
                    <a:pt x="234541" y="688241"/>
                  </a:lnTo>
                  <a:lnTo>
                    <a:pt x="267271" y="726355"/>
                  </a:lnTo>
                  <a:lnTo>
                    <a:pt x="305385" y="759085"/>
                  </a:lnTo>
                  <a:lnTo>
                    <a:pt x="348185" y="785734"/>
                  </a:lnTo>
                  <a:lnTo>
                    <a:pt x="394985" y="805617"/>
                  </a:lnTo>
                  <a:lnTo>
                    <a:pt x="445101" y="818048"/>
                  </a:lnTo>
                  <a:lnTo>
                    <a:pt x="497848" y="822344"/>
                  </a:lnTo>
                  <a:lnTo>
                    <a:pt x="2422978" y="822344"/>
                  </a:lnTo>
                  <a:lnTo>
                    <a:pt x="2422978" y="993626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6145163" y="8235429"/>
            <a:ext cx="2143125" cy="2051685"/>
          </a:xfrm>
          <a:custGeom>
            <a:avLst/>
            <a:gdLst/>
            <a:ahLst/>
            <a:cxnLst/>
            <a:rect l="l" t="t" r="r" b="b"/>
            <a:pathLst>
              <a:path w="2143125" h="2051684">
                <a:moveTo>
                  <a:pt x="2142834" y="2051569"/>
                </a:moveTo>
                <a:lnTo>
                  <a:pt x="89907" y="2051569"/>
                </a:lnTo>
                <a:lnTo>
                  <a:pt x="87176" y="2044198"/>
                </a:lnTo>
                <a:lnTo>
                  <a:pt x="72420" y="2000318"/>
                </a:lnTo>
                <a:lnTo>
                  <a:pt x="58964" y="1955857"/>
                </a:lnTo>
                <a:lnTo>
                  <a:pt x="46828" y="1910838"/>
                </a:lnTo>
                <a:lnTo>
                  <a:pt x="36036" y="1865284"/>
                </a:lnTo>
                <a:lnTo>
                  <a:pt x="26610" y="1819217"/>
                </a:lnTo>
                <a:lnTo>
                  <a:pt x="18572" y="1772659"/>
                </a:lnTo>
                <a:lnTo>
                  <a:pt x="11946" y="1725633"/>
                </a:lnTo>
                <a:lnTo>
                  <a:pt x="6753" y="1678162"/>
                </a:lnTo>
                <a:lnTo>
                  <a:pt x="3016" y="1630268"/>
                </a:lnTo>
                <a:lnTo>
                  <a:pt x="757" y="1581973"/>
                </a:lnTo>
                <a:lnTo>
                  <a:pt x="0" y="1533299"/>
                </a:lnTo>
                <a:lnTo>
                  <a:pt x="757" y="1484626"/>
                </a:lnTo>
                <a:lnTo>
                  <a:pt x="3016" y="1436331"/>
                </a:lnTo>
                <a:lnTo>
                  <a:pt x="6753" y="1388437"/>
                </a:lnTo>
                <a:lnTo>
                  <a:pt x="11946" y="1340966"/>
                </a:lnTo>
                <a:lnTo>
                  <a:pt x="18572" y="1293940"/>
                </a:lnTo>
                <a:lnTo>
                  <a:pt x="26610" y="1247382"/>
                </a:lnTo>
                <a:lnTo>
                  <a:pt x="36036" y="1201315"/>
                </a:lnTo>
                <a:lnTo>
                  <a:pt x="46828" y="1155761"/>
                </a:lnTo>
                <a:lnTo>
                  <a:pt x="58964" y="1110742"/>
                </a:lnTo>
                <a:lnTo>
                  <a:pt x="72420" y="1066281"/>
                </a:lnTo>
                <a:lnTo>
                  <a:pt x="87176" y="1022401"/>
                </a:lnTo>
                <a:lnTo>
                  <a:pt x="103208" y="979123"/>
                </a:lnTo>
                <a:lnTo>
                  <a:pt x="120494" y="936470"/>
                </a:lnTo>
                <a:lnTo>
                  <a:pt x="139011" y="894465"/>
                </a:lnTo>
                <a:lnTo>
                  <a:pt x="158737" y="853130"/>
                </a:lnTo>
                <a:lnTo>
                  <a:pt x="179650" y="812487"/>
                </a:lnTo>
                <a:lnTo>
                  <a:pt x="201726" y="772560"/>
                </a:lnTo>
                <a:lnTo>
                  <a:pt x="224944" y="733370"/>
                </a:lnTo>
                <a:lnTo>
                  <a:pt x="249282" y="694940"/>
                </a:lnTo>
                <a:lnTo>
                  <a:pt x="274716" y="657292"/>
                </a:lnTo>
                <a:lnTo>
                  <a:pt x="301224" y="620449"/>
                </a:lnTo>
                <a:lnTo>
                  <a:pt x="328784" y="584434"/>
                </a:lnTo>
                <a:lnTo>
                  <a:pt x="357373" y="549268"/>
                </a:lnTo>
                <a:lnTo>
                  <a:pt x="386969" y="514974"/>
                </a:lnTo>
                <a:lnTo>
                  <a:pt x="417550" y="481575"/>
                </a:lnTo>
                <a:lnTo>
                  <a:pt x="449093" y="449093"/>
                </a:lnTo>
                <a:lnTo>
                  <a:pt x="481575" y="417550"/>
                </a:lnTo>
                <a:lnTo>
                  <a:pt x="514974" y="386969"/>
                </a:lnTo>
                <a:lnTo>
                  <a:pt x="549268" y="357373"/>
                </a:lnTo>
                <a:lnTo>
                  <a:pt x="584434" y="328784"/>
                </a:lnTo>
                <a:lnTo>
                  <a:pt x="620449" y="301224"/>
                </a:lnTo>
                <a:lnTo>
                  <a:pt x="657292" y="274716"/>
                </a:lnTo>
                <a:lnTo>
                  <a:pt x="694940" y="249282"/>
                </a:lnTo>
                <a:lnTo>
                  <a:pt x="733370" y="224944"/>
                </a:lnTo>
                <a:lnTo>
                  <a:pt x="772560" y="201726"/>
                </a:lnTo>
                <a:lnTo>
                  <a:pt x="812487" y="179650"/>
                </a:lnTo>
                <a:lnTo>
                  <a:pt x="853130" y="158737"/>
                </a:lnTo>
                <a:lnTo>
                  <a:pt x="894465" y="139011"/>
                </a:lnTo>
                <a:lnTo>
                  <a:pt x="936470" y="120494"/>
                </a:lnTo>
                <a:lnTo>
                  <a:pt x="979123" y="103208"/>
                </a:lnTo>
                <a:lnTo>
                  <a:pt x="1022401" y="87176"/>
                </a:lnTo>
                <a:lnTo>
                  <a:pt x="1066281" y="72420"/>
                </a:lnTo>
                <a:lnTo>
                  <a:pt x="1110742" y="58964"/>
                </a:lnTo>
                <a:lnTo>
                  <a:pt x="1155761" y="46828"/>
                </a:lnTo>
                <a:lnTo>
                  <a:pt x="1201315" y="36036"/>
                </a:lnTo>
                <a:lnTo>
                  <a:pt x="1247382" y="26610"/>
                </a:lnTo>
                <a:lnTo>
                  <a:pt x="1293940" y="18572"/>
                </a:lnTo>
                <a:lnTo>
                  <a:pt x="1340966" y="11946"/>
                </a:lnTo>
                <a:lnTo>
                  <a:pt x="1388437" y="6753"/>
                </a:lnTo>
                <a:lnTo>
                  <a:pt x="1436331" y="3016"/>
                </a:lnTo>
                <a:lnTo>
                  <a:pt x="1484626" y="757"/>
                </a:lnTo>
                <a:lnTo>
                  <a:pt x="1533299" y="0"/>
                </a:lnTo>
                <a:lnTo>
                  <a:pt x="1581973" y="757"/>
                </a:lnTo>
                <a:lnTo>
                  <a:pt x="1630268" y="3016"/>
                </a:lnTo>
                <a:lnTo>
                  <a:pt x="1678162" y="6753"/>
                </a:lnTo>
                <a:lnTo>
                  <a:pt x="1725633" y="11946"/>
                </a:lnTo>
                <a:lnTo>
                  <a:pt x="1772659" y="18572"/>
                </a:lnTo>
                <a:lnTo>
                  <a:pt x="1819217" y="26610"/>
                </a:lnTo>
                <a:lnTo>
                  <a:pt x="1865284" y="36036"/>
                </a:lnTo>
                <a:lnTo>
                  <a:pt x="1910838" y="46828"/>
                </a:lnTo>
                <a:lnTo>
                  <a:pt x="1955857" y="58964"/>
                </a:lnTo>
                <a:lnTo>
                  <a:pt x="2000318" y="72420"/>
                </a:lnTo>
                <a:lnTo>
                  <a:pt x="2044198" y="87176"/>
                </a:lnTo>
                <a:lnTo>
                  <a:pt x="2087476" y="103208"/>
                </a:lnTo>
                <a:lnTo>
                  <a:pt x="2130129" y="120494"/>
                </a:lnTo>
                <a:lnTo>
                  <a:pt x="2142834" y="126095"/>
                </a:lnTo>
                <a:lnTo>
                  <a:pt x="2142834" y="2051569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191" y="2376409"/>
            <a:ext cx="6029324" cy="4781549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69490" marR="5080" indent="-902335">
              <a:lnSpc>
                <a:spcPct val="116300"/>
              </a:lnSpc>
              <a:spcBef>
                <a:spcPts val="95"/>
              </a:spcBef>
            </a:pPr>
            <a:r>
              <a:rPr dirty="0" spc="-440"/>
              <a:t>FIVE-</a:t>
            </a:r>
            <a:r>
              <a:rPr dirty="0" spc="-370"/>
              <a:t>YEAR</a:t>
            </a:r>
            <a:r>
              <a:rPr dirty="0" spc="-445"/>
              <a:t> </a:t>
            </a:r>
            <a:r>
              <a:rPr dirty="0" spc="-409"/>
              <a:t>FINANCIAL </a:t>
            </a:r>
            <a:r>
              <a:rPr dirty="0" spc="-280"/>
              <a:t>PERFORMANCE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70977" y="2460955"/>
            <a:ext cx="3992879" cy="4762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Net</a:t>
            </a:r>
            <a:r>
              <a:rPr dirty="0" sz="2950" spc="-2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Interest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40">
                <a:solidFill>
                  <a:srgbClr val="282828"/>
                </a:solidFill>
                <a:latin typeface="Tahoma"/>
                <a:cs typeface="Tahoma"/>
              </a:rPr>
              <a:t>Income</a:t>
            </a:r>
            <a:r>
              <a:rPr dirty="0" sz="2950" spc="-2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65">
                <a:solidFill>
                  <a:srgbClr val="282828"/>
                </a:solidFill>
                <a:latin typeface="Tahoma"/>
                <a:cs typeface="Tahoma"/>
              </a:rPr>
              <a:t>(NII)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70977" y="3435058"/>
            <a:ext cx="1226185" cy="3168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dirty="0" sz="2950" spc="-20">
                <a:solidFill>
                  <a:srgbClr val="282828"/>
                </a:solidFill>
                <a:latin typeface="Tahoma"/>
                <a:cs typeface="Tahoma"/>
              </a:rPr>
              <a:t>Year </a:t>
            </a:r>
            <a:r>
              <a:rPr dirty="0" sz="2950" spc="-55">
                <a:solidFill>
                  <a:srgbClr val="282828"/>
                </a:solidFill>
                <a:latin typeface="Tahoma"/>
                <a:cs typeface="Tahoma"/>
              </a:rPr>
              <a:t>FY2022 FY2023 FY2024 FY2025 FY2026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28774" y="3435058"/>
            <a:ext cx="2430145" cy="316865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endParaRPr sz="2950">
              <a:latin typeface="Tahoma"/>
              <a:cs typeface="Tahoma"/>
            </a:endParaRPr>
          </a:p>
          <a:p>
            <a:pPr marL="31115">
              <a:lnSpc>
                <a:spcPct val="100000"/>
              </a:lnSpc>
              <a:spcBef>
                <a:spcPts val="585"/>
              </a:spcBef>
            </a:pP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₹72,010</a:t>
            </a:r>
            <a:r>
              <a:rPr dirty="0" sz="2950" spc="-2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endParaRPr sz="2950">
              <a:latin typeface="Tahoma"/>
              <a:cs typeface="Tahoma"/>
            </a:endParaRPr>
          </a:p>
          <a:p>
            <a:pPr marL="31115">
              <a:lnSpc>
                <a:spcPct val="100000"/>
              </a:lnSpc>
              <a:spcBef>
                <a:spcPts val="585"/>
              </a:spcBef>
            </a:pP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₹86,842</a:t>
            </a:r>
            <a:r>
              <a:rPr dirty="0" sz="2950" spc="-2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endParaRPr sz="2950">
              <a:latin typeface="Tahoma"/>
              <a:cs typeface="Tahoma"/>
            </a:endParaRPr>
          </a:p>
          <a:p>
            <a:pPr marL="31115">
              <a:lnSpc>
                <a:spcPct val="100000"/>
              </a:lnSpc>
              <a:spcBef>
                <a:spcPts val="585"/>
              </a:spcBef>
            </a:pP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₹1,08,532.5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endParaRPr sz="2950">
              <a:latin typeface="Tahoma"/>
              <a:cs typeface="Tahoma"/>
            </a:endParaRPr>
          </a:p>
          <a:p>
            <a:pPr marL="31115">
              <a:lnSpc>
                <a:spcPct val="100000"/>
              </a:lnSpc>
              <a:spcBef>
                <a:spcPts val="585"/>
              </a:spcBef>
            </a:pP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₹1,22,670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endParaRPr sz="2950">
              <a:latin typeface="Tahoma"/>
              <a:cs typeface="Tahoma"/>
            </a:endParaRPr>
          </a:p>
          <a:p>
            <a:pPr marL="31115">
              <a:lnSpc>
                <a:spcPct val="100000"/>
              </a:lnSpc>
              <a:spcBef>
                <a:spcPts val="585"/>
              </a:spcBef>
            </a:pP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₹1,28,686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0402" y="7868278"/>
            <a:ext cx="6042025" cy="221615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2500" spc="-135" b="1">
                <a:solidFill>
                  <a:srgbClr val="282828"/>
                </a:solidFill>
                <a:latin typeface="Tahoma"/>
                <a:cs typeface="Tahoma"/>
              </a:rPr>
              <a:t>Analyst</a:t>
            </a:r>
            <a:r>
              <a:rPr dirty="0" sz="2500" spc="-175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0" b="1">
                <a:solidFill>
                  <a:srgbClr val="282828"/>
                </a:solidFill>
                <a:latin typeface="Tahoma"/>
                <a:cs typeface="Tahoma"/>
              </a:rPr>
              <a:t>Interpretation</a:t>
            </a:r>
            <a:endParaRPr sz="2500">
              <a:latin typeface="Tahoma"/>
              <a:cs typeface="Tahoma"/>
            </a:endParaRPr>
          </a:p>
          <a:p>
            <a:pPr algn="ctr" marL="12065" marR="5080">
              <a:lnSpc>
                <a:spcPct val="114999"/>
              </a:lnSpc>
            </a:pPr>
            <a:r>
              <a:rPr dirty="0" sz="2500" spc="-114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5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82828"/>
                </a:solidFill>
                <a:latin typeface="Tahoma"/>
                <a:cs typeface="Tahoma"/>
              </a:rPr>
              <a:t>sustained</a:t>
            </a:r>
            <a:r>
              <a:rPr dirty="0" sz="25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82828"/>
                </a:solidFill>
                <a:latin typeface="Tahoma"/>
                <a:cs typeface="Tahoma"/>
              </a:rPr>
              <a:t>increase</a:t>
            </a:r>
            <a:r>
              <a:rPr dirty="0" sz="2500" spc="-20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in</a:t>
            </a:r>
            <a:r>
              <a:rPr dirty="0" sz="25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70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500" spc="-2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82828"/>
                </a:solidFill>
                <a:latin typeface="Tahoma"/>
                <a:cs typeface="Tahoma"/>
              </a:rPr>
              <a:t>reflects</a:t>
            </a:r>
            <a:r>
              <a:rPr dirty="0" sz="2500" spc="-20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45">
                <a:solidFill>
                  <a:srgbClr val="282828"/>
                </a:solidFill>
                <a:latin typeface="Tahoma"/>
                <a:cs typeface="Tahoma"/>
              </a:rPr>
              <a:t>growth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in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30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bank's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282828"/>
                </a:solidFill>
                <a:latin typeface="Tahoma"/>
                <a:cs typeface="Tahoma"/>
              </a:rPr>
              <a:t>interest-</a:t>
            </a:r>
            <a:r>
              <a:rPr dirty="0" sz="2500" spc="-50">
                <a:solidFill>
                  <a:srgbClr val="282828"/>
                </a:solidFill>
                <a:latin typeface="Tahoma"/>
                <a:cs typeface="Tahoma"/>
              </a:rPr>
              <a:t>earning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82828"/>
                </a:solidFill>
                <a:latin typeface="Tahoma"/>
                <a:cs typeface="Tahoma"/>
              </a:rPr>
              <a:t>asset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base, supported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75">
                <a:solidFill>
                  <a:srgbClr val="282828"/>
                </a:solidFill>
                <a:latin typeface="Tahoma"/>
                <a:cs typeface="Tahoma"/>
              </a:rPr>
              <a:t>by</a:t>
            </a:r>
            <a:r>
              <a:rPr dirty="0" sz="2500" spc="-21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282828"/>
                </a:solidFill>
                <a:latin typeface="Tahoma"/>
                <a:cs typeface="Tahoma"/>
              </a:rPr>
              <a:t>expansion</a:t>
            </a:r>
            <a:r>
              <a:rPr dirty="0" sz="2500" spc="-21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in</a:t>
            </a:r>
            <a:r>
              <a:rPr dirty="0" sz="2500" spc="-21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82828"/>
                </a:solidFill>
                <a:latin typeface="Tahoma"/>
                <a:cs typeface="Tahoma"/>
              </a:rPr>
              <a:t>loans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282828"/>
                </a:solidFill>
                <a:latin typeface="Tahoma"/>
                <a:cs typeface="Tahoma"/>
              </a:rPr>
              <a:t>and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deposits.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38120" y="7868278"/>
            <a:ext cx="7547609" cy="177800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dirty="0" sz="2500" spc="-204" b="1">
                <a:solidFill>
                  <a:srgbClr val="282828"/>
                </a:solidFill>
                <a:latin typeface="Tahoma"/>
                <a:cs typeface="Tahoma"/>
              </a:rPr>
              <a:t>Key</a:t>
            </a:r>
            <a:r>
              <a:rPr dirty="0" sz="2500" spc="-200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 b="1">
                <a:solidFill>
                  <a:srgbClr val="282828"/>
                </a:solidFill>
                <a:latin typeface="Tahoma"/>
                <a:cs typeface="Tahoma"/>
              </a:rPr>
              <a:t>Finding</a:t>
            </a:r>
            <a:endParaRPr sz="2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50"/>
              </a:spcBef>
            </a:pPr>
            <a:r>
              <a:rPr dirty="0" sz="2500" spc="-170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5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282828"/>
                </a:solidFill>
                <a:latin typeface="Tahoma"/>
                <a:cs typeface="Tahoma"/>
              </a:rPr>
              <a:t>increased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significantly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40">
                <a:solidFill>
                  <a:srgbClr val="282828"/>
                </a:solidFill>
                <a:latin typeface="Tahoma"/>
                <a:cs typeface="Tahoma"/>
              </a:rPr>
              <a:t>from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40">
                <a:solidFill>
                  <a:srgbClr val="282828"/>
                </a:solidFill>
                <a:latin typeface="Tahoma"/>
                <a:cs typeface="Tahoma"/>
              </a:rPr>
              <a:t>₹72,010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7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r>
              <a:rPr dirty="0" sz="25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in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45">
                <a:solidFill>
                  <a:srgbClr val="282828"/>
                </a:solidFill>
                <a:latin typeface="Tahoma"/>
                <a:cs typeface="Tahoma"/>
              </a:rPr>
              <a:t>FY2022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282828"/>
                </a:solidFill>
                <a:latin typeface="Tahoma"/>
                <a:cs typeface="Tahoma"/>
              </a:rPr>
              <a:t>to</a:t>
            </a:r>
            <a:endParaRPr sz="2500">
              <a:latin typeface="Tahoma"/>
              <a:cs typeface="Tahoma"/>
            </a:endParaRPr>
          </a:p>
          <a:p>
            <a:pPr algn="ctr" marL="93345" marR="85725">
              <a:lnSpc>
                <a:spcPct val="114999"/>
              </a:lnSpc>
            </a:pPr>
            <a:r>
              <a:rPr dirty="0" sz="2500" spc="-45">
                <a:solidFill>
                  <a:srgbClr val="282828"/>
                </a:solidFill>
                <a:latin typeface="Tahoma"/>
                <a:cs typeface="Tahoma"/>
              </a:rPr>
              <a:t>₹1,28,686</a:t>
            </a:r>
            <a:r>
              <a:rPr dirty="0" sz="25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7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r>
              <a:rPr dirty="0" sz="25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in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50">
                <a:solidFill>
                  <a:srgbClr val="282828"/>
                </a:solidFill>
                <a:latin typeface="Tahoma"/>
                <a:cs typeface="Tahoma"/>
              </a:rPr>
              <a:t>FY2026,</a:t>
            </a:r>
            <a:r>
              <a:rPr dirty="0" sz="25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indicating</a:t>
            </a:r>
            <a:r>
              <a:rPr dirty="0" sz="25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50">
                <a:solidFill>
                  <a:srgbClr val="282828"/>
                </a:solidFill>
                <a:latin typeface="Tahoma"/>
                <a:cs typeface="Tahoma"/>
              </a:rPr>
              <a:t>strong</a:t>
            </a:r>
            <a:r>
              <a:rPr dirty="0" sz="25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282828"/>
                </a:solidFill>
                <a:latin typeface="Tahoma"/>
                <a:cs typeface="Tahoma"/>
              </a:rPr>
              <a:t>expansion</a:t>
            </a:r>
            <a:r>
              <a:rPr dirty="0" sz="25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25">
                <a:solidFill>
                  <a:srgbClr val="282828"/>
                </a:solidFill>
                <a:latin typeface="Tahoma"/>
                <a:cs typeface="Tahoma"/>
              </a:rPr>
              <a:t>in </a:t>
            </a:r>
            <a:r>
              <a:rPr dirty="0" sz="2500">
                <a:solidFill>
                  <a:srgbClr val="282828"/>
                </a:solidFill>
                <a:latin typeface="Tahoma"/>
                <a:cs typeface="Tahoma"/>
              </a:rPr>
              <a:t>core</a:t>
            </a:r>
            <a:r>
              <a:rPr dirty="0" sz="2500" spc="-22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45">
                <a:solidFill>
                  <a:srgbClr val="282828"/>
                </a:solidFill>
                <a:latin typeface="Tahoma"/>
                <a:cs typeface="Tahoma"/>
              </a:rPr>
              <a:t>banking</a:t>
            </a:r>
            <a:r>
              <a:rPr dirty="0" sz="25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500" spc="-10">
                <a:solidFill>
                  <a:srgbClr val="282828"/>
                </a:solidFill>
                <a:latin typeface="Tahoma"/>
                <a:cs typeface="Tahoma"/>
              </a:rPr>
              <a:t>earnings.</a:t>
            </a:r>
            <a:endParaRPr sz="2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92965" y="585850"/>
            <a:ext cx="942911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0"/>
              <a:t>KEY</a:t>
            </a:r>
            <a:r>
              <a:rPr dirty="0" spc="-440"/>
              <a:t> </a:t>
            </a:r>
            <a:r>
              <a:rPr dirty="0" spc="-400"/>
              <a:t>FINANCIAL</a:t>
            </a:r>
            <a:r>
              <a:rPr dirty="0" spc="-440"/>
              <a:t> </a:t>
            </a:r>
            <a:r>
              <a:rPr dirty="0" spc="-380"/>
              <a:t>METRICS</a:t>
            </a:r>
            <a:r>
              <a:rPr dirty="0" spc="-440"/>
              <a:t> </a:t>
            </a:r>
            <a:r>
              <a:rPr dirty="0" spc="-490"/>
              <a:t>FY2026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54998" y="2722253"/>
            <a:ext cx="3771265" cy="264477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GROWTH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5">
                <a:solidFill>
                  <a:srgbClr val="282828"/>
                </a:solidFill>
                <a:latin typeface="Tahoma"/>
                <a:cs typeface="Tahoma"/>
              </a:rPr>
              <a:t>CAGR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16%</a:t>
            </a:r>
            <a:endParaRPr sz="2950">
              <a:latin typeface="Tahoma"/>
              <a:cs typeface="Tahoma"/>
            </a:endParaRPr>
          </a:p>
          <a:p>
            <a:pPr marL="12700" marR="469900">
              <a:lnSpc>
                <a:spcPct val="116500"/>
              </a:lnSpc>
            </a:pP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0">
                <a:solidFill>
                  <a:srgbClr val="282828"/>
                </a:solidFill>
                <a:latin typeface="Tahoma"/>
                <a:cs typeface="Tahoma"/>
              </a:rPr>
              <a:t>Growth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5%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Loan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0">
                <a:solidFill>
                  <a:srgbClr val="282828"/>
                </a:solidFill>
                <a:latin typeface="Tahoma"/>
                <a:cs typeface="Tahoma"/>
              </a:rPr>
              <a:t>Growth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40">
                <a:solidFill>
                  <a:srgbClr val="282828"/>
                </a:solidFill>
                <a:latin typeface="Tahoma"/>
                <a:cs typeface="Tahoma"/>
              </a:rPr>
              <a:t>11%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Deposit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0">
                <a:solidFill>
                  <a:srgbClr val="282828"/>
                </a:solidFill>
                <a:latin typeface="Tahoma"/>
                <a:cs typeface="Tahoma"/>
              </a:rPr>
              <a:t>Growth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0">
                <a:solidFill>
                  <a:srgbClr val="282828"/>
                </a:solidFill>
                <a:latin typeface="Tahoma"/>
                <a:cs typeface="Tahoma"/>
              </a:rPr>
              <a:t>14%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8229600"/>
            <a:ext cx="3557904" cy="2057400"/>
            <a:chOff x="0" y="8229600"/>
            <a:chExt cx="3557904" cy="2057400"/>
          </a:xfrm>
        </p:grpSpPr>
        <p:sp>
          <p:nvSpPr>
            <p:cNvPr id="5" name="object 5"/>
            <p:cNvSpPr/>
            <p:nvPr/>
          </p:nvSpPr>
          <p:spPr>
            <a:xfrm>
              <a:off x="0" y="9882037"/>
              <a:ext cx="3557904" cy="405130"/>
            </a:xfrm>
            <a:custGeom>
              <a:avLst/>
              <a:gdLst/>
              <a:ahLst/>
              <a:cxnLst/>
              <a:rect l="l" t="t" r="r" b="b"/>
              <a:pathLst>
                <a:path w="3557904" h="405129">
                  <a:moveTo>
                    <a:pt x="3557711" y="404962"/>
                  </a:moveTo>
                  <a:lnTo>
                    <a:pt x="3369246" y="404962"/>
                  </a:lnTo>
                  <a:lnTo>
                    <a:pt x="3364823" y="361505"/>
                  </a:lnTo>
                  <a:lnTo>
                    <a:pt x="3352147" y="320948"/>
                  </a:lnTo>
                  <a:lnTo>
                    <a:pt x="3332109" y="284175"/>
                  </a:lnTo>
                  <a:lnTo>
                    <a:pt x="3305600" y="252070"/>
                  </a:lnTo>
                  <a:lnTo>
                    <a:pt x="3273512" y="225561"/>
                  </a:lnTo>
                  <a:lnTo>
                    <a:pt x="3236742" y="205523"/>
                  </a:lnTo>
                  <a:lnTo>
                    <a:pt x="3196188" y="192848"/>
                  </a:lnTo>
                  <a:lnTo>
                    <a:pt x="3152748" y="188424"/>
                  </a:lnTo>
                  <a:lnTo>
                    <a:pt x="0" y="188424"/>
                  </a:lnTo>
                  <a:lnTo>
                    <a:pt x="0" y="0"/>
                  </a:lnTo>
                  <a:lnTo>
                    <a:pt x="3152748" y="0"/>
                  </a:lnTo>
                  <a:lnTo>
                    <a:pt x="3207536" y="3710"/>
                  </a:lnTo>
                  <a:lnTo>
                    <a:pt x="3260141" y="14514"/>
                  </a:lnTo>
                  <a:lnTo>
                    <a:pt x="3310066" y="31921"/>
                  </a:lnTo>
                  <a:lnTo>
                    <a:pt x="3356819" y="55439"/>
                  </a:lnTo>
                  <a:lnTo>
                    <a:pt x="3399902" y="84579"/>
                  </a:lnTo>
                  <a:lnTo>
                    <a:pt x="3438821" y="118850"/>
                  </a:lnTo>
                  <a:lnTo>
                    <a:pt x="3473094" y="157769"/>
                  </a:lnTo>
                  <a:lnTo>
                    <a:pt x="3502242" y="200853"/>
                  </a:lnTo>
                  <a:lnTo>
                    <a:pt x="3525770" y="247609"/>
                  </a:lnTo>
                  <a:lnTo>
                    <a:pt x="3543186" y="297542"/>
                  </a:lnTo>
                  <a:lnTo>
                    <a:pt x="3553997" y="350157"/>
                  </a:lnTo>
                  <a:lnTo>
                    <a:pt x="3557711" y="404962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95309" y="8229600"/>
              <a:ext cx="810260" cy="2057400"/>
            </a:xfrm>
            <a:custGeom>
              <a:avLst/>
              <a:gdLst/>
              <a:ahLst/>
              <a:cxnLst/>
              <a:rect l="l" t="t" r="r" b="b"/>
              <a:pathLst>
                <a:path w="810260" h="2057400">
                  <a:moveTo>
                    <a:pt x="188464" y="1665276"/>
                  </a:moveTo>
                  <a:lnTo>
                    <a:pt x="39" y="1665276"/>
                  </a:lnTo>
                  <a:lnTo>
                    <a:pt x="39" y="404962"/>
                  </a:lnTo>
                  <a:lnTo>
                    <a:pt x="3752" y="350160"/>
                  </a:lnTo>
                  <a:lnTo>
                    <a:pt x="14563" y="297552"/>
                  </a:lnTo>
                  <a:lnTo>
                    <a:pt x="31980" y="247629"/>
                  </a:lnTo>
                  <a:lnTo>
                    <a:pt x="55508" y="200882"/>
                  </a:lnTo>
                  <a:lnTo>
                    <a:pt x="84655" y="157805"/>
                  </a:lnTo>
                  <a:lnTo>
                    <a:pt x="118928" y="118889"/>
                  </a:lnTo>
                  <a:lnTo>
                    <a:pt x="157845" y="84616"/>
                  </a:lnTo>
                  <a:lnTo>
                    <a:pt x="200922" y="55468"/>
                  </a:lnTo>
                  <a:lnTo>
                    <a:pt x="247668" y="31940"/>
                  </a:lnTo>
                  <a:lnTo>
                    <a:pt x="297591" y="14524"/>
                  </a:lnTo>
                  <a:lnTo>
                    <a:pt x="350199" y="3713"/>
                  </a:lnTo>
                  <a:lnTo>
                    <a:pt x="405001" y="0"/>
                  </a:lnTo>
                  <a:lnTo>
                    <a:pt x="459803" y="3713"/>
                  </a:lnTo>
                  <a:lnTo>
                    <a:pt x="512413" y="14524"/>
                  </a:lnTo>
                  <a:lnTo>
                    <a:pt x="562339" y="31940"/>
                  </a:lnTo>
                  <a:lnTo>
                    <a:pt x="609092" y="55468"/>
                  </a:lnTo>
                  <a:lnTo>
                    <a:pt x="652180" y="84616"/>
                  </a:lnTo>
                  <a:lnTo>
                    <a:pt x="691113" y="118889"/>
                  </a:lnTo>
                  <a:lnTo>
                    <a:pt x="725370" y="157805"/>
                  </a:lnTo>
                  <a:lnTo>
                    <a:pt x="746080" y="188424"/>
                  </a:lnTo>
                  <a:lnTo>
                    <a:pt x="405001" y="188424"/>
                  </a:lnTo>
                  <a:lnTo>
                    <a:pt x="361561" y="192854"/>
                  </a:lnTo>
                  <a:lnTo>
                    <a:pt x="321007" y="205543"/>
                  </a:lnTo>
                  <a:lnTo>
                    <a:pt x="284237" y="225594"/>
                  </a:lnTo>
                  <a:lnTo>
                    <a:pt x="252149" y="252109"/>
                  </a:lnTo>
                  <a:lnTo>
                    <a:pt x="225634" y="284197"/>
                  </a:lnTo>
                  <a:lnTo>
                    <a:pt x="205582" y="320968"/>
                  </a:lnTo>
                  <a:lnTo>
                    <a:pt x="192893" y="361522"/>
                  </a:lnTo>
                  <a:lnTo>
                    <a:pt x="188464" y="404962"/>
                  </a:lnTo>
                  <a:lnTo>
                    <a:pt x="188464" y="1665276"/>
                  </a:lnTo>
                  <a:close/>
                </a:path>
                <a:path w="810260" h="2057400">
                  <a:moveTo>
                    <a:pt x="809963" y="2057399"/>
                  </a:moveTo>
                  <a:lnTo>
                    <a:pt x="621499" y="2057399"/>
                  </a:lnTo>
                  <a:lnTo>
                    <a:pt x="621499" y="404962"/>
                  </a:lnTo>
                  <a:lnTo>
                    <a:pt x="617070" y="361522"/>
                  </a:lnTo>
                  <a:lnTo>
                    <a:pt x="604380" y="320968"/>
                  </a:lnTo>
                  <a:lnTo>
                    <a:pt x="584329" y="284197"/>
                  </a:lnTo>
                  <a:lnTo>
                    <a:pt x="557814" y="252109"/>
                  </a:lnTo>
                  <a:lnTo>
                    <a:pt x="525732" y="225594"/>
                  </a:lnTo>
                  <a:lnTo>
                    <a:pt x="488976" y="205543"/>
                  </a:lnTo>
                  <a:lnTo>
                    <a:pt x="448435" y="192854"/>
                  </a:lnTo>
                  <a:lnTo>
                    <a:pt x="405001" y="188424"/>
                  </a:lnTo>
                  <a:lnTo>
                    <a:pt x="746080" y="188424"/>
                  </a:lnTo>
                  <a:lnTo>
                    <a:pt x="778027" y="247629"/>
                  </a:lnTo>
                  <a:lnTo>
                    <a:pt x="795440" y="297552"/>
                  </a:lnTo>
                  <a:lnTo>
                    <a:pt x="806250" y="350160"/>
                  </a:lnTo>
                  <a:lnTo>
                    <a:pt x="809963" y="404962"/>
                  </a:lnTo>
                  <a:lnTo>
                    <a:pt x="809963" y="2057399"/>
                  </a:lnTo>
                  <a:close/>
                </a:path>
                <a:path w="810260" h="2057400">
                  <a:moveTo>
                    <a:pt x="188464" y="2057399"/>
                  </a:moveTo>
                  <a:lnTo>
                    <a:pt x="0" y="2057399"/>
                  </a:lnTo>
                  <a:lnTo>
                    <a:pt x="0" y="1825549"/>
                  </a:lnTo>
                  <a:lnTo>
                    <a:pt x="188464" y="1825549"/>
                  </a:lnTo>
                  <a:lnTo>
                    <a:pt x="188464" y="2057399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14966092" y="0"/>
            <a:ext cx="3322320" cy="3086100"/>
            <a:chOff x="14966092" y="0"/>
            <a:chExt cx="3322320" cy="3086100"/>
          </a:xfrm>
        </p:grpSpPr>
        <p:sp>
          <p:nvSpPr>
            <p:cNvPr id="8" name="object 8"/>
            <p:cNvSpPr/>
            <p:nvPr/>
          </p:nvSpPr>
          <p:spPr>
            <a:xfrm>
              <a:off x="14966092" y="623738"/>
              <a:ext cx="3322320" cy="810260"/>
            </a:xfrm>
            <a:custGeom>
              <a:avLst/>
              <a:gdLst/>
              <a:ahLst/>
              <a:cxnLst/>
              <a:rect l="l" t="t" r="r" b="b"/>
              <a:pathLst>
                <a:path w="3322319" h="810260">
                  <a:moveTo>
                    <a:pt x="3321904" y="809924"/>
                  </a:moveTo>
                  <a:lnTo>
                    <a:pt x="404962" y="809924"/>
                  </a:lnTo>
                  <a:lnTo>
                    <a:pt x="350160" y="806211"/>
                  </a:lnTo>
                  <a:lnTo>
                    <a:pt x="297552" y="795399"/>
                  </a:lnTo>
                  <a:lnTo>
                    <a:pt x="247629" y="777983"/>
                  </a:lnTo>
                  <a:lnTo>
                    <a:pt x="200882" y="754455"/>
                  </a:lnTo>
                  <a:lnTo>
                    <a:pt x="157805" y="725308"/>
                  </a:lnTo>
                  <a:lnTo>
                    <a:pt x="118889" y="691034"/>
                  </a:lnTo>
                  <a:lnTo>
                    <a:pt x="84616" y="652118"/>
                  </a:lnTo>
                  <a:lnTo>
                    <a:pt x="55468" y="609041"/>
                  </a:lnTo>
                  <a:lnTo>
                    <a:pt x="31940" y="562295"/>
                  </a:lnTo>
                  <a:lnTo>
                    <a:pt x="14524" y="512372"/>
                  </a:lnTo>
                  <a:lnTo>
                    <a:pt x="3713" y="459763"/>
                  </a:lnTo>
                  <a:lnTo>
                    <a:pt x="0" y="404962"/>
                  </a:lnTo>
                  <a:lnTo>
                    <a:pt x="3713" y="350157"/>
                  </a:lnTo>
                  <a:lnTo>
                    <a:pt x="14524" y="297542"/>
                  </a:lnTo>
                  <a:lnTo>
                    <a:pt x="31940" y="247609"/>
                  </a:lnTo>
                  <a:lnTo>
                    <a:pt x="55468" y="200853"/>
                  </a:lnTo>
                  <a:lnTo>
                    <a:pt x="84616" y="157769"/>
                  </a:lnTo>
                  <a:lnTo>
                    <a:pt x="118889" y="118850"/>
                  </a:lnTo>
                  <a:lnTo>
                    <a:pt x="157805" y="84579"/>
                  </a:lnTo>
                  <a:lnTo>
                    <a:pt x="200882" y="55439"/>
                  </a:lnTo>
                  <a:lnTo>
                    <a:pt x="247629" y="31921"/>
                  </a:lnTo>
                  <a:lnTo>
                    <a:pt x="297552" y="14514"/>
                  </a:lnTo>
                  <a:lnTo>
                    <a:pt x="350160" y="3710"/>
                  </a:lnTo>
                  <a:lnTo>
                    <a:pt x="404962" y="0"/>
                  </a:lnTo>
                  <a:lnTo>
                    <a:pt x="3321904" y="0"/>
                  </a:lnTo>
                  <a:lnTo>
                    <a:pt x="3321904" y="188424"/>
                  </a:lnTo>
                  <a:lnTo>
                    <a:pt x="404962" y="188424"/>
                  </a:lnTo>
                  <a:lnTo>
                    <a:pt x="361522" y="192848"/>
                  </a:lnTo>
                  <a:lnTo>
                    <a:pt x="320968" y="205523"/>
                  </a:lnTo>
                  <a:lnTo>
                    <a:pt x="284197" y="225561"/>
                  </a:lnTo>
                  <a:lnTo>
                    <a:pt x="252109" y="252070"/>
                  </a:lnTo>
                  <a:lnTo>
                    <a:pt x="225601" y="284175"/>
                  </a:lnTo>
                  <a:lnTo>
                    <a:pt x="205563" y="320948"/>
                  </a:lnTo>
                  <a:lnTo>
                    <a:pt x="192887" y="361505"/>
                  </a:lnTo>
                  <a:lnTo>
                    <a:pt x="188464" y="404962"/>
                  </a:lnTo>
                  <a:lnTo>
                    <a:pt x="192887" y="448402"/>
                  </a:lnTo>
                  <a:lnTo>
                    <a:pt x="205563" y="488956"/>
                  </a:lnTo>
                  <a:lnTo>
                    <a:pt x="225601" y="525726"/>
                  </a:lnTo>
                  <a:lnTo>
                    <a:pt x="252109" y="557814"/>
                  </a:lnTo>
                  <a:lnTo>
                    <a:pt x="284197" y="584329"/>
                  </a:lnTo>
                  <a:lnTo>
                    <a:pt x="320968" y="604380"/>
                  </a:lnTo>
                  <a:lnTo>
                    <a:pt x="361522" y="617070"/>
                  </a:lnTo>
                  <a:lnTo>
                    <a:pt x="404962" y="621499"/>
                  </a:lnTo>
                  <a:lnTo>
                    <a:pt x="3321904" y="621499"/>
                  </a:lnTo>
                  <a:lnTo>
                    <a:pt x="3321904" y="809924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618490" y="0"/>
              <a:ext cx="810260" cy="3086100"/>
            </a:xfrm>
            <a:custGeom>
              <a:avLst/>
              <a:gdLst/>
              <a:ahLst/>
              <a:cxnLst/>
              <a:rect l="l" t="t" r="r" b="b"/>
              <a:pathLst>
                <a:path w="810259" h="3086100">
                  <a:moveTo>
                    <a:pt x="188464" y="636576"/>
                  </a:moveTo>
                  <a:lnTo>
                    <a:pt x="39" y="636576"/>
                  </a:lnTo>
                  <a:lnTo>
                    <a:pt x="39" y="0"/>
                  </a:lnTo>
                  <a:lnTo>
                    <a:pt x="188464" y="0"/>
                  </a:lnTo>
                  <a:lnTo>
                    <a:pt x="188464" y="636576"/>
                  </a:lnTo>
                  <a:close/>
                </a:path>
                <a:path w="810259" h="3086100">
                  <a:moveTo>
                    <a:pt x="809963" y="1262984"/>
                  </a:moveTo>
                  <a:lnTo>
                    <a:pt x="621499" y="1262984"/>
                  </a:lnTo>
                  <a:lnTo>
                    <a:pt x="621499" y="0"/>
                  </a:lnTo>
                  <a:lnTo>
                    <a:pt x="809963" y="0"/>
                  </a:lnTo>
                  <a:lnTo>
                    <a:pt x="809963" y="1262984"/>
                  </a:lnTo>
                  <a:close/>
                </a:path>
                <a:path w="810259" h="3086100">
                  <a:moveTo>
                    <a:pt x="405001" y="3086099"/>
                  </a:moveTo>
                  <a:lnTo>
                    <a:pt x="350196" y="3082386"/>
                  </a:lnTo>
                  <a:lnTo>
                    <a:pt x="297581" y="3071575"/>
                  </a:lnTo>
                  <a:lnTo>
                    <a:pt x="247648" y="3054158"/>
                  </a:lnTo>
                  <a:lnTo>
                    <a:pt x="200892" y="3030630"/>
                  </a:lnTo>
                  <a:lnTo>
                    <a:pt x="157808" y="3001483"/>
                  </a:lnTo>
                  <a:lnTo>
                    <a:pt x="118889" y="2967210"/>
                  </a:lnTo>
                  <a:lnTo>
                    <a:pt x="84616" y="2928291"/>
                  </a:lnTo>
                  <a:lnTo>
                    <a:pt x="55468" y="2885207"/>
                  </a:lnTo>
                  <a:lnTo>
                    <a:pt x="31940" y="2838455"/>
                  </a:lnTo>
                  <a:lnTo>
                    <a:pt x="14524" y="2788529"/>
                  </a:lnTo>
                  <a:lnTo>
                    <a:pt x="3713" y="2735925"/>
                  </a:lnTo>
                  <a:lnTo>
                    <a:pt x="0" y="2681137"/>
                  </a:lnTo>
                  <a:lnTo>
                    <a:pt x="0" y="796849"/>
                  </a:lnTo>
                  <a:lnTo>
                    <a:pt x="188464" y="796849"/>
                  </a:lnTo>
                  <a:lnTo>
                    <a:pt x="188464" y="2681137"/>
                  </a:lnTo>
                  <a:lnTo>
                    <a:pt x="192893" y="2724577"/>
                  </a:lnTo>
                  <a:lnTo>
                    <a:pt x="205582" y="2765131"/>
                  </a:lnTo>
                  <a:lnTo>
                    <a:pt x="225634" y="2801901"/>
                  </a:lnTo>
                  <a:lnTo>
                    <a:pt x="252149" y="2833989"/>
                  </a:lnTo>
                  <a:lnTo>
                    <a:pt x="284237" y="2860498"/>
                  </a:lnTo>
                  <a:lnTo>
                    <a:pt x="321007" y="2880536"/>
                  </a:lnTo>
                  <a:lnTo>
                    <a:pt x="361561" y="2893212"/>
                  </a:lnTo>
                  <a:lnTo>
                    <a:pt x="405001" y="2897635"/>
                  </a:lnTo>
                  <a:lnTo>
                    <a:pt x="746092" y="2897635"/>
                  </a:lnTo>
                  <a:lnTo>
                    <a:pt x="725349" y="2928291"/>
                  </a:lnTo>
                  <a:lnTo>
                    <a:pt x="691074" y="2967210"/>
                  </a:lnTo>
                  <a:lnTo>
                    <a:pt x="652157" y="3001483"/>
                  </a:lnTo>
                  <a:lnTo>
                    <a:pt x="609080" y="3030630"/>
                  </a:lnTo>
                  <a:lnTo>
                    <a:pt x="562334" y="3054158"/>
                  </a:lnTo>
                  <a:lnTo>
                    <a:pt x="512411" y="3071575"/>
                  </a:lnTo>
                  <a:lnTo>
                    <a:pt x="459803" y="3082386"/>
                  </a:lnTo>
                  <a:lnTo>
                    <a:pt x="405001" y="3086099"/>
                  </a:lnTo>
                  <a:close/>
                </a:path>
                <a:path w="810259" h="3086100">
                  <a:moveTo>
                    <a:pt x="746092" y="2897635"/>
                  </a:moveTo>
                  <a:lnTo>
                    <a:pt x="405001" y="2897635"/>
                  </a:lnTo>
                  <a:lnTo>
                    <a:pt x="448435" y="2893212"/>
                  </a:lnTo>
                  <a:lnTo>
                    <a:pt x="488976" y="2880536"/>
                  </a:lnTo>
                  <a:lnTo>
                    <a:pt x="525732" y="2860498"/>
                  </a:lnTo>
                  <a:lnTo>
                    <a:pt x="557814" y="2833989"/>
                  </a:lnTo>
                  <a:lnTo>
                    <a:pt x="584329" y="2801901"/>
                  </a:lnTo>
                  <a:lnTo>
                    <a:pt x="604380" y="2765131"/>
                  </a:lnTo>
                  <a:lnTo>
                    <a:pt x="617070" y="2724577"/>
                  </a:lnTo>
                  <a:lnTo>
                    <a:pt x="621499" y="2681137"/>
                  </a:lnTo>
                  <a:lnTo>
                    <a:pt x="621499" y="1418663"/>
                  </a:lnTo>
                  <a:lnTo>
                    <a:pt x="809963" y="1418663"/>
                  </a:lnTo>
                  <a:lnTo>
                    <a:pt x="809963" y="2681137"/>
                  </a:lnTo>
                  <a:lnTo>
                    <a:pt x="806251" y="2735925"/>
                  </a:lnTo>
                  <a:lnTo>
                    <a:pt x="795442" y="2788529"/>
                  </a:lnTo>
                  <a:lnTo>
                    <a:pt x="778028" y="2838455"/>
                  </a:lnTo>
                  <a:lnTo>
                    <a:pt x="754499" y="2885207"/>
                  </a:lnTo>
                  <a:lnTo>
                    <a:pt x="746092" y="2897635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2622611" y="1622699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69" h="521969">
                <a:moveTo>
                  <a:pt x="260856" y="521713"/>
                </a:moveTo>
                <a:lnTo>
                  <a:pt x="213967" y="517510"/>
                </a:lnTo>
                <a:lnTo>
                  <a:pt x="169835" y="505393"/>
                </a:lnTo>
                <a:lnTo>
                  <a:pt x="129197" y="486098"/>
                </a:lnTo>
                <a:lnTo>
                  <a:pt x="92790" y="460363"/>
                </a:lnTo>
                <a:lnTo>
                  <a:pt x="61350" y="428923"/>
                </a:lnTo>
                <a:lnTo>
                  <a:pt x="35614" y="392516"/>
                </a:lnTo>
                <a:lnTo>
                  <a:pt x="16319" y="351878"/>
                </a:lnTo>
                <a:lnTo>
                  <a:pt x="4202" y="307746"/>
                </a:lnTo>
                <a:lnTo>
                  <a:pt x="0" y="260856"/>
                </a:lnTo>
                <a:lnTo>
                  <a:pt x="4202" y="213967"/>
                </a:lnTo>
                <a:lnTo>
                  <a:pt x="16319" y="169835"/>
                </a:lnTo>
                <a:lnTo>
                  <a:pt x="35614" y="129197"/>
                </a:lnTo>
                <a:lnTo>
                  <a:pt x="61350" y="92790"/>
                </a:lnTo>
                <a:lnTo>
                  <a:pt x="92790" y="61350"/>
                </a:lnTo>
                <a:lnTo>
                  <a:pt x="129197" y="35614"/>
                </a:lnTo>
                <a:lnTo>
                  <a:pt x="169835" y="16319"/>
                </a:lnTo>
                <a:lnTo>
                  <a:pt x="213967" y="4202"/>
                </a:lnTo>
                <a:lnTo>
                  <a:pt x="260856" y="0"/>
                </a:lnTo>
                <a:lnTo>
                  <a:pt x="307746" y="4202"/>
                </a:lnTo>
                <a:lnTo>
                  <a:pt x="351878" y="16319"/>
                </a:lnTo>
                <a:lnTo>
                  <a:pt x="392516" y="35614"/>
                </a:lnTo>
                <a:lnTo>
                  <a:pt x="428923" y="61350"/>
                </a:lnTo>
                <a:lnTo>
                  <a:pt x="460363" y="92790"/>
                </a:lnTo>
                <a:lnTo>
                  <a:pt x="486098" y="129197"/>
                </a:lnTo>
                <a:lnTo>
                  <a:pt x="505393" y="169835"/>
                </a:lnTo>
                <a:lnTo>
                  <a:pt x="517510" y="213967"/>
                </a:lnTo>
                <a:lnTo>
                  <a:pt x="521713" y="260856"/>
                </a:lnTo>
                <a:lnTo>
                  <a:pt x="517510" y="307746"/>
                </a:lnTo>
                <a:lnTo>
                  <a:pt x="505393" y="351878"/>
                </a:lnTo>
                <a:lnTo>
                  <a:pt x="486098" y="392516"/>
                </a:lnTo>
                <a:lnTo>
                  <a:pt x="460363" y="428923"/>
                </a:lnTo>
                <a:lnTo>
                  <a:pt x="428923" y="460363"/>
                </a:lnTo>
                <a:lnTo>
                  <a:pt x="392516" y="486098"/>
                </a:lnTo>
                <a:lnTo>
                  <a:pt x="351878" y="505393"/>
                </a:lnTo>
                <a:lnTo>
                  <a:pt x="307746" y="517510"/>
                </a:lnTo>
                <a:lnTo>
                  <a:pt x="260856" y="521713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413535" y="9258300"/>
            <a:ext cx="2782570" cy="1028700"/>
          </a:xfrm>
          <a:custGeom>
            <a:avLst/>
            <a:gdLst/>
            <a:ahLst/>
            <a:cxnLst/>
            <a:rect l="l" t="t" r="r" b="b"/>
            <a:pathLst>
              <a:path w="2782569" h="1028700">
                <a:moveTo>
                  <a:pt x="2782281" y="1028699"/>
                </a:moveTo>
                <a:lnTo>
                  <a:pt x="0" y="1028699"/>
                </a:lnTo>
                <a:lnTo>
                  <a:pt x="10675" y="994849"/>
                </a:lnTo>
                <a:lnTo>
                  <a:pt x="25765" y="951802"/>
                </a:lnTo>
                <a:lnTo>
                  <a:pt x="42154" y="909383"/>
                </a:lnTo>
                <a:lnTo>
                  <a:pt x="59819" y="867618"/>
                </a:lnTo>
                <a:lnTo>
                  <a:pt x="78736" y="826528"/>
                </a:lnTo>
                <a:lnTo>
                  <a:pt x="98880" y="786139"/>
                </a:lnTo>
                <a:lnTo>
                  <a:pt x="120227" y="746475"/>
                </a:lnTo>
                <a:lnTo>
                  <a:pt x="142755" y="707559"/>
                </a:lnTo>
                <a:lnTo>
                  <a:pt x="166438" y="669415"/>
                </a:lnTo>
                <a:lnTo>
                  <a:pt x="191253" y="632068"/>
                </a:lnTo>
                <a:lnTo>
                  <a:pt x="217175" y="595541"/>
                </a:lnTo>
                <a:lnTo>
                  <a:pt x="244182" y="559858"/>
                </a:lnTo>
                <a:lnTo>
                  <a:pt x="272248" y="525044"/>
                </a:lnTo>
                <a:lnTo>
                  <a:pt x="301350" y="491121"/>
                </a:lnTo>
                <a:lnTo>
                  <a:pt x="331464" y="458115"/>
                </a:lnTo>
                <a:lnTo>
                  <a:pt x="362566" y="426049"/>
                </a:lnTo>
                <a:lnTo>
                  <a:pt x="394633" y="394946"/>
                </a:lnTo>
                <a:lnTo>
                  <a:pt x="427639" y="364832"/>
                </a:lnTo>
                <a:lnTo>
                  <a:pt x="461561" y="335730"/>
                </a:lnTo>
                <a:lnTo>
                  <a:pt x="496376" y="307664"/>
                </a:lnTo>
                <a:lnTo>
                  <a:pt x="532059" y="280657"/>
                </a:lnTo>
                <a:lnTo>
                  <a:pt x="568586" y="254735"/>
                </a:lnTo>
                <a:lnTo>
                  <a:pt x="605933" y="229920"/>
                </a:lnTo>
                <a:lnTo>
                  <a:pt x="644077" y="206237"/>
                </a:lnTo>
                <a:lnTo>
                  <a:pt x="682993" y="183710"/>
                </a:lnTo>
                <a:lnTo>
                  <a:pt x="722657" y="162362"/>
                </a:lnTo>
                <a:lnTo>
                  <a:pt x="763046" y="142218"/>
                </a:lnTo>
                <a:lnTo>
                  <a:pt x="804135" y="123301"/>
                </a:lnTo>
                <a:lnTo>
                  <a:pt x="845901" y="105636"/>
                </a:lnTo>
                <a:lnTo>
                  <a:pt x="888320" y="89247"/>
                </a:lnTo>
                <a:lnTo>
                  <a:pt x="931367" y="74157"/>
                </a:lnTo>
                <a:lnTo>
                  <a:pt x="975019" y="60391"/>
                </a:lnTo>
                <a:lnTo>
                  <a:pt x="1019251" y="47972"/>
                </a:lnTo>
                <a:lnTo>
                  <a:pt x="1064040" y="36924"/>
                </a:lnTo>
                <a:lnTo>
                  <a:pt x="1109362" y="27271"/>
                </a:lnTo>
                <a:lnTo>
                  <a:pt x="1155193" y="19038"/>
                </a:lnTo>
                <a:lnTo>
                  <a:pt x="1201508" y="12248"/>
                </a:lnTo>
                <a:lnTo>
                  <a:pt x="1248285" y="6925"/>
                </a:lnTo>
                <a:lnTo>
                  <a:pt x="1295498" y="3094"/>
                </a:lnTo>
                <a:lnTo>
                  <a:pt x="1343125" y="777"/>
                </a:lnTo>
                <a:lnTo>
                  <a:pt x="1391140" y="0"/>
                </a:lnTo>
                <a:lnTo>
                  <a:pt x="1439156" y="777"/>
                </a:lnTo>
                <a:lnTo>
                  <a:pt x="1486782" y="3094"/>
                </a:lnTo>
                <a:lnTo>
                  <a:pt x="1533995" y="6925"/>
                </a:lnTo>
                <a:lnTo>
                  <a:pt x="1580772" y="12248"/>
                </a:lnTo>
                <a:lnTo>
                  <a:pt x="1627087" y="19038"/>
                </a:lnTo>
                <a:lnTo>
                  <a:pt x="1672918" y="27271"/>
                </a:lnTo>
                <a:lnTo>
                  <a:pt x="1718240" y="36924"/>
                </a:lnTo>
                <a:lnTo>
                  <a:pt x="1763029" y="47972"/>
                </a:lnTo>
                <a:lnTo>
                  <a:pt x="1807262" y="60391"/>
                </a:lnTo>
                <a:lnTo>
                  <a:pt x="1850913" y="74157"/>
                </a:lnTo>
                <a:lnTo>
                  <a:pt x="1893960" y="89247"/>
                </a:lnTo>
                <a:lnTo>
                  <a:pt x="1936379" y="105636"/>
                </a:lnTo>
                <a:lnTo>
                  <a:pt x="1978145" y="123301"/>
                </a:lnTo>
                <a:lnTo>
                  <a:pt x="2019234" y="142218"/>
                </a:lnTo>
                <a:lnTo>
                  <a:pt x="2059623" y="162362"/>
                </a:lnTo>
                <a:lnTo>
                  <a:pt x="2099287" y="183710"/>
                </a:lnTo>
                <a:lnTo>
                  <a:pt x="2138203" y="206237"/>
                </a:lnTo>
                <a:lnTo>
                  <a:pt x="2176347" y="229920"/>
                </a:lnTo>
                <a:lnTo>
                  <a:pt x="2213694" y="254735"/>
                </a:lnTo>
                <a:lnTo>
                  <a:pt x="2250221" y="280657"/>
                </a:lnTo>
                <a:lnTo>
                  <a:pt x="2285904" y="307664"/>
                </a:lnTo>
                <a:lnTo>
                  <a:pt x="2320719" y="335730"/>
                </a:lnTo>
                <a:lnTo>
                  <a:pt x="2354641" y="364832"/>
                </a:lnTo>
                <a:lnTo>
                  <a:pt x="2387648" y="394946"/>
                </a:lnTo>
                <a:lnTo>
                  <a:pt x="2419714" y="426049"/>
                </a:lnTo>
                <a:lnTo>
                  <a:pt x="2450816" y="458115"/>
                </a:lnTo>
                <a:lnTo>
                  <a:pt x="2480930" y="491121"/>
                </a:lnTo>
                <a:lnTo>
                  <a:pt x="2510032" y="525044"/>
                </a:lnTo>
                <a:lnTo>
                  <a:pt x="2538099" y="559858"/>
                </a:lnTo>
                <a:lnTo>
                  <a:pt x="2565105" y="595541"/>
                </a:lnTo>
                <a:lnTo>
                  <a:pt x="2591028" y="632068"/>
                </a:lnTo>
                <a:lnTo>
                  <a:pt x="2615842" y="669415"/>
                </a:lnTo>
                <a:lnTo>
                  <a:pt x="2639526" y="707559"/>
                </a:lnTo>
                <a:lnTo>
                  <a:pt x="2662053" y="746475"/>
                </a:lnTo>
                <a:lnTo>
                  <a:pt x="2683401" y="786139"/>
                </a:lnTo>
                <a:lnTo>
                  <a:pt x="2703545" y="826528"/>
                </a:lnTo>
                <a:lnTo>
                  <a:pt x="2722461" y="867618"/>
                </a:lnTo>
                <a:lnTo>
                  <a:pt x="2740126" y="909383"/>
                </a:lnTo>
                <a:lnTo>
                  <a:pt x="2756515" y="951802"/>
                </a:lnTo>
                <a:lnTo>
                  <a:pt x="2771605" y="994849"/>
                </a:lnTo>
                <a:lnTo>
                  <a:pt x="2782281" y="1028699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793745" y="2722253"/>
            <a:ext cx="2452370" cy="212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670">
              <a:lnSpc>
                <a:spcPct val="116500"/>
              </a:lnSpc>
              <a:spcBef>
                <a:spcPts val="100"/>
              </a:spcBef>
            </a:pPr>
            <a:r>
              <a:rPr dirty="0" sz="2950" spc="-130">
                <a:solidFill>
                  <a:srgbClr val="282828"/>
                </a:solidFill>
                <a:latin typeface="Tahoma"/>
                <a:cs typeface="Tahoma"/>
              </a:rPr>
              <a:t>PROFITABILITY </a:t>
            </a:r>
            <a:r>
              <a:rPr dirty="0" sz="2950" spc="-75">
                <a:solidFill>
                  <a:srgbClr val="282828"/>
                </a:solidFill>
                <a:latin typeface="Tahoma"/>
                <a:cs typeface="Tahoma"/>
              </a:rPr>
              <a:t>NIM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3.50%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ROA</a:t>
            </a:r>
            <a:r>
              <a:rPr dirty="0" sz="2950" spc="-3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>
                <a:solidFill>
                  <a:srgbClr val="282828"/>
                </a:solidFill>
                <a:latin typeface="Tahoma"/>
                <a:cs typeface="Tahoma"/>
              </a:rPr>
              <a:t>1.90%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ROE</a:t>
            </a:r>
            <a:r>
              <a:rPr dirty="0" sz="29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95">
                <a:solidFill>
                  <a:srgbClr val="282828"/>
                </a:solidFill>
                <a:latin typeface="Tahoma"/>
                <a:cs typeface="Tahoma"/>
              </a:rPr>
              <a:t>14.80%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63575" y="2722253"/>
            <a:ext cx="2552065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dirty="0" sz="2950" spc="-114">
                <a:solidFill>
                  <a:srgbClr val="282828"/>
                </a:solidFill>
                <a:latin typeface="Tahoma"/>
                <a:cs typeface="Tahoma"/>
              </a:rPr>
              <a:t>RISK</a:t>
            </a:r>
            <a:r>
              <a:rPr dirty="0" sz="2950" spc="-3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120">
                <a:solidFill>
                  <a:srgbClr val="282828"/>
                </a:solidFill>
                <a:latin typeface="Tahoma"/>
                <a:cs typeface="Tahoma"/>
              </a:rPr>
              <a:t>C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CAPITAL </a:t>
            </a:r>
            <a:r>
              <a:rPr dirty="0" sz="2950" spc="50">
                <a:solidFill>
                  <a:srgbClr val="282828"/>
                </a:solidFill>
                <a:latin typeface="Tahoma"/>
                <a:cs typeface="Tahoma"/>
              </a:rPr>
              <a:t>GNPA</a:t>
            </a:r>
            <a:r>
              <a:rPr dirty="0" sz="2950" spc="-3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—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0">
                <a:solidFill>
                  <a:srgbClr val="282828"/>
                </a:solidFill>
                <a:latin typeface="Tahoma"/>
                <a:cs typeface="Tahoma"/>
              </a:rPr>
              <a:t>1.25%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299" y="6940936"/>
            <a:ext cx="17019270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46645" marR="5080" indent="-7434580">
              <a:lnSpc>
                <a:spcPct val="116500"/>
              </a:lnSpc>
              <a:spcBef>
                <a:spcPts val="100"/>
              </a:spcBef>
            </a:pPr>
            <a:r>
              <a:rPr dirty="0" sz="2950" spc="-100">
                <a:solidFill>
                  <a:srgbClr val="282828"/>
                </a:solidFill>
                <a:latin typeface="Tahoma"/>
                <a:cs typeface="Tahoma"/>
              </a:rPr>
              <a:t>Key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25">
                <a:solidFill>
                  <a:srgbClr val="282828"/>
                </a:solidFill>
                <a:latin typeface="Tahoma"/>
                <a:cs typeface="Tahoma"/>
              </a:rPr>
              <a:t>Takeaway: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90">
                <a:solidFill>
                  <a:srgbClr val="282828"/>
                </a:solidFill>
                <a:latin typeface="Tahoma"/>
                <a:cs typeface="Tahoma"/>
              </a:rPr>
              <a:t>HDFC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>
                <a:solidFill>
                  <a:srgbClr val="282828"/>
                </a:solidFill>
                <a:latin typeface="Tahoma"/>
                <a:cs typeface="Tahoma"/>
              </a:rPr>
              <a:t>Bank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demonstrates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healthy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balance-sheet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85">
                <a:solidFill>
                  <a:srgbClr val="282828"/>
                </a:solidFill>
                <a:latin typeface="Tahoma"/>
                <a:cs typeface="Tahoma"/>
              </a:rPr>
              <a:t>growth,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5">
                <a:solidFill>
                  <a:srgbClr val="282828"/>
                </a:solidFill>
                <a:latin typeface="Tahoma"/>
                <a:cs typeface="Tahoma"/>
              </a:rPr>
              <a:t>strong</a:t>
            </a:r>
            <a:r>
              <a:rPr dirty="0" sz="2950" spc="-2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profitability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and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controlled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asset</a:t>
            </a:r>
            <a:r>
              <a:rPr dirty="0" sz="2950" spc="-1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quality.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46475" marR="5080" indent="-3534410">
              <a:lnSpc>
                <a:spcPct val="116300"/>
              </a:lnSpc>
              <a:spcBef>
                <a:spcPts val="95"/>
              </a:spcBef>
            </a:pPr>
            <a:r>
              <a:rPr dirty="0" spc="-270"/>
              <a:t>LOANS</a:t>
            </a:r>
            <a:r>
              <a:rPr dirty="0" spc="-445"/>
              <a:t> </a:t>
            </a:r>
            <a:r>
              <a:rPr dirty="0" spc="-375"/>
              <a:t>G</a:t>
            </a:r>
            <a:r>
              <a:rPr dirty="0" spc="-440"/>
              <a:t> </a:t>
            </a:r>
            <a:r>
              <a:rPr dirty="0" spc="-360"/>
              <a:t>DEPOSITS</a:t>
            </a:r>
            <a:r>
              <a:rPr dirty="0" spc="-440"/>
              <a:t> </a:t>
            </a:r>
            <a:r>
              <a:rPr dirty="0" spc="-455"/>
              <a:t>-</a:t>
            </a:r>
            <a:r>
              <a:rPr dirty="0" spc="-440"/>
              <a:t> </a:t>
            </a:r>
            <a:r>
              <a:rPr dirty="0" spc="-434"/>
              <a:t>FIVE</a:t>
            </a:r>
            <a:r>
              <a:rPr dirty="0" spc="-440"/>
              <a:t> </a:t>
            </a:r>
            <a:r>
              <a:rPr dirty="0" spc="-390"/>
              <a:t>YEAR </a:t>
            </a:r>
            <a:r>
              <a:rPr dirty="0" spc="-380"/>
              <a:t>TREND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639287" y="8403443"/>
            <a:ext cx="2649220" cy="1400175"/>
            <a:chOff x="15639287" y="8403443"/>
            <a:chExt cx="2649220" cy="1400175"/>
          </a:xfrm>
        </p:grpSpPr>
        <p:sp>
          <p:nvSpPr>
            <p:cNvPr id="4" name="object 4"/>
            <p:cNvSpPr/>
            <p:nvPr/>
          </p:nvSpPr>
          <p:spPr>
            <a:xfrm>
              <a:off x="15639287" y="8808267"/>
              <a:ext cx="2649220" cy="995680"/>
            </a:xfrm>
            <a:custGeom>
              <a:avLst/>
              <a:gdLst/>
              <a:ahLst/>
              <a:cxnLst/>
              <a:rect l="l" t="t" r="r" b="b"/>
              <a:pathLst>
                <a:path w="2649219" h="995679">
                  <a:moveTo>
                    <a:pt x="2648712" y="995351"/>
                  </a:moveTo>
                  <a:lnTo>
                    <a:pt x="492157" y="995351"/>
                  </a:lnTo>
                  <a:lnTo>
                    <a:pt x="447096" y="993058"/>
                  </a:lnTo>
                  <a:lnTo>
                    <a:pt x="397782" y="985482"/>
                  </a:lnTo>
                  <a:lnTo>
                    <a:pt x="350153" y="973168"/>
                  </a:lnTo>
                  <a:lnTo>
                    <a:pt x="304460" y="956372"/>
                  </a:lnTo>
                  <a:lnTo>
                    <a:pt x="260960" y="935348"/>
                  </a:lnTo>
                  <a:lnTo>
                    <a:pt x="219907" y="910354"/>
                  </a:lnTo>
                  <a:lnTo>
                    <a:pt x="181554" y="881644"/>
                  </a:lnTo>
                  <a:lnTo>
                    <a:pt x="146156" y="849474"/>
                  </a:lnTo>
                  <a:lnTo>
                    <a:pt x="113988" y="814093"/>
                  </a:lnTo>
                  <a:lnTo>
                    <a:pt x="85285" y="775748"/>
                  </a:lnTo>
                  <a:lnTo>
                    <a:pt x="60299" y="734697"/>
                  </a:lnTo>
                  <a:lnTo>
                    <a:pt x="39286" y="691198"/>
                  </a:lnTo>
                  <a:lnTo>
                    <a:pt x="22500" y="645506"/>
                  </a:lnTo>
                  <a:lnTo>
                    <a:pt x="10195" y="597879"/>
                  </a:lnTo>
                  <a:lnTo>
                    <a:pt x="2625" y="548574"/>
                  </a:lnTo>
                  <a:lnTo>
                    <a:pt x="0" y="497848"/>
                  </a:lnTo>
                  <a:lnTo>
                    <a:pt x="2625" y="447106"/>
                  </a:lnTo>
                  <a:lnTo>
                    <a:pt x="10196" y="397792"/>
                  </a:lnTo>
                  <a:lnTo>
                    <a:pt x="22503" y="350162"/>
                  </a:lnTo>
                  <a:lnTo>
                    <a:pt x="39293" y="304470"/>
                  </a:lnTo>
                  <a:lnTo>
                    <a:pt x="60313" y="260970"/>
                  </a:lnTo>
                  <a:lnTo>
                    <a:pt x="85308" y="219916"/>
                  </a:lnTo>
                  <a:lnTo>
                    <a:pt x="114026" y="181563"/>
                  </a:lnTo>
                  <a:lnTo>
                    <a:pt x="146212" y="146166"/>
                  </a:lnTo>
                  <a:lnTo>
                    <a:pt x="181609" y="113980"/>
                  </a:lnTo>
                  <a:lnTo>
                    <a:pt x="219962" y="85262"/>
                  </a:lnTo>
                  <a:lnTo>
                    <a:pt x="261013" y="60267"/>
                  </a:lnTo>
                  <a:lnTo>
                    <a:pt x="304509" y="39247"/>
                  </a:lnTo>
                  <a:lnTo>
                    <a:pt x="350195" y="22457"/>
                  </a:lnTo>
                  <a:lnTo>
                    <a:pt x="397815" y="10150"/>
                  </a:lnTo>
                  <a:lnTo>
                    <a:pt x="447114" y="2579"/>
                  </a:lnTo>
                  <a:lnTo>
                    <a:pt x="497838" y="0"/>
                  </a:lnTo>
                  <a:lnTo>
                    <a:pt x="2648712" y="0"/>
                  </a:lnTo>
                  <a:lnTo>
                    <a:pt x="2648712" y="171282"/>
                  </a:lnTo>
                  <a:lnTo>
                    <a:pt x="497838" y="171282"/>
                  </a:lnTo>
                  <a:lnTo>
                    <a:pt x="445091" y="175578"/>
                  </a:lnTo>
                  <a:lnTo>
                    <a:pt x="394975" y="188009"/>
                  </a:lnTo>
                  <a:lnTo>
                    <a:pt x="348175" y="207892"/>
                  </a:lnTo>
                  <a:lnTo>
                    <a:pt x="305376" y="234541"/>
                  </a:lnTo>
                  <a:lnTo>
                    <a:pt x="267262" y="267271"/>
                  </a:lnTo>
                  <a:lnTo>
                    <a:pt x="234531" y="305385"/>
                  </a:lnTo>
                  <a:lnTo>
                    <a:pt x="207882" y="348185"/>
                  </a:lnTo>
                  <a:lnTo>
                    <a:pt x="188000" y="394985"/>
                  </a:lnTo>
                  <a:lnTo>
                    <a:pt x="175568" y="445101"/>
                  </a:lnTo>
                  <a:lnTo>
                    <a:pt x="171272" y="497848"/>
                  </a:lnTo>
                  <a:lnTo>
                    <a:pt x="175568" y="550595"/>
                  </a:lnTo>
                  <a:lnTo>
                    <a:pt x="188000" y="600708"/>
                  </a:lnTo>
                  <a:lnTo>
                    <a:pt x="207882" y="647499"/>
                  </a:lnTo>
                  <a:lnTo>
                    <a:pt x="234531" y="690282"/>
                  </a:lnTo>
                  <a:lnTo>
                    <a:pt x="267262" y="728368"/>
                  </a:lnTo>
                  <a:lnTo>
                    <a:pt x="305376" y="761099"/>
                  </a:lnTo>
                  <a:lnTo>
                    <a:pt x="348175" y="787748"/>
                  </a:lnTo>
                  <a:lnTo>
                    <a:pt x="394975" y="807630"/>
                  </a:lnTo>
                  <a:lnTo>
                    <a:pt x="445091" y="820062"/>
                  </a:lnTo>
                  <a:lnTo>
                    <a:pt x="497838" y="824358"/>
                  </a:lnTo>
                  <a:lnTo>
                    <a:pt x="2648712" y="824358"/>
                  </a:lnTo>
                  <a:lnTo>
                    <a:pt x="2648712" y="995351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265615" y="8403443"/>
              <a:ext cx="2022475" cy="993775"/>
            </a:xfrm>
            <a:custGeom>
              <a:avLst/>
              <a:gdLst/>
              <a:ahLst/>
              <a:cxnLst/>
              <a:rect l="l" t="t" r="r" b="b"/>
              <a:pathLst>
                <a:path w="2022475" h="993775">
                  <a:moveTo>
                    <a:pt x="2022383" y="993626"/>
                  </a:moveTo>
                  <a:lnTo>
                    <a:pt x="497848" y="993626"/>
                  </a:lnTo>
                  <a:lnTo>
                    <a:pt x="447106" y="991044"/>
                  </a:lnTo>
                  <a:lnTo>
                    <a:pt x="397792" y="983468"/>
                  </a:lnTo>
                  <a:lnTo>
                    <a:pt x="350162" y="971154"/>
                  </a:lnTo>
                  <a:lnTo>
                    <a:pt x="304470" y="954358"/>
                  </a:lnTo>
                  <a:lnTo>
                    <a:pt x="260970" y="933335"/>
                  </a:lnTo>
                  <a:lnTo>
                    <a:pt x="219916" y="908340"/>
                  </a:lnTo>
                  <a:lnTo>
                    <a:pt x="181563" y="879630"/>
                  </a:lnTo>
                  <a:lnTo>
                    <a:pt x="146166" y="847460"/>
                  </a:lnTo>
                  <a:lnTo>
                    <a:pt x="113996" y="812063"/>
                  </a:lnTo>
                  <a:lnTo>
                    <a:pt x="85286" y="773710"/>
                  </a:lnTo>
                  <a:lnTo>
                    <a:pt x="60291" y="732656"/>
                  </a:lnTo>
                  <a:lnTo>
                    <a:pt x="39268" y="689156"/>
                  </a:lnTo>
                  <a:lnTo>
                    <a:pt x="22472" y="643464"/>
                  </a:lnTo>
                  <a:lnTo>
                    <a:pt x="10157" y="595834"/>
                  </a:lnTo>
                  <a:lnTo>
                    <a:pt x="2582" y="546520"/>
                  </a:lnTo>
                  <a:lnTo>
                    <a:pt x="0" y="495778"/>
                  </a:lnTo>
                  <a:lnTo>
                    <a:pt x="2579" y="445036"/>
                  </a:lnTo>
                  <a:lnTo>
                    <a:pt x="10150" y="395723"/>
                  </a:lnTo>
                  <a:lnTo>
                    <a:pt x="22457" y="348096"/>
                  </a:lnTo>
                  <a:lnTo>
                    <a:pt x="39247" y="302407"/>
                  </a:lnTo>
                  <a:lnTo>
                    <a:pt x="60267" y="258914"/>
                  </a:lnTo>
                  <a:lnTo>
                    <a:pt x="85262" y="217870"/>
                  </a:lnTo>
                  <a:lnTo>
                    <a:pt x="113980" y="179531"/>
                  </a:lnTo>
                  <a:lnTo>
                    <a:pt x="146166" y="144152"/>
                  </a:lnTo>
                  <a:lnTo>
                    <a:pt x="181545" y="111982"/>
                  </a:lnTo>
                  <a:lnTo>
                    <a:pt x="219885" y="83272"/>
                  </a:lnTo>
                  <a:lnTo>
                    <a:pt x="260931" y="58278"/>
                  </a:lnTo>
                  <a:lnTo>
                    <a:pt x="304428" y="37254"/>
                  </a:lnTo>
                  <a:lnTo>
                    <a:pt x="350123" y="20458"/>
                  </a:lnTo>
                  <a:lnTo>
                    <a:pt x="397761" y="8144"/>
                  </a:lnTo>
                  <a:lnTo>
                    <a:pt x="447087" y="568"/>
                  </a:lnTo>
                  <a:lnTo>
                    <a:pt x="458262" y="0"/>
                  </a:lnTo>
                  <a:lnTo>
                    <a:pt x="2022383" y="0"/>
                  </a:lnTo>
                  <a:lnTo>
                    <a:pt x="2022383" y="169268"/>
                  </a:lnTo>
                  <a:lnTo>
                    <a:pt x="497848" y="169268"/>
                  </a:lnTo>
                  <a:lnTo>
                    <a:pt x="445101" y="173564"/>
                  </a:lnTo>
                  <a:lnTo>
                    <a:pt x="394985" y="185996"/>
                  </a:lnTo>
                  <a:lnTo>
                    <a:pt x="348185" y="205878"/>
                  </a:lnTo>
                  <a:lnTo>
                    <a:pt x="305385" y="232527"/>
                  </a:lnTo>
                  <a:lnTo>
                    <a:pt x="267271" y="265258"/>
                  </a:lnTo>
                  <a:lnTo>
                    <a:pt x="234541" y="303371"/>
                  </a:lnTo>
                  <a:lnTo>
                    <a:pt x="207892" y="346167"/>
                  </a:lnTo>
                  <a:lnTo>
                    <a:pt x="188009" y="392959"/>
                  </a:lnTo>
                  <a:lnTo>
                    <a:pt x="175578" y="443058"/>
                  </a:lnTo>
                  <a:lnTo>
                    <a:pt x="171282" y="495778"/>
                  </a:lnTo>
                  <a:lnTo>
                    <a:pt x="175578" y="548526"/>
                  </a:lnTo>
                  <a:lnTo>
                    <a:pt x="188009" y="598642"/>
                  </a:lnTo>
                  <a:lnTo>
                    <a:pt x="207892" y="645442"/>
                  </a:lnTo>
                  <a:lnTo>
                    <a:pt x="234541" y="688241"/>
                  </a:lnTo>
                  <a:lnTo>
                    <a:pt x="267271" y="726355"/>
                  </a:lnTo>
                  <a:lnTo>
                    <a:pt x="305385" y="759085"/>
                  </a:lnTo>
                  <a:lnTo>
                    <a:pt x="348185" y="785734"/>
                  </a:lnTo>
                  <a:lnTo>
                    <a:pt x="394985" y="805617"/>
                  </a:lnTo>
                  <a:lnTo>
                    <a:pt x="445101" y="818048"/>
                  </a:lnTo>
                  <a:lnTo>
                    <a:pt x="497848" y="822344"/>
                  </a:lnTo>
                  <a:lnTo>
                    <a:pt x="2022383" y="822344"/>
                  </a:lnTo>
                  <a:lnTo>
                    <a:pt x="2022383" y="993626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3850024" y="0"/>
            <a:ext cx="2150110" cy="1017269"/>
          </a:xfrm>
          <a:custGeom>
            <a:avLst/>
            <a:gdLst/>
            <a:ahLst/>
            <a:cxnLst/>
            <a:rect l="l" t="t" r="r" b="b"/>
            <a:pathLst>
              <a:path w="2150109" h="1017269">
                <a:moveTo>
                  <a:pt x="1074987" y="1016781"/>
                </a:moveTo>
                <a:lnTo>
                  <a:pt x="1027021" y="1015732"/>
                </a:lnTo>
                <a:lnTo>
                  <a:pt x="979592" y="1012613"/>
                </a:lnTo>
                <a:lnTo>
                  <a:pt x="932744" y="1007469"/>
                </a:lnTo>
                <a:lnTo>
                  <a:pt x="886521" y="1000344"/>
                </a:lnTo>
                <a:lnTo>
                  <a:pt x="840966" y="991280"/>
                </a:lnTo>
                <a:lnTo>
                  <a:pt x="796124" y="980323"/>
                </a:lnTo>
                <a:lnTo>
                  <a:pt x="752038" y="967515"/>
                </a:lnTo>
                <a:lnTo>
                  <a:pt x="708752" y="952900"/>
                </a:lnTo>
                <a:lnTo>
                  <a:pt x="666310" y="936523"/>
                </a:lnTo>
                <a:lnTo>
                  <a:pt x="624754" y="918426"/>
                </a:lnTo>
                <a:lnTo>
                  <a:pt x="584131" y="898654"/>
                </a:lnTo>
                <a:lnTo>
                  <a:pt x="544482" y="877251"/>
                </a:lnTo>
                <a:lnTo>
                  <a:pt x="505852" y="854260"/>
                </a:lnTo>
                <a:lnTo>
                  <a:pt x="468284" y="829725"/>
                </a:lnTo>
                <a:lnTo>
                  <a:pt x="431823" y="803690"/>
                </a:lnTo>
                <a:lnTo>
                  <a:pt x="396512" y="776198"/>
                </a:lnTo>
                <a:lnTo>
                  <a:pt x="362394" y="747294"/>
                </a:lnTo>
                <a:lnTo>
                  <a:pt x="329515" y="717020"/>
                </a:lnTo>
                <a:lnTo>
                  <a:pt x="297916" y="685422"/>
                </a:lnTo>
                <a:lnTo>
                  <a:pt x="267643" y="652542"/>
                </a:lnTo>
                <a:lnTo>
                  <a:pt x="238738" y="618425"/>
                </a:lnTo>
                <a:lnTo>
                  <a:pt x="211247" y="583114"/>
                </a:lnTo>
                <a:lnTo>
                  <a:pt x="185212" y="546652"/>
                </a:lnTo>
                <a:lnTo>
                  <a:pt x="160676" y="509085"/>
                </a:lnTo>
                <a:lnTo>
                  <a:pt x="137685" y="470455"/>
                </a:lnTo>
                <a:lnTo>
                  <a:pt x="116282" y="430806"/>
                </a:lnTo>
                <a:lnTo>
                  <a:pt x="96510" y="390182"/>
                </a:lnTo>
                <a:lnTo>
                  <a:pt x="78414" y="348627"/>
                </a:lnTo>
                <a:lnTo>
                  <a:pt x="62036" y="306185"/>
                </a:lnTo>
                <a:lnTo>
                  <a:pt x="47422" y="262898"/>
                </a:lnTo>
                <a:lnTo>
                  <a:pt x="34614" y="218812"/>
                </a:lnTo>
                <a:lnTo>
                  <a:pt x="23656" y="173970"/>
                </a:lnTo>
                <a:lnTo>
                  <a:pt x="14593" y="128416"/>
                </a:lnTo>
                <a:lnTo>
                  <a:pt x="7467" y="82193"/>
                </a:lnTo>
                <a:lnTo>
                  <a:pt x="2323" y="35345"/>
                </a:lnTo>
                <a:lnTo>
                  <a:pt x="0" y="0"/>
                </a:lnTo>
                <a:lnTo>
                  <a:pt x="2149975" y="0"/>
                </a:lnTo>
                <a:lnTo>
                  <a:pt x="2142507" y="82193"/>
                </a:lnTo>
                <a:lnTo>
                  <a:pt x="2135382" y="128416"/>
                </a:lnTo>
                <a:lnTo>
                  <a:pt x="2126318" y="173970"/>
                </a:lnTo>
                <a:lnTo>
                  <a:pt x="2115361" y="218812"/>
                </a:lnTo>
                <a:lnTo>
                  <a:pt x="2102553" y="262898"/>
                </a:lnTo>
                <a:lnTo>
                  <a:pt x="2087938" y="306185"/>
                </a:lnTo>
                <a:lnTo>
                  <a:pt x="2071561" y="348627"/>
                </a:lnTo>
                <a:lnTo>
                  <a:pt x="2053464" y="390182"/>
                </a:lnTo>
                <a:lnTo>
                  <a:pt x="2033692" y="430806"/>
                </a:lnTo>
                <a:lnTo>
                  <a:pt x="2012289" y="470455"/>
                </a:lnTo>
                <a:lnTo>
                  <a:pt x="1989298" y="509085"/>
                </a:lnTo>
                <a:lnTo>
                  <a:pt x="1964763" y="546652"/>
                </a:lnTo>
                <a:lnTo>
                  <a:pt x="1938728" y="583114"/>
                </a:lnTo>
                <a:lnTo>
                  <a:pt x="1911236" y="618425"/>
                </a:lnTo>
                <a:lnTo>
                  <a:pt x="1882332" y="652542"/>
                </a:lnTo>
                <a:lnTo>
                  <a:pt x="1852058" y="685422"/>
                </a:lnTo>
                <a:lnTo>
                  <a:pt x="1820460" y="717020"/>
                </a:lnTo>
                <a:lnTo>
                  <a:pt x="1787580" y="747294"/>
                </a:lnTo>
                <a:lnTo>
                  <a:pt x="1753463" y="776198"/>
                </a:lnTo>
                <a:lnTo>
                  <a:pt x="1718152" y="803690"/>
                </a:lnTo>
                <a:lnTo>
                  <a:pt x="1681690" y="829725"/>
                </a:lnTo>
                <a:lnTo>
                  <a:pt x="1644123" y="854260"/>
                </a:lnTo>
                <a:lnTo>
                  <a:pt x="1605493" y="877251"/>
                </a:lnTo>
                <a:lnTo>
                  <a:pt x="1565844" y="898654"/>
                </a:lnTo>
                <a:lnTo>
                  <a:pt x="1525220" y="918426"/>
                </a:lnTo>
                <a:lnTo>
                  <a:pt x="1483665" y="936523"/>
                </a:lnTo>
                <a:lnTo>
                  <a:pt x="1441223" y="952900"/>
                </a:lnTo>
                <a:lnTo>
                  <a:pt x="1397936" y="967515"/>
                </a:lnTo>
                <a:lnTo>
                  <a:pt x="1353850" y="980323"/>
                </a:lnTo>
                <a:lnTo>
                  <a:pt x="1309008" y="991280"/>
                </a:lnTo>
                <a:lnTo>
                  <a:pt x="1263454" y="1000344"/>
                </a:lnTo>
                <a:lnTo>
                  <a:pt x="1217230" y="1007469"/>
                </a:lnTo>
                <a:lnTo>
                  <a:pt x="1170383" y="1012613"/>
                </a:lnTo>
                <a:lnTo>
                  <a:pt x="1122954" y="1015732"/>
                </a:lnTo>
                <a:lnTo>
                  <a:pt x="1074987" y="1016781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767843" y="2691768"/>
            <a:ext cx="8989695" cy="4514850"/>
            <a:chOff x="767843" y="2691768"/>
            <a:chExt cx="8989695" cy="4514850"/>
          </a:xfrm>
        </p:grpSpPr>
        <p:sp>
          <p:nvSpPr>
            <p:cNvPr id="8" name="object 8"/>
            <p:cNvSpPr/>
            <p:nvPr/>
          </p:nvSpPr>
          <p:spPr>
            <a:xfrm>
              <a:off x="767843" y="6084610"/>
              <a:ext cx="521970" cy="521970"/>
            </a:xfrm>
            <a:custGeom>
              <a:avLst/>
              <a:gdLst/>
              <a:ahLst/>
              <a:cxnLst/>
              <a:rect l="l" t="t" r="r" b="b"/>
              <a:pathLst>
                <a:path w="521969" h="521970">
                  <a:moveTo>
                    <a:pt x="260856" y="521713"/>
                  </a:moveTo>
                  <a:lnTo>
                    <a:pt x="213967" y="517510"/>
                  </a:lnTo>
                  <a:lnTo>
                    <a:pt x="169835" y="505393"/>
                  </a:lnTo>
                  <a:lnTo>
                    <a:pt x="129197" y="486098"/>
                  </a:lnTo>
                  <a:lnTo>
                    <a:pt x="92790" y="460363"/>
                  </a:lnTo>
                  <a:lnTo>
                    <a:pt x="61350" y="428923"/>
                  </a:lnTo>
                  <a:lnTo>
                    <a:pt x="35614" y="392516"/>
                  </a:lnTo>
                  <a:lnTo>
                    <a:pt x="16319" y="351878"/>
                  </a:lnTo>
                  <a:lnTo>
                    <a:pt x="4202" y="307746"/>
                  </a:lnTo>
                  <a:lnTo>
                    <a:pt x="0" y="260856"/>
                  </a:lnTo>
                  <a:lnTo>
                    <a:pt x="4202" y="213967"/>
                  </a:lnTo>
                  <a:lnTo>
                    <a:pt x="16319" y="169835"/>
                  </a:lnTo>
                  <a:lnTo>
                    <a:pt x="35614" y="129197"/>
                  </a:lnTo>
                  <a:lnTo>
                    <a:pt x="61350" y="92790"/>
                  </a:lnTo>
                  <a:lnTo>
                    <a:pt x="92790" y="61350"/>
                  </a:lnTo>
                  <a:lnTo>
                    <a:pt x="129197" y="35614"/>
                  </a:lnTo>
                  <a:lnTo>
                    <a:pt x="169835" y="16319"/>
                  </a:lnTo>
                  <a:lnTo>
                    <a:pt x="213967" y="4202"/>
                  </a:lnTo>
                  <a:lnTo>
                    <a:pt x="260856" y="0"/>
                  </a:lnTo>
                  <a:lnTo>
                    <a:pt x="307746" y="4202"/>
                  </a:lnTo>
                  <a:lnTo>
                    <a:pt x="351878" y="16319"/>
                  </a:lnTo>
                  <a:lnTo>
                    <a:pt x="392516" y="35614"/>
                  </a:lnTo>
                  <a:lnTo>
                    <a:pt x="428923" y="61350"/>
                  </a:lnTo>
                  <a:lnTo>
                    <a:pt x="460363" y="92790"/>
                  </a:lnTo>
                  <a:lnTo>
                    <a:pt x="486098" y="129197"/>
                  </a:lnTo>
                  <a:lnTo>
                    <a:pt x="505393" y="169835"/>
                  </a:lnTo>
                  <a:lnTo>
                    <a:pt x="517510" y="213967"/>
                  </a:lnTo>
                  <a:lnTo>
                    <a:pt x="521713" y="260856"/>
                  </a:lnTo>
                  <a:lnTo>
                    <a:pt x="517510" y="307746"/>
                  </a:lnTo>
                  <a:lnTo>
                    <a:pt x="505393" y="351878"/>
                  </a:lnTo>
                  <a:lnTo>
                    <a:pt x="486098" y="392516"/>
                  </a:lnTo>
                  <a:lnTo>
                    <a:pt x="460363" y="428923"/>
                  </a:lnTo>
                  <a:lnTo>
                    <a:pt x="428923" y="460363"/>
                  </a:lnTo>
                  <a:lnTo>
                    <a:pt x="392516" y="486098"/>
                  </a:lnTo>
                  <a:lnTo>
                    <a:pt x="351878" y="505393"/>
                  </a:lnTo>
                  <a:lnTo>
                    <a:pt x="307746" y="517510"/>
                  </a:lnTo>
                  <a:lnTo>
                    <a:pt x="260856" y="521713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9556" y="2691768"/>
              <a:ext cx="8467724" cy="4514849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1361" y="3565705"/>
            <a:ext cx="114300" cy="1142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1361" y="4089580"/>
            <a:ext cx="114300" cy="1142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1361" y="4613455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61361" y="5137330"/>
            <a:ext cx="114300" cy="1142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705761" y="2751743"/>
            <a:ext cx="4572635" cy="264477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FY2026</a:t>
            </a:r>
            <a:endParaRPr sz="2950">
              <a:latin typeface="Tahoma"/>
              <a:cs typeface="Tahoma"/>
            </a:endParaRPr>
          </a:p>
          <a:p>
            <a:pPr marL="650240" marR="5080">
              <a:lnSpc>
                <a:spcPct val="116500"/>
              </a:lnSpc>
            </a:pP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Loans: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₹29,37,166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Deposits:</a:t>
            </a:r>
            <a:r>
              <a:rPr dirty="0" sz="2950" spc="-2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₹31,05,300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Loan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5">
                <a:solidFill>
                  <a:srgbClr val="282828"/>
                </a:solidFill>
                <a:latin typeface="Tahoma"/>
                <a:cs typeface="Tahoma"/>
              </a:rPr>
              <a:t>Growth: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11%</a:t>
            </a:r>
            <a:endParaRPr sz="2950">
              <a:latin typeface="Tahoma"/>
              <a:cs typeface="Tahoma"/>
            </a:endParaRPr>
          </a:p>
          <a:p>
            <a:pPr marL="650240">
              <a:lnSpc>
                <a:spcPct val="100000"/>
              </a:lnSpc>
              <a:spcBef>
                <a:spcPts val="585"/>
              </a:spcBef>
            </a:pP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Deposit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5">
                <a:solidFill>
                  <a:srgbClr val="282828"/>
                </a:solidFill>
                <a:latin typeface="Tahoma"/>
                <a:cs typeface="Tahoma"/>
              </a:rPr>
              <a:t>Growth:</a:t>
            </a:r>
            <a:r>
              <a:rPr dirty="0" sz="295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14%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4556" y="8005178"/>
            <a:ext cx="16243935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30595" marR="5080" indent="-6018530">
              <a:lnSpc>
                <a:spcPct val="116500"/>
              </a:lnSpc>
              <a:spcBef>
                <a:spcPts val="100"/>
              </a:spcBef>
            </a:pPr>
            <a:r>
              <a:rPr dirty="0" sz="2950" spc="-100">
                <a:solidFill>
                  <a:srgbClr val="282828"/>
                </a:solidFill>
                <a:latin typeface="Tahoma"/>
                <a:cs typeface="Tahoma"/>
              </a:rPr>
              <a:t>Key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25">
                <a:solidFill>
                  <a:srgbClr val="282828"/>
                </a:solidFill>
                <a:latin typeface="Tahoma"/>
                <a:cs typeface="Tahoma"/>
              </a:rPr>
              <a:t>Takeaway: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Deposits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continue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to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10">
                <a:solidFill>
                  <a:srgbClr val="282828"/>
                </a:solidFill>
                <a:latin typeface="Tahoma"/>
                <a:cs typeface="Tahoma"/>
              </a:rPr>
              <a:t>grow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faster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than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loans,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0">
                <a:solidFill>
                  <a:srgbClr val="282828"/>
                </a:solidFill>
                <a:latin typeface="Tahoma"/>
                <a:cs typeface="Tahoma"/>
              </a:rPr>
              <a:t>supporting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a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healthy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0">
                <a:solidFill>
                  <a:srgbClr val="282828"/>
                </a:solidFill>
                <a:latin typeface="Tahoma"/>
                <a:cs typeface="Tahoma"/>
              </a:rPr>
              <a:t>funding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position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and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balance-sheet</a:t>
            </a:r>
            <a:r>
              <a:rPr dirty="0" sz="2950" spc="-1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expansion.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6626" y="8108487"/>
            <a:ext cx="12421235" cy="11303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92480" marR="5080" indent="-780415">
              <a:lnSpc>
                <a:spcPct val="115100"/>
              </a:lnSpc>
              <a:spcBef>
                <a:spcPts val="95"/>
              </a:spcBef>
            </a:pPr>
            <a:r>
              <a:rPr dirty="0" sz="3150" spc="-95">
                <a:solidFill>
                  <a:srgbClr val="282828"/>
                </a:solidFill>
                <a:latin typeface="Tahoma"/>
                <a:cs typeface="Tahoma"/>
              </a:rPr>
              <a:t>Key</a:t>
            </a:r>
            <a:r>
              <a:rPr dirty="0" sz="31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100">
                <a:solidFill>
                  <a:srgbClr val="282828"/>
                </a:solidFill>
                <a:latin typeface="Tahoma"/>
                <a:cs typeface="Tahoma"/>
              </a:rPr>
              <a:t>Takeaway:</a:t>
            </a:r>
            <a:r>
              <a:rPr dirty="0" sz="31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210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31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>
                <a:solidFill>
                  <a:srgbClr val="282828"/>
                </a:solidFill>
                <a:latin typeface="Tahoma"/>
                <a:cs typeface="Tahoma"/>
              </a:rPr>
              <a:t>has</a:t>
            </a:r>
            <a:r>
              <a:rPr dirty="0" sz="31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35">
                <a:solidFill>
                  <a:srgbClr val="282828"/>
                </a:solidFill>
                <a:latin typeface="Tahoma"/>
                <a:cs typeface="Tahoma"/>
              </a:rPr>
              <a:t>expanded</a:t>
            </a:r>
            <a:r>
              <a:rPr dirty="0" sz="31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50">
                <a:solidFill>
                  <a:srgbClr val="282828"/>
                </a:solidFill>
                <a:latin typeface="Tahoma"/>
                <a:cs typeface="Tahoma"/>
              </a:rPr>
              <a:t>strongly</a:t>
            </a:r>
            <a:r>
              <a:rPr dirty="0" sz="31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75">
                <a:solidFill>
                  <a:srgbClr val="282828"/>
                </a:solidFill>
                <a:latin typeface="Tahoma"/>
                <a:cs typeface="Tahoma"/>
              </a:rPr>
              <a:t>over</a:t>
            </a:r>
            <a:r>
              <a:rPr dirty="0" sz="31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40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31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70">
                <a:solidFill>
                  <a:srgbClr val="282828"/>
                </a:solidFill>
                <a:latin typeface="Tahoma"/>
                <a:cs typeface="Tahoma"/>
              </a:rPr>
              <a:t>five-</a:t>
            </a:r>
            <a:r>
              <a:rPr dirty="0" sz="3150" spc="-75">
                <a:solidFill>
                  <a:srgbClr val="282828"/>
                </a:solidFill>
                <a:latin typeface="Tahoma"/>
                <a:cs typeface="Tahoma"/>
              </a:rPr>
              <a:t>year</a:t>
            </a:r>
            <a:r>
              <a:rPr dirty="0" sz="31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25">
                <a:solidFill>
                  <a:srgbClr val="282828"/>
                </a:solidFill>
                <a:latin typeface="Tahoma"/>
                <a:cs typeface="Tahoma"/>
              </a:rPr>
              <a:t>period,</a:t>
            </a:r>
            <a:r>
              <a:rPr dirty="0" sz="31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10">
                <a:solidFill>
                  <a:srgbClr val="282828"/>
                </a:solidFill>
                <a:latin typeface="Tahoma"/>
                <a:cs typeface="Tahoma"/>
              </a:rPr>
              <a:t>while </a:t>
            </a:r>
            <a:r>
              <a:rPr dirty="0" sz="3150" spc="-20">
                <a:solidFill>
                  <a:srgbClr val="282828"/>
                </a:solidFill>
                <a:latin typeface="Tahoma"/>
                <a:cs typeface="Tahoma"/>
              </a:rPr>
              <a:t>profitability</a:t>
            </a:r>
            <a:r>
              <a:rPr dirty="0" sz="31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>
                <a:solidFill>
                  <a:srgbClr val="282828"/>
                </a:solidFill>
                <a:latin typeface="Tahoma"/>
                <a:cs typeface="Tahoma"/>
              </a:rPr>
              <a:t>remains</a:t>
            </a:r>
            <a:r>
              <a:rPr dirty="0" sz="31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10">
                <a:solidFill>
                  <a:srgbClr val="282828"/>
                </a:solidFill>
                <a:latin typeface="Tahoma"/>
                <a:cs typeface="Tahoma"/>
              </a:rPr>
              <a:t>supported</a:t>
            </a:r>
            <a:r>
              <a:rPr dirty="0" sz="31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80">
                <a:solidFill>
                  <a:srgbClr val="282828"/>
                </a:solidFill>
                <a:latin typeface="Tahoma"/>
                <a:cs typeface="Tahoma"/>
              </a:rPr>
              <a:t>by</a:t>
            </a:r>
            <a:r>
              <a:rPr dirty="0" sz="31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35">
                <a:solidFill>
                  <a:srgbClr val="282828"/>
                </a:solidFill>
                <a:latin typeface="Tahoma"/>
                <a:cs typeface="Tahoma"/>
              </a:rPr>
              <a:t>healthy</a:t>
            </a:r>
            <a:r>
              <a:rPr dirty="0" sz="31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35">
                <a:solidFill>
                  <a:srgbClr val="282828"/>
                </a:solidFill>
                <a:latin typeface="Tahoma"/>
                <a:cs typeface="Tahoma"/>
              </a:rPr>
              <a:t>margins</a:t>
            </a:r>
            <a:r>
              <a:rPr dirty="0" sz="31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10">
                <a:solidFill>
                  <a:srgbClr val="282828"/>
                </a:solidFill>
                <a:latin typeface="Tahoma"/>
                <a:cs typeface="Tahoma"/>
              </a:rPr>
              <a:t>and</a:t>
            </a:r>
            <a:r>
              <a:rPr dirty="0" sz="31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150" spc="-10">
                <a:solidFill>
                  <a:srgbClr val="282828"/>
                </a:solidFill>
                <a:latin typeface="Tahoma"/>
                <a:cs typeface="Tahoma"/>
              </a:rPr>
              <a:t>returns.</a:t>
            </a:r>
            <a:endParaRPr sz="31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8229600"/>
            <a:ext cx="3086100" cy="2057400"/>
            <a:chOff x="0" y="8229600"/>
            <a:chExt cx="3086100" cy="2057400"/>
          </a:xfrm>
        </p:grpSpPr>
        <p:sp>
          <p:nvSpPr>
            <p:cNvPr id="4" name="object 4"/>
            <p:cNvSpPr/>
            <p:nvPr/>
          </p:nvSpPr>
          <p:spPr>
            <a:xfrm>
              <a:off x="0" y="9882037"/>
              <a:ext cx="3086100" cy="405130"/>
            </a:xfrm>
            <a:custGeom>
              <a:avLst/>
              <a:gdLst/>
              <a:ahLst/>
              <a:cxnLst/>
              <a:rect l="l" t="t" r="r" b="b"/>
              <a:pathLst>
                <a:path w="3086100" h="405129">
                  <a:moveTo>
                    <a:pt x="3086099" y="404962"/>
                  </a:moveTo>
                  <a:lnTo>
                    <a:pt x="2897635" y="404962"/>
                  </a:lnTo>
                  <a:lnTo>
                    <a:pt x="2893212" y="361505"/>
                  </a:lnTo>
                  <a:lnTo>
                    <a:pt x="2880536" y="320948"/>
                  </a:lnTo>
                  <a:lnTo>
                    <a:pt x="2860498" y="284175"/>
                  </a:lnTo>
                  <a:lnTo>
                    <a:pt x="2833989" y="252070"/>
                  </a:lnTo>
                  <a:lnTo>
                    <a:pt x="2801901" y="225561"/>
                  </a:lnTo>
                  <a:lnTo>
                    <a:pt x="2765131" y="205523"/>
                  </a:lnTo>
                  <a:lnTo>
                    <a:pt x="2724577" y="192848"/>
                  </a:lnTo>
                  <a:lnTo>
                    <a:pt x="2681137" y="188424"/>
                  </a:lnTo>
                  <a:lnTo>
                    <a:pt x="0" y="188424"/>
                  </a:lnTo>
                  <a:lnTo>
                    <a:pt x="0" y="0"/>
                  </a:lnTo>
                  <a:lnTo>
                    <a:pt x="2681137" y="0"/>
                  </a:lnTo>
                  <a:lnTo>
                    <a:pt x="2735925" y="3710"/>
                  </a:lnTo>
                  <a:lnTo>
                    <a:pt x="2788529" y="14514"/>
                  </a:lnTo>
                  <a:lnTo>
                    <a:pt x="2838455" y="31921"/>
                  </a:lnTo>
                  <a:lnTo>
                    <a:pt x="2885207" y="55439"/>
                  </a:lnTo>
                  <a:lnTo>
                    <a:pt x="2928291" y="84579"/>
                  </a:lnTo>
                  <a:lnTo>
                    <a:pt x="2967210" y="118850"/>
                  </a:lnTo>
                  <a:lnTo>
                    <a:pt x="3001483" y="157769"/>
                  </a:lnTo>
                  <a:lnTo>
                    <a:pt x="3030630" y="200853"/>
                  </a:lnTo>
                  <a:lnTo>
                    <a:pt x="3054159" y="247609"/>
                  </a:lnTo>
                  <a:lnTo>
                    <a:pt x="3071575" y="297542"/>
                  </a:lnTo>
                  <a:lnTo>
                    <a:pt x="3082386" y="350157"/>
                  </a:lnTo>
                  <a:lnTo>
                    <a:pt x="3086099" y="404962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23698" y="8229600"/>
              <a:ext cx="810260" cy="2057400"/>
            </a:xfrm>
            <a:custGeom>
              <a:avLst/>
              <a:gdLst/>
              <a:ahLst/>
              <a:cxnLst/>
              <a:rect l="l" t="t" r="r" b="b"/>
              <a:pathLst>
                <a:path w="810260" h="2057400">
                  <a:moveTo>
                    <a:pt x="188464" y="1665276"/>
                  </a:moveTo>
                  <a:lnTo>
                    <a:pt x="39" y="1665276"/>
                  </a:lnTo>
                  <a:lnTo>
                    <a:pt x="39" y="404962"/>
                  </a:lnTo>
                  <a:lnTo>
                    <a:pt x="3752" y="350160"/>
                  </a:lnTo>
                  <a:lnTo>
                    <a:pt x="14563" y="297552"/>
                  </a:lnTo>
                  <a:lnTo>
                    <a:pt x="31980" y="247629"/>
                  </a:lnTo>
                  <a:lnTo>
                    <a:pt x="55508" y="200882"/>
                  </a:lnTo>
                  <a:lnTo>
                    <a:pt x="84655" y="157805"/>
                  </a:lnTo>
                  <a:lnTo>
                    <a:pt x="118928" y="118889"/>
                  </a:lnTo>
                  <a:lnTo>
                    <a:pt x="157845" y="84616"/>
                  </a:lnTo>
                  <a:lnTo>
                    <a:pt x="200922" y="55468"/>
                  </a:lnTo>
                  <a:lnTo>
                    <a:pt x="247668" y="31940"/>
                  </a:lnTo>
                  <a:lnTo>
                    <a:pt x="297591" y="14524"/>
                  </a:lnTo>
                  <a:lnTo>
                    <a:pt x="350199" y="3713"/>
                  </a:lnTo>
                  <a:lnTo>
                    <a:pt x="405001" y="0"/>
                  </a:lnTo>
                  <a:lnTo>
                    <a:pt x="459803" y="3713"/>
                  </a:lnTo>
                  <a:lnTo>
                    <a:pt x="512413" y="14524"/>
                  </a:lnTo>
                  <a:lnTo>
                    <a:pt x="562339" y="31940"/>
                  </a:lnTo>
                  <a:lnTo>
                    <a:pt x="609092" y="55468"/>
                  </a:lnTo>
                  <a:lnTo>
                    <a:pt x="652180" y="84616"/>
                  </a:lnTo>
                  <a:lnTo>
                    <a:pt x="691113" y="118889"/>
                  </a:lnTo>
                  <a:lnTo>
                    <a:pt x="725370" y="157805"/>
                  </a:lnTo>
                  <a:lnTo>
                    <a:pt x="746080" y="188424"/>
                  </a:lnTo>
                  <a:lnTo>
                    <a:pt x="405001" y="188424"/>
                  </a:lnTo>
                  <a:lnTo>
                    <a:pt x="361561" y="192854"/>
                  </a:lnTo>
                  <a:lnTo>
                    <a:pt x="321007" y="205543"/>
                  </a:lnTo>
                  <a:lnTo>
                    <a:pt x="284237" y="225594"/>
                  </a:lnTo>
                  <a:lnTo>
                    <a:pt x="252149" y="252109"/>
                  </a:lnTo>
                  <a:lnTo>
                    <a:pt x="225634" y="284197"/>
                  </a:lnTo>
                  <a:lnTo>
                    <a:pt x="205582" y="320968"/>
                  </a:lnTo>
                  <a:lnTo>
                    <a:pt x="192893" y="361522"/>
                  </a:lnTo>
                  <a:lnTo>
                    <a:pt x="188464" y="404962"/>
                  </a:lnTo>
                  <a:lnTo>
                    <a:pt x="188464" y="1665276"/>
                  </a:lnTo>
                  <a:close/>
                </a:path>
                <a:path w="810260" h="2057400">
                  <a:moveTo>
                    <a:pt x="809963" y="2057399"/>
                  </a:moveTo>
                  <a:lnTo>
                    <a:pt x="621499" y="2057399"/>
                  </a:lnTo>
                  <a:lnTo>
                    <a:pt x="621499" y="404962"/>
                  </a:lnTo>
                  <a:lnTo>
                    <a:pt x="617070" y="361522"/>
                  </a:lnTo>
                  <a:lnTo>
                    <a:pt x="604380" y="320968"/>
                  </a:lnTo>
                  <a:lnTo>
                    <a:pt x="584329" y="284197"/>
                  </a:lnTo>
                  <a:lnTo>
                    <a:pt x="557814" y="252109"/>
                  </a:lnTo>
                  <a:lnTo>
                    <a:pt x="525732" y="225594"/>
                  </a:lnTo>
                  <a:lnTo>
                    <a:pt x="488976" y="205543"/>
                  </a:lnTo>
                  <a:lnTo>
                    <a:pt x="448435" y="192854"/>
                  </a:lnTo>
                  <a:lnTo>
                    <a:pt x="405001" y="188424"/>
                  </a:lnTo>
                  <a:lnTo>
                    <a:pt x="746080" y="188424"/>
                  </a:lnTo>
                  <a:lnTo>
                    <a:pt x="778027" y="247629"/>
                  </a:lnTo>
                  <a:lnTo>
                    <a:pt x="795440" y="297552"/>
                  </a:lnTo>
                  <a:lnTo>
                    <a:pt x="806250" y="350160"/>
                  </a:lnTo>
                  <a:lnTo>
                    <a:pt x="809963" y="404962"/>
                  </a:lnTo>
                  <a:lnTo>
                    <a:pt x="809963" y="2057399"/>
                  </a:lnTo>
                  <a:close/>
                </a:path>
                <a:path w="810260" h="2057400">
                  <a:moveTo>
                    <a:pt x="188464" y="2057399"/>
                  </a:moveTo>
                  <a:lnTo>
                    <a:pt x="0" y="2057399"/>
                  </a:lnTo>
                  <a:lnTo>
                    <a:pt x="0" y="1825549"/>
                  </a:lnTo>
                  <a:lnTo>
                    <a:pt x="188464" y="1825549"/>
                  </a:lnTo>
                  <a:lnTo>
                    <a:pt x="188464" y="2057399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480455" y="480455"/>
            <a:ext cx="1096645" cy="1096645"/>
          </a:xfrm>
          <a:custGeom>
            <a:avLst/>
            <a:gdLst/>
            <a:ahLst/>
            <a:cxnLst/>
            <a:rect l="l" t="t" r="r" b="b"/>
            <a:pathLst>
              <a:path w="1096645" h="1096645">
                <a:moveTo>
                  <a:pt x="548244" y="1096489"/>
                </a:moveTo>
                <a:lnTo>
                  <a:pt x="500940" y="1094477"/>
                </a:lnTo>
                <a:lnTo>
                  <a:pt x="454752" y="1088549"/>
                </a:lnTo>
                <a:lnTo>
                  <a:pt x="409847" y="1078871"/>
                </a:lnTo>
                <a:lnTo>
                  <a:pt x="366388" y="1065608"/>
                </a:lnTo>
                <a:lnTo>
                  <a:pt x="324541" y="1048922"/>
                </a:lnTo>
                <a:lnTo>
                  <a:pt x="284469" y="1028980"/>
                </a:lnTo>
                <a:lnTo>
                  <a:pt x="246337" y="1005946"/>
                </a:lnTo>
                <a:lnTo>
                  <a:pt x="210310" y="979984"/>
                </a:lnTo>
                <a:lnTo>
                  <a:pt x="176553" y="951259"/>
                </a:lnTo>
                <a:lnTo>
                  <a:pt x="145229" y="919936"/>
                </a:lnTo>
                <a:lnTo>
                  <a:pt x="116504" y="886178"/>
                </a:lnTo>
                <a:lnTo>
                  <a:pt x="90543" y="850151"/>
                </a:lnTo>
                <a:lnTo>
                  <a:pt x="67508" y="812020"/>
                </a:lnTo>
                <a:lnTo>
                  <a:pt x="47566" y="771948"/>
                </a:lnTo>
                <a:lnTo>
                  <a:pt x="30881" y="730100"/>
                </a:lnTo>
                <a:lnTo>
                  <a:pt x="17617" y="686642"/>
                </a:lnTo>
                <a:lnTo>
                  <a:pt x="7939" y="641736"/>
                </a:lnTo>
                <a:lnTo>
                  <a:pt x="2012" y="595549"/>
                </a:lnTo>
                <a:lnTo>
                  <a:pt x="0" y="548244"/>
                </a:lnTo>
                <a:lnTo>
                  <a:pt x="2012" y="500940"/>
                </a:lnTo>
                <a:lnTo>
                  <a:pt x="7939" y="454752"/>
                </a:lnTo>
                <a:lnTo>
                  <a:pt x="17617" y="409847"/>
                </a:lnTo>
                <a:lnTo>
                  <a:pt x="30881" y="366388"/>
                </a:lnTo>
                <a:lnTo>
                  <a:pt x="47566" y="324541"/>
                </a:lnTo>
                <a:lnTo>
                  <a:pt x="67508" y="284469"/>
                </a:lnTo>
                <a:lnTo>
                  <a:pt x="90543" y="246337"/>
                </a:lnTo>
                <a:lnTo>
                  <a:pt x="116504" y="210310"/>
                </a:lnTo>
                <a:lnTo>
                  <a:pt x="145229" y="176553"/>
                </a:lnTo>
                <a:lnTo>
                  <a:pt x="176553" y="145229"/>
                </a:lnTo>
                <a:lnTo>
                  <a:pt x="210310" y="116504"/>
                </a:lnTo>
                <a:lnTo>
                  <a:pt x="246337" y="90543"/>
                </a:lnTo>
                <a:lnTo>
                  <a:pt x="284469" y="67508"/>
                </a:lnTo>
                <a:lnTo>
                  <a:pt x="324541" y="47566"/>
                </a:lnTo>
                <a:lnTo>
                  <a:pt x="366388" y="30881"/>
                </a:lnTo>
                <a:lnTo>
                  <a:pt x="409847" y="17617"/>
                </a:lnTo>
                <a:lnTo>
                  <a:pt x="454752" y="7939"/>
                </a:lnTo>
                <a:lnTo>
                  <a:pt x="500940" y="2012"/>
                </a:lnTo>
                <a:lnTo>
                  <a:pt x="548244" y="0"/>
                </a:lnTo>
                <a:lnTo>
                  <a:pt x="595549" y="2012"/>
                </a:lnTo>
                <a:lnTo>
                  <a:pt x="641736" y="7939"/>
                </a:lnTo>
                <a:lnTo>
                  <a:pt x="686642" y="17617"/>
                </a:lnTo>
                <a:lnTo>
                  <a:pt x="730100" y="30881"/>
                </a:lnTo>
                <a:lnTo>
                  <a:pt x="771948" y="47566"/>
                </a:lnTo>
                <a:lnTo>
                  <a:pt x="812020" y="67508"/>
                </a:lnTo>
                <a:lnTo>
                  <a:pt x="850151" y="90543"/>
                </a:lnTo>
                <a:lnTo>
                  <a:pt x="886178" y="116504"/>
                </a:lnTo>
                <a:lnTo>
                  <a:pt x="919936" y="145229"/>
                </a:lnTo>
                <a:lnTo>
                  <a:pt x="951259" y="176553"/>
                </a:lnTo>
                <a:lnTo>
                  <a:pt x="979984" y="210310"/>
                </a:lnTo>
                <a:lnTo>
                  <a:pt x="1005946" y="246337"/>
                </a:lnTo>
                <a:lnTo>
                  <a:pt x="1028980" y="284469"/>
                </a:lnTo>
                <a:lnTo>
                  <a:pt x="1048922" y="324541"/>
                </a:lnTo>
                <a:lnTo>
                  <a:pt x="1065608" y="366388"/>
                </a:lnTo>
                <a:lnTo>
                  <a:pt x="1078871" y="409847"/>
                </a:lnTo>
                <a:lnTo>
                  <a:pt x="1088549" y="454752"/>
                </a:lnTo>
                <a:lnTo>
                  <a:pt x="1094477" y="500940"/>
                </a:lnTo>
                <a:lnTo>
                  <a:pt x="1096489" y="548244"/>
                </a:lnTo>
                <a:lnTo>
                  <a:pt x="1094477" y="595549"/>
                </a:lnTo>
                <a:lnTo>
                  <a:pt x="1088549" y="641736"/>
                </a:lnTo>
                <a:lnTo>
                  <a:pt x="1078871" y="686642"/>
                </a:lnTo>
                <a:lnTo>
                  <a:pt x="1065608" y="730100"/>
                </a:lnTo>
                <a:lnTo>
                  <a:pt x="1048922" y="771948"/>
                </a:lnTo>
                <a:lnTo>
                  <a:pt x="1028980" y="812020"/>
                </a:lnTo>
                <a:lnTo>
                  <a:pt x="1005946" y="850151"/>
                </a:lnTo>
                <a:lnTo>
                  <a:pt x="979984" y="886178"/>
                </a:lnTo>
                <a:lnTo>
                  <a:pt x="951259" y="919936"/>
                </a:lnTo>
                <a:lnTo>
                  <a:pt x="919936" y="951259"/>
                </a:lnTo>
                <a:lnTo>
                  <a:pt x="886178" y="979984"/>
                </a:lnTo>
                <a:lnTo>
                  <a:pt x="850151" y="1005946"/>
                </a:lnTo>
                <a:lnTo>
                  <a:pt x="812020" y="1028980"/>
                </a:lnTo>
                <a:lnTo>
                  <a:pt x="771948" y="1048922"/>
                </a:lnTo>
                <a:lnTo>
                  <a:pt x="730100" y="1065608"/>
                </a:lnTo>
                <a:lnTo>
                  <a:pt x="686642" y="1078871"/>
                </a:lnTo>
                <a:lnTo>
                  <a:pt x="641736" y="1088549"/>
                </a:lnTo>
                <a:lnTo>
                  <a:pt x="595549" y="1094477"/>
                </a:lnTo>
                <a:lnTo>
                  <a:pt x="548244" y="1096489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998444" y="899744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69" h="521970">
                <a:moveTo>
                  <a:pt x="260856" y="521713"/>
                </a:moveTo>
                <a:lnTo>
                  <a:pt x="213967" y="517510"/>
                </a:lnTo>
                <a:lnTo>
                  <a:pt x="169835" y="505393"/>
                </a:lnTo>
                <a:lnTo>
                  <a:pt x="129197" y="486098"/>
                </a:lnTo>
                <a:lnTo>
                  <a:pt x="92790" y="460363"/>
                </a:lnTo>
                <a:lnTo>
                  <a:pt x="61350" y="428923"/>
                </a:lnTo>
                <a:lnTo>
                  <a:pt x="35614" y="392516"/>
                </a:lnTo>
                <a:lnTo>
                  <a:pt x="16319" y="351878"/>
                </a:lnTo>
                <a:lnTo>
                  <a:pt x="4202" y="307746"/>
                </a:lnTo>
                <a:lnTo>
                  <a:pt x="0" y="260856"/>
                </a:lnTo>
                <a:lnTo>
                  <a:pt x="4202" y="213967"/>
                </a:lnTo>
                <a:lnTo>
                  <a:pt x="16319" y="169835"/>
                </a:lnTo>
                <a:lnTo>
                  <a:pt x="35614" y="129197"/>
                </a:lnTo>
                <a:lnTo>
                  <a:pt x="61350" y="92790"/>
                </a:lnTo>
                <a:lnTo>
                  <a:pt x="92790" y="61350"/>
                </a:lnTo>
                <a:lnTo>
                  <a:pt x="129197" y="35614"/>
                </a:lnTo>
                <a:lnTo>
                  <a:pt x="169835" y="16319"/>
                </a:lnTo>
                <a:lnTo>
                  <a:pt x="213967" y="4202"/>
                </a:lnTo>
                <a:lnTo>
                  <a:pt x="260856" y="0"/>
                </a:lnTo>
                <a:lnTo>
                  <a:pt x="307746" y="4202"/>
                </a:lnTo>
                <a:lnTo>
                  <a:pt x="351878" y="16319"/>
                </a:lnTo>
                <a:lnTo>
                  <a:pt x="392516" y="35614"/>
                </a:lnTo>
                <a:lnTo>
                  <a:pt x="428923" y="61350"/>
                </a:lnTo>
                <a:lnTo>
                  <a:pt x="460363" y="92790"/>
                </a:lnTo>
                <a:lnTo>
                  <a:pt x="486098" y="129197"/>
                </a:lnTo>
                <a:lnTo>
                  <a:pt x="505393" y="169835"/>
                </a:lnTo>
                <a:lnTo>
                  <a:pt x="517510" y="213967"/>
                </a:lnTo>
                <a:lnTo>
                  <a:pt x="521713" y="260856"/>
                </a:lnTo>
                <a:lnTo>
                  <a:pt x="517510" y="307746"/>
                </a:lnTo>
                <a:lnTo>
                  <a:pt x="505393" y="351878"/>
                </a:lnTo>
                <a:lnTo>
                  <a:pt x="486098" y="392516"/>
                </a:lnTo>
                <a:lnTo>
                  <a:pt x="460363" y="428923"/>
                </a:lnTo>
                <a:lnTo>
                  <a:pt x="428923" y="460363"/>
                </a:lnTo>
                <a:lnTo>
                  <a:pt x="392516" y="486098"/>
                </a:lnTo>
                <a:lnTo>
                  <a:pt x="351878" y="505393"/>
                </a:lnTo>
                <a:lnTo>
                  <a:pt x="307746" y="517510"/>
                </a:lnTo>
                <a:lnTo>
                  <a:pt x="260856" y="521713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9920745" y="279133"/>
            <a:ext cx="8367395" cy="7134859"/>
            <a:chOff x="9920745" y="279133"/>
            <a:chExt cx="8367395" cy="7134859"/>
          </a:xfrm>
        </p:grpSpPr>
        <p:sp>
          <p:nvSpPr>
            <p:cNvPr id="9" name="object 9"/>
            <p:cNvSpPr/>
            <p:nvPr/>
          </p:nvSpPr>
          <p:spPr>
            <a:xfrm>
              <a:off x="16230598" y="1931571"/>
              <a:ext cx="2057400" cy="810260"/>
            </a:xfrm>
            <a:custGeom>
              <a:avLst/>
              <a:gdLst/>
              <a:ahLst/>
              <a:cxnLst/>
              <a:rect l="l" t="t" r="r" b="b"/>
              <a:pathLst>
                <a:path w="2057400" h="810260">
                  <a:moveTo>
                    <a:pt x="2057399" y="809924"/>
                  </a:moveTo>
                  <a:lnTo>
                    <a:pt x="404962" y="809924"/>
                  </a:lnTo>
                  <a:lnTo>
                    <a:pt x="350160" y="806211"/>
                  </a:lnTo>
                  <a:lnTo>
                    <a:pt x="297552" y="795399"/>
                  </a:lnTo>
                  <a:lnTo>
                    <a:pt x="247629" y="777983"/>
                  </a:lnTo>
                  <a:lnTo>
                    <a:pt x="200882" y="754455"/>
                  </a:lnTo>
                  <a:lnTo>
                    <a:pt x="157805" y="725308"/>
                  </a:lnTo>
                  <a:lnTo>
                    <a:pt x="118889" y="691034"/>
                  </a:lnTo>
                  <a:lnTo>
                    <a:pt x="84616" y="652118"/>
                  </a:lnTo>
                  <a:lnTo>
                    <a:pt x="55468" y="609041"/>
                  </a:lnTo>
                  <a:lnTo>
                    <a:pt x="31940" y="562295"/>
                  </a:lnTo>
                  <a:lnTo>
                    <a:pt x="14524" y="512372"/>
                  </a:lnTo>
                  <a:lnTo>
                    <a:pt x="3713" y="459763"/>
                  </a:lnTo>
                  <a:lnTo>
                    <a:pt x="0" y="404962"/>
                  </a:lnTo>
                  <a:lnTo>
                    <a:pt x="3713" y="350157"/>
                  </a:lnTo>
                  <a:lnTo>
                    <a:pt x="14524" y="297542"/>
                  </a:lnTo>
                  <a:lnTo>
                    <a:pt x="31940" y="247609"/>
                  </a:lnTo>
                  <a:lnTo>
                    <a:pt x="55468" y="200853"/>
                  </a:lnTo>
                  <a:lnTo>
                    <a:pt x="84616" y="157769"/>
                  </a:lnTo>
                  <a:lnTo>
                    <a:pt x="118889" y="118850"/>
                  </a:lnTo>
                  <a:lnTo>
                    <a:pt x="157805" y="84579"/>
                  </a:lnTo>
                  <a:lnTo>
                    <a:pt x="200882" y="55439"/>
                  </a:lnTo>
                  <a:lnTo>
                    <a:pt x="247629" y="31921"/>
                  </a:lnTo>
                  <a:lnTo>
                    <a:pt x="297552" y="14514"/>
                  </a:lnTo>
                  <a:lnTo>
                    <a:pt x="350160" y="3710"/>
                  </a:lnTo>
                  <a:lnTo>
                    <a:pt x="404962" y="0"/>
                  </a:lnTo>
                  <a:lnTo>
                    <a:pt x="2057399" y="0"/>
                  </a:lnTo>
                  <a:lnTo>
                    <a:pt x="2057399" y="188424"/>
                  </a:lnTo>
                  <a:lnTo>
                    <a:pt x="404962" y="188424"/>
                  </a:lnTo>
                  <a:lnTo>
                    <a:pt x="361522" y="192848"/>
                  </a:lnTo>
                  <a:lnTo>
                    <a:pt x="320968" y="205523"/>
                  </a:lnTo>
                  <a:lnTo>
                    <a:pt x="284197" y="225561"/>
                  </a:lnTo>
                  <a:lnTo>
                    <a:pt x="252109" y="252070"/>
                  </a:lnTo>
                  <a:lnTo>
                    <a:pt x="225601" y="284175"/>
                  </a:lnTo>
                  <a:lnTo>
                    <a:pt x="205563" y="320948"/>
                  </a:lnTo>
                  <a:lnTo>
                    <a:pt x="192887" y="361505"/>
                  </a:lnTo>
                  <a:lnTo>
                    <a:pt x="188464" y="404962"/>
                  </a:lnTo>
                  <a:lnTo>
                    <a:pt x="192887" y="448402"/>
                  </a:lnTo>
                  <a:lnTo>
                    <a:pt x="205563" y="488956"/>
                  </a:lnTo>
                  <a:lnTo>
                    <a:pt x="225601" y="525726"/>
                  </a:lnTo>
                  <a:lnTo>
                    <a:pt x="252109" y="557814"/>
                  </a:lnTo>
                  <a:lnTo>
                    <a:pt x="284197" y="584329"/>
                  </a:lnTo>
                  <a:lnTo>
                    <a:pt x="320968" y="604380"/>
                  </a:lnTo>
                  <a:lnTo>
                    <a:pt x="361522" y="617070"/>
                  </a:lnTo>
                  <a:lnTo>
                    <a:pt x="404962" y="621499"/>
                  </a:lnTo>
                  <a:lnTo>
                    <a:pt x="2057399" y="621499"/>
                  </a:lnTo>
                  <a:lnTo>
                    <a:pt x="2057399" y="809924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882996" y="279133"/>
              <a:ext cx="405130" cy="4114800"/>
            </a:xfrm>
            <a:custGeom>
              <a:avLst/>
              <a:gdLst/>
              <a:ahLst/>
              <a:cxnLst/>
              <a:rect l="l" t="t" r="r" b="b"/>
              <a:pathLst>
                <a:path w="405130" h="4114800">
                  <a:moveTo>
                    <a:pt x="188464" y="1665276"/>
                  </a:moveTo>
                  <a:lnTo>
                    <a:pt x="39" y="1665276"/>
                  </a:lnTo>
                  <a:lnTo>
                    <a:pt x="39" y="404962"/>
                  </a:lnTo>
                  <a:lnTo>
                    <a:pt x="3752" y="350160"/>
                  </a:lnTo>
                  <a:lnTo>
                    <a:pt x="14563" y="297552"/>
                  </a:lnTo>
                  <a:lnTo>
                    <a:pt x="31980" y="247629"/>
                  </a:lnTo>
                  <a:lnTo>
                    <a:pt x="55508" y="200882"/>
                  </a:lnTo>
                  <a:lnTo>
                    <a:pt x="84655" y="157805"/>
                  </a:lnTo>
                  <a:lnTo>
                    <a:pt x="118928" y="118889"/>
                  </a:lnTo>
                  <a:lnTo>
                    <a:pt x="157845" y="84616"/>
                  </a:lnTo>
                  <a:lnTo>
                    <a:pt x="200922" y="55468"/>
                  </a:lnTo>
                  <a:lnTo>
                    <a:pt x="247668" y="31940"/>
                  </a:lnTo>
                  <a:lnTo>
                    <a:pt x="297591" y="14524"/>
                  </a:lnTo>
                  <a:lnTo>
                    <a:pt x="350199" y="3713"/>
                  </a:lnTo>
                  <a:lnTo>
                    <a:pt x="405001" y="0"/>
                  </a:lnTo>
                  <a:lnTo>
                    <a:pt x="405001" y="188424"/>
                  </a:lnTo>
                  <a:lnTo>
                    <a:pt x="361561" y="192854"/>
                  </a:lnTo>
                  <a:lnTo>
                    <a:pt x="321007" y="205543"/>
                  </a:lnTo>
                  <a:lnTo>
                    <a:pt x="284237" y="225594"/>
                  </a:lnTo>
                  <a:lnTo>
                    <a:pt x="252149" y="252109"/>
                  </a:lnTo>
                  <a:lnTo>
                    <a:pt x="225634" y="284197"/>
                  </a:lnTo>
                  <a:lnTo>
                    <a:pt x="205582" y="320968"/>
                  </a:lnTo>
                  <a:lnTo>
                    <a:pt x="192893" y="361522"/>
                  </a:lnTo>
                  <a:lnTo>
                    <a:pt x="188464" y="404962"/>
                  </a:lnTo>
                  <a:lnTo>
                    <a:pt x="188464" y="1665276"/>
                  </a:lnTo>
                  <a:close/>
                </a:path>
                <a:path w="405130" h="4114800">
                  <a:moveTo>
                    <a:pt x="405001" y="4114799"/>
                  </a:moveTo>
                  <a:lnTo>
                    <a:pt x="350196" y="4111086"/>
                  </a:lnTo>
                  <a:lnTo>
                    <a:pt x="297581" y="4100275"/>
                  </a:lnTo>
                  <a:lnTo>
                    <a:pt x="247648" y="4082858"/>
                  </a:lnTo>
                  <a:lnTo>
                    <a:pt x="200893" y="4059330"/>
                  </a:lnTo>
                  <a:lnTo>
                    <a:pt x="157808" y="4030183"/>
                  </a:lnTo>
                  <a:lnTo>
                    <a:pt x="118889" y="3995910"/>
                  </a:lnTo>
                  <a:lnTo>
                    <a:pt x="84616" y="3956990"/>
                  </a:lnTo>
                  <a:lnTo>
                    <a:pt x="55468" y="3913907"/>
                  </a:lnTo>
                  <a:lnTo>
                    <a:pt x="31940" y="3867155"/>
                  </a:lnTo>
                  <a:lnTo>
                    <a:pt x="14524" y="3817229"/>
                  </a:lnTo>
                  <a:lnTo>
                    <a:pt x="3713" y="3764625"/>
                  </a:lnTo>
                  <a:lnTo>
                    <a:pt x="0" y="3709837"/>
                  </a:lnTo>
                  <a:lnTo>
                    <a:pt x="0" y="1825549"/>
                  </a:lnTo>
                  <a:lnTo>
                    <a:pt x="188464" y="1825549"/>
                  </a:lnTo>
                  <a:lnTo>
                    <a:pt x="188464" y="3709837"/>
                  </a:lnTo>
                  <a:lnTo>
                    <a:pt x="192893" y="3753277"/>
                  </a:lnTo>
                  <a:lnTo>
                    <a:pt x="205582" y="3793831"/>
                  </a:lnTo>
                  <a:lnTo>
                    <a:pt x="225634" y="3830601"/>
                  </a:lnTo>
                  <a:lnTo>
                    <a:pt x="252149" y="3862689"/>
                  </a:lnTo>
                  <a:lnTo>
                    <a:pt x="284237" y="3889198"/>
                  </a:lnTo>
                  <a:lnTo>
                    <a:pt x="321007" y="3909236"/>
                  </a:lnTo>
                  <a:lnTo>
                    <a:pt x="361561" y="3921912"/>
                  </a:lnTo>
                  <a:lnTo>
                    <a:pt x="405001" y="3926335"/>
                  </a:lnTo>
                  <a:lnTo>
                    <a:pt x="405001" y="4114799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0745" y="2841400"/>
              <a:ext cx="7077074" cy="4571999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528900" y="567282"/>
            <a:ext cx="7230109" cy="17970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474470" marR="5080" indent="-1462405">
              <a:lnSpc>
                <a:spcPct val="116300"/>
              </a:lnSpc>
              <a:spcBef>
                <a:spcPts val="95"/>
              </a:spcBef>
            </a:pPr>
            <a:r>
              <a:rPr dirty="0" spc="-350"/>
              <a:t>NET</a:t>
            </a:r>
            <a:r>
              <a:rPr dirty="0" spc="-440"/>
              <a:t> </a:t>
            </a:r>
            <a:r>
              <a:rPr dirty="0" spc="-434"/>
              <a:t>INTEREST </a:t>
            </a:r>
            <a:r>
              <a:rPr dirty="0" spc="-320"/>
              <a:t>INCOME</a:t>
            </a:r>
            <a:r>
              <a:rPr dirty="0" spc="-440"/>
              <a:t> </a:t>
            </a:r>
            <a:r>
              <a:rPr dirty="0" spc="-425"/>
              <a:t>G </a:t>
            </a:r>
            <a:r>
              <a:rPr dirty="0" spc="-525"/>
              <a:t>PROFITABILITY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17300" y="2975751"/>
            <a:ext cx="4023360" cy="2644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2420">
              <a:lnSpc>
                <a:spcPct val="116500"/>
              </a:lnSpc>
              <a:spcBef>
                <a:spcPts val="100"/>
              </a:spcBef>
            </a:pP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Performance </a:t>
            </a: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FY2022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NII: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₹72,010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</a:t>
            </a:r>
            <a:endParaRPr sz="2950">
              <a:latin typeface="Tahoma"/>
              <a:cs typeface="Tahoma"/>
            </a:endParaRPr>
          </a:p>
          <a:p>
            <a:pPr marL="12700" marR="5080">
              <a:lnSpc>
                <a:spcPct val="116500"/>
              </a:lnSpc>
            </a:pP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FY2026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NII: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₹1,28,686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282828"/>
                </a:solidFill>
                <a:latin typeface="Tahoma"/>
                <a:cs typeface="Tahoma"/>
              </a:rPr>
              <a:t>Cr </a:t>
            </a: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950" spc="-31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CAGR:</a:t>
            </a:r>
            <a:r>
              <a:rPr dirty="0" sz="2950" spc="-3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16%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FY2026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Growth: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5%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73501" y="2975751"/>
            <a:ext cx="2133600" cy="2120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5890" marR="128270" indent="10795">
              <a:lnSpc>
                <a:spcPct val="116500"/>
              </a:lnSpc>
              <a:spcBef>
                <a:spcPts val="100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Profitability </a:t>
            </a:r>
            <a:r>
              <a:rPr dirty="0" sz="2950" spc="-110">
                <a:solidFill>
                  <a:srgbClr val="282828"/>
                </a:solidFill>
                <a:latin typeface="Tahoma"/>
                <a:cs typeface="Tahoma"/>
              </a:rPr>
              <a:t>NIM: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20">
                <a:solidFill>
                  <a:srgbClr val="282828"/>
                </a:solidFill>
                <a:latin typeface="Tahoma"/>
                <a:cs typeface="Tahoma"/>
              </a:rPr>
              <a:t>3.50%</a:t>
            </a:r>
            <a:endParaRPr sz="2950">
              <a:latin typeface="Tahoma"/>
              <a:cs typeface="Tahoma"/>
            </a:endParaRPr>
          </a:p>
          <a:p>
            <a:pPr marL="109855">
              <a:lnSpc>
                <a:spcPct val="100000"/>
              </a:lnSpc>
              <a:spcBef>
                <a:spcPts val="585"/>
              </a:spcBef>
            </a:pPr>
            <a:r>
              <a:rPr dirty="0" sz="2950" spc="-85">
                <a:solidFill>
                  <a:srgbClr val="282828"/>
                </a:solidFill>
                <a:latin typeface="Tahoma"/>
                <a:cs typeface="Tahoma"/>
              </a:rPr>
              <a:t>ROA: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1.90%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ROE: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95">
                <a:solidFill>
                  <a:srgbClr val="282828"/>
                </a:solidFill>
                <a:latin typeface="Tahoma"/>
                <a:cs typeface="Tahoma"/>
              </a:rPr>
              <a:t>14.80%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67633" y="772204"/>
            <a:ext cx="655320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5"/>
              <a:t>ASSET</a:t>
            </a:r>
            <a:r>
              <a:rPr dirty="0" spc="-434"/>
              <a:t> </a:t>
            </a:r>
            <a:r>
              <a:rPr dirty="0" spc="-440"/>
              <a:t>ǪUALITY</a:t>
            </a:r>
            <a:r>
              <a:rPr dirty="0" spc="-434"/>
              <a:t> </a:t>
            </a:r>
            <a:r>
              <a:rPr dirty="0" spc="-375"/>
              <a:t>G</a:t>
            </a:r>
            <a:r>
              <a:rPr dirty="0" spc="-434"/>
              <a:t> </a:t>
            </a:r>
            <a:r>
              <a:rPr dirty="0" spc="-530"/>
              <a:t>RISK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38739" y="8274343"/>
            <a:ext cx="3049270" cy="1400175"/>
            <a:chOff x="15238739" y="8274343"/>
            <a:chExt cx="3049270" cy="1400175"/>
          </a:xfrm>
        </p:grpSpPr>
        <p:sp>
          <p:nvSpPr>
            <p:cNvPr id="4" name="object 4"/>
            <p:cNvSpPr/>
            <p:nvPr/>
          </p:nvSpPr>
          <p:spPr>
            <a:xfrm>
              <a:off x="15238739" y="8679166"/>
              <a:ext cx="3049270" cy="995680"/>
            </a:xfrm>
            <a:custGeom>
              <a:avLst/>
              <a:gdLst/>
              <a:ahLst/>
              <a:cxnLst/>
              <a:rect l="l" t="t" r="r" b="b"/>
              <a:pathLst>
                <a:path w="3049269" h="995679">
                  <a:moveTo>
                    <a:pt x="3049260" y="995351"/>
                  </a:moveTo>
                  <a:lnTo>
                    <a:pt x="492110" y="995351"/>
                  </a:lnTo>
                  <a:lnTo>
                    <a:pt x="447050" y="993058"/>
                  </a:lnTo>
                  <a:lnTo>
                    <a:pt x="397736" y="985482"/>
                  </a:lnTo>
                  <a:lnTo>
                    <a:pt x="350106" y="973168"/>
                  </a:lnTo>
                  <a:lnTo>
                    <a:pt x="304414" y="956372"/>
                  </a:lnTo>
                  <a:lnTo>
                    <a:pt x="260914" y="935348"/>
                  </a:lnTo>
                  <a:lnTo>
                    <a:pt x="219860" y="910354"/>
                  </a:lnTo>
                  <a:lnTo>
                    <a:pt x="181507" y="881644"/>
                  </a:lnTo>
                  <a:lnTo>
                    <a:pt x="146110" y="849474"/>
                  </a:lnTo>
                  <a:lnTo>
                    <a:pt x="113942" y="814093"/>
                  </a:lnTo>
                  <a:lnTo>
                    <a:pt x="85239" y="775748"/>
                  </a:lnTo>
                  <a:lnTo>
                    <a:pt x="60253" y="734697"/>
                  </a:lnTo>
                  <a:lnTo>
                    <a:pt x="39240" y="691198"/>
                  </a:lnTo>
                  <a:lnTo>
                    <a:pt x="22454" y="645506"/>
                  </a:lnTo>
                  <a:lnTo>
                    <a:pt x="10149" y="597879"/>
                  </a:lnTo>
                  <a:lnTo>
                    <a:pt x="2579" y="548574"/>
                  </a:lnTo>
                  <a:lnTo>
                    <a:pt x="0" y="497848"/>
                  </a:lnTo>
                  <a:lnTo>
                    <a:pt x="2579" y="447106"/>
                  </a:lnTo>
                  <a:lnTo>
                    <a:pt x="10150" y="397792"/>
                  </a:lnTo>
                  <a:lnTo>
                    <a:pt x="22457" y="350162"/>
                  </a:lnTo>
                  <a:lnTo>
                    <a:pt x="39247" y="304470"/>
                  </a:lnTo>
                  <a:lnTo>
                    <a:pt x="60267" y="260970"/>
                  </a:lnTo>
                  <a:lnTo>
                    <a:pt x="85262" y="219916"/>
                  </a:lnTo>
                  <a:lnTo>
                    <a:pt x="113980" y="181563"/>
                  </a:lnTo>
                  <a:lnTo>
                    <a:pt x="146166" y="146166"/>
                  </a:lnTo>
                  <a:lnTo>
                    <a:pt x="181563" y="113980"/>
                  </a:lnTo>
                  <a:lnTo>
                    <a:pt x="219915" y="85262"/>
                  </a:lnTo>
                  <a:lnTo>
                    <a:pt x="260967" y="60267"/>
                  </a:lnTo>
                  <a:lnTo>
                    <a:pt x="304463" y="39247"/>
                  </a:lnTo>
                  <a:lnTo>
                    <a:pt x="350149" y="22457"/>
                  </a:lnTo>
                  <a:lnTo>
                    <a:pt x="397769" y="10150"/>
                  </a:lnTo>
                  <a:lnTo>
                    <a:pt x="447068" y="2579"/>
                  </a:lnTo>
                  <a:lnTo>
                    <a:pt x="497792" y="0"/>
                  </a:lnTo>
                  <a:lnTo>
                    <a:pt x="3049260" y="0"/>
                  </a:lnTo>
                  <a:lnTo>
                    <a:pt x="3049260" y="171282"/>
                  </a:lnTo>
                  <a:lnTo>
                    <a:pt x="497792" y="171282"/>
                  </a:lnTo>
                  <a:lnTo>
                    <a:pt x="445045" y="175578"/>
                  </a:lnTo>
                  <a:lnTo>
                    <a:pt x="394929" y="188009"/>
                  </a:lnTo>
                  <a:lnTo>
                    <a:pt x="348129" y="207892"/>
                  </a:lnTo>
                  <a:lnTo>
                    <a:pt x="305329" y="234541"/>
                  </a:lnTo>
                  <a:lnTo>
                    <a:pt x="267215" y="267271"/>
                  </a:lnTo>
                  <a:lnTo>
                    <a:pt x="234485" y="305385"/>
                  </a:lnTo>
                  <a:lnTo>
                    <a:pt x="207836" y="348185"/>
                  </a:lnTo>
                  <a:lnTo>
                    <a:pt x="187953" y="394985"/>
                  </a:lnTo>
                  <a:lnTo>
                    <a:pt x="175522" y="445101"/>
                  </a:lnTo>
                  <a:lnTo>
                    <a:pt x="171226" y="497848"/>
                  </a:lnTo>
                  <a:lnTo>
                    <a:pt x="175522" y="550595"/>
                  </a:lnTo>
                  <a:lnTo>
                    <a:pt x="187953" y="600708"/>
                  </a:lnTo>
                  <a:lnTo>
                    <a:pt x="207836" y="647499"/>
                  </a:lnTo>
                  <a:lnTo>
                    <a:pt x="234485" y="690282"/>
                  </a:lnTo>
                  <a:lnTo>
                    <a:pt x="267215" y="728368"/>
                  </a:lnTo>
                  <a:lnTo>
                    <a:pt x="305329" y="761099"/>
                  </a:lnTo>
                  <a:lnTo>
                    <a:pt x="348129" y="787748"/>
                  </a:lnTo>
                  <a:lnTo>
                    <a:pt x="394929" y="807630"/>
                  </a:lnTo>
                  <a:lnTo>
                    <a:pt x="445045" y="820062"/>
                  </a:lnTo>
                  <a:lnTo>
                    <a:pt x="497792" y="824358"/>
                  </a:lnTo>
                  <a:lnTo>
                    <a:pt x="3049260" y="824358"/>
                  </a:lnTo>
                  <a:lnTo>
                    <a:pt x="3049260" y="995351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865021" y="8274343"/>
              <a:ext cx="2423160" cy="993775"/>
            </a:xfrm>
            <a:custGeom>
              <a:avLst/>
              <a:gdLst/>
              <a:ahLst/>
              <a:cxnLst/>
              <a:rect l="l" t="t" r="r" b="b"/>
              <a:pathLst>
                <a:path w="2423159" h="993775">
                  <a:moveTo>
                    <a:pt x="2422978" y="993626"/>
                  </a:moveTo>
                  <a:lnTo>
                    <a:pt x="497848" y="993626"/>
                  </a:lnTo>
                  <a:lnTo>
                    <a:pt x="447106" y="991044"/>
                  </a:lnTo>
                  <a:lnTo>
                    <a:pt x="397792" y="983469"/>
                  </a:lnTo>
                  <a:lnTo>
                    <a:pt x="350162" y="971154"/>
                  </a:lnTo>
                  <a:lnTo>
                    <a:pt x="304470" y="954358"/>
                  </a:lnTo>
                  <a:lnTo>
                    <a:pt x="260970" y="933335"/>
                  </a:lnTo>
                  <a:lnTo>
                    <a:pt x="219916" y="908340"/>
                  </a:lnTo>
                  <a:lnTo>
                    <a:pt x="181563" y="879630"/>
                  </a:lnTo>
                  <a:lnTo>
                    <a:pt x="146166" y="847460"/>
                  </a:lnTo>
                  <a:lnTo>
                    <a:pt x="113996" y="812063"/>
                  </a:lnTo>
                  <a:lnTo>
                    <a:pt x="85286" y="773710"/>
                  </a:lnTo>
                  <a:lnTo>
                    <a:pt x="60291" y="732656"/>
                  </a:lnTo>
                  <a:lnTo>
                    <a:pt x="39268" y="689156"/>
                  </a:lnTo>
                  <a:lnTo>
                    <a:pt x="22472" y="643464"/>
                  </a:lnTo>
                  <a:lnTo>
                    <a:pt x="10157" y="595834"/>
                  </a:lnTo>
                  <a:lnTo>
                    <a:pt x="2582" y="546520"/>
                  </a:lnTo>
                  <a:lnTo>
                    <a:pt x="0" y="495778"/>
                  </a:lnTo>
                  <a:lnTo>
                    <a:pt x="2579" y="445036"/>
                  </a:lnTo>
                  <a:lnTo>
                    <a:pt x="10150" y="395723"/>
                  </a:lnTo>
                  <a:lnTo>
                    <a:pt x="22457" y="348096"/>
                  </a:lnTo>
                  <a:lnTo>
                    <a:pt x="39247" y="302407"/>
                  </a:lnTo>
                  <a:lnTo>
                    <a:pt x="60267" y="258914"/>
                  </a:lnTo>
                  <a:lnTo>
                    <a:pt x="85262" y="217870"/>
                  </a:lnTo>
                  <a:lnTo>
                    <a:pt x="113980" y="179531"/>
                  </a:lnTo>
                  <a:lnTo>
                    <a:pt x="146166" y="144152"/>
                  </a:lnTo>
                  <a:lnTo>
                    <a:pt x="181545" y="111982"/>
                  </a:lnTo>
                  <a:lnTo>
                    <a:pt x="219885" y="83272"/>
                  </a:lnTo>
                  <a:lnTo>
                    <a:pt x="260931" y="58278"/>
                  </a:lnTo>
                  <a:lnTo>
                    <a:pt x="304428" y="37254"/>
                  </a:lnTo>
                  <a:lnTo>
                    <a:pt x="350123" y="20458"/>
                  </a:lnTo>
                  <a:lnTo>
                    <a:pt x="397761" y="8144"/>
                  </a:lnTo>
                  <a:lnTo>
                    <a:pt x="447087" y="568"/>
                  </a:lnTo>
                  <a:lnTo>
                    <a:pt x="458262" y="0"/>
                  </a:lnTo>
                  <a:lnTo>
                    <a:pt x="2422978" y="0"/>
                  </a:lnTo>
                  <a:lnTo>
                    <a:pt x="2422978" y="169268"/>
                  </a:lnTo>
                  <a:lnTo>
                    <a:pt x="497848" y="169268"/>
                  </a:lnTo>
                  <a:lnTo>
                    <a:pt x="445101" y="173564"/>
                  </a:lnTo>
                  <a:lnTo>
                    <a:pt x="394985" y="185996"/>
                  </a:lnTo>
                  <a:lnTo>
                    <a:pt x="348185" y="205878"/>
                  </a:lnTo>
                  <a:lnTo>
                    <a:pt x="305385" y="232527"/>
                  </a:lnTo>
                  <a:lnTo>
                    <a:pt x="267271" y="265258"/>
                  </a:lnTo>
                  <a:lnTo>
                    <a:pt x="234541" y="303371"/>
                  </a:lnTo>
                  <a:lnTo>
                    <a:pt x="207892" y="346167"/>
                  </a:lnTo>
                  <a:lnTo>
                    <a:pt x="188009" y="392959"/>
                  </a:lnTo>
                  <a:lnTo>
                    <a:pt x="175578" y="443058"/>
                  </a:lnTo>
                  <a:lnTo>
                    <a:pt x="171282" y="495778"/>
                  </a:lnTo>
                  <a:lnTo>
                    <a:pt x="175578" y="548526"/>
                  </a:lnTo>
                  <a:lnTo>
                    <a:pt x="188009" y="598642"/>
                  </a:lnTo>
                  <a:lnTo>
                    <a:pt x="207892" y="645442"/>
                  </a:lnTo>
                  <a:lnTo>
                    <a:pt x="234541" y="688241"/>
                  </a:lnTo>
                  <a:lnTo>
                    <a:pt x="267271" y="726355"/>
                  </a:lnTo>
                  <a:lnTo>
                    <a:pt x="305385" y="759085"/>
                  </a:lnTo>
                  <a:lnTo>
                    <a:pt x="348185" y="785734"/>
                  </a:lnTo>
                  <a:lnTo>
                    <a:pt x="394985" y="805617"/>
                  </a:lnTo>
                  <a:lnTo>
                    <a:pt x="445101" y="818048"/>
                  </a:lnTo>
                  <a:lnTo>
                    <a:pt x="497848" y="822344"/>
                  </a:lnTo>
                  <a:lnTo>
                    <a:pt x="2422978" y="822344"/>
                  </a:lnTo>
                  <a:lnTo>
                    <a:pt x="2422978" y="993626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0" y="8516993"/>
            <a:ext cx="2018664" cy="1770380"/>
          </a:xfrm>
          <a:custGeom>
            <a:avLst/>
            <a:gdLst/>
            <a:ahLst/>
            <a:cxnLst/>
            <a:rect l="l" t="t" r="r" b="b"/>
            <a:pathLst>
              <a:path w="2018664" h="1770379">
                <a:moveTo>
                  <a:pt x="1994319" y="1770006"/>
                </a:moveTo>
                <a:lnTo>
                  <a:pt x="0" y="1770006"/>
                </a:lnTo>
                <a:lnTo>
                  <a:pt x="0" y="91779"/>
                </a:lnTo>
                <a:lnTo>
                  <a:pt x="52043" y="73622"/>
                </a:lnTo>
                <a:lnTo>
                  <a:pt x="96311" y="59949"/>
                </a:lnTo>
                <a:lnTo>
                  <a:pt x="141151" y="47615"/>
                </a:lnTo>
                <a:lnTo>
                  <a:pt x="186539" y="36645"/>
                </a:lnTo>
                <a:lnTo>
                  <a:pt x="232453" y="27063"/>
                </a:lnTo>
                <a:lnTo>
                  <a:pt x="278869" y="18891"/>
                </a:lnTo>
                <a:lnTo>
                  <a:pt x="325762" y="12152"/>
                </a:lnTo>
                <a:lnTo>
                  <a:pt x="373112" y="6870"/>
                </a:lnTo>
                <a:lnTo>
                  <a:pt x="420893" y="3069"/>
                </a:lnTo>
                <a:lnTo>
                  <a:pt x="469082" y="771"/>
                </a:lnTo>
                <a:lnTo>
                  <a:pt x="517658" y="0"/>
                </a:lnTo>
                <a:lnTo>
                  <a:pt x="566233" y="771"/>
                </a:lnTo>
                <a:lnTo>
                  <a:pt x="614422" y="3069"/>
                </a:lnTo>
                <a:lnTo>
                  <a:pt x="662204" y="6870"/>
                </a:lnTo>
                <a:lnTo>
                  <a:pt x="709553" y="12152"/>
                </a:lnTo>
                <a:lnTo>
                  <a:pt x="756447" y="18891"/>
                </a:lnTo>
                <a:lnTo>
                  <a:pt x="802862" y="27063"/>
                </a:lnTo>
                <a:lnTo>
                  <a:pt x="848776" y="36645"/>
                </a:lnTo>
                <a:lnTo>
                  <a:pt x="894164" y="47615"/>
                </a:lnTo>
                <a:lnTo>
                  <a:pt x="939004" y="59949"/>
                </a:lnTo>
                <a:lnTo>
                  <a:pt x="983273" y="73622"/>
                </a:lnTo>
                <a:lnTo>
                  <a:pt x="1026946" y="88613"/>
                </a:lnTo>
                <a:lnTo>
                  <a:pt x="1070001" y="104898"/>
                </a:lnTo>
                <a:lnTo>
                  <a:pt x="1112415" y="122454"/>
                </a:lnTo>
                <a:lnTo>
                  <a:pt x="1154163" y="141256"/>
                </a:lnTo>
                <a:lnTo>
                  <a:pt x="1195224" y="161283"/>
                </a:lnTo>
                <a:lnTo>
                  <a:pt x="1235572" y="182511"/>
                </a:lnTo>
                <a:lnTo>
                  <a:pt x="1275187" y="204915"/>
                </a:lnTo>
                <a:lnTo>
                  <a:pt x="1314043" y="228474"/>
                </a:lnTo>
                <a:lnTo>
                  <a:pt x="1352117" y="253164"/>
                </a:lnTo>
                <a:lnTo>
                  <a:pt x="1389388" y="278961"/>
                </a:lnTo>
                <a:lnTo>
                  <a:pt x="1425830" y="305842"/>
                </a:lnTo>
                <a:lnTo>
                  <a:pt x="1461420" y="333784"/>
                </a:lnTo>
                <a:lnTo>
                  <a:pt x="1496137" y="362764"/>
                </a:lnTo>
                <a:lnTo>
                  <a:pt x="1529955" y="392759"/>
                </a:lnTo>
                <a:lnTo>
                  <a:pt x="1562853" y="423744"/>
                </a:lnTo>
                <a:lnTo>
                  <a:pt x="1594806" y="455697"/>
                </a:lnTo>
                <a:lnTo>
                  <a:pt x="1625791" y="488594"/>
                </a:lnTo>
                <a:lnTo>
                  <a:pt x="1655785" y="522412"/>
                </a:lnTo>
                <a:lnTo>
                  <a:pt x="1684765" y="557129"/>
                </a:lnTo>
                <a:lnTo>
                  <a:pt x="1712707" y="592720"/>
                </a:lnTo>
                <a:lnTo>
                  <a:pt x="1739588" y="629162"/>
                </a:lnTo>
                <a:lnTo>
                  <a:pt x="1765385" y="666432"/>
                </a:lnTo>
                <a:lnTo>
                  <a:pt x="1790075" y="704507"/>
                </a:lnTo>
                <a:lnTo>
                  <a:pt x="1813634" y="743363"/>
                </a:lnTo>
                <a:lnTo>
                  <a:pt x="1836039" y="782977"/>
                </a:lnTo>
                <a:lnTo>
                  <a:pt x="1857266" y="823326"/>
                </a:lnTo>
                <a:lnTo>
                  <a:pt x="1877293" y="864386"/>
                </a:lnTo>
                <a:lnTo>
                  <a:pt x="1896096" y="906135"/>
                </a:lnTo>
                <a:lnTo>
                  <a:pt x="1913651" y="948548"/>
                </a:lnTo>
                <a:lnTo>
                  <a:pt x="1929936" y="991603"/>
                </a:lnTo>
                <a:lnTo>
                  <a:pt x="1944927" y="1035277"/>
                </a:lnTo>
                <a:lnTo>
                  <a:pt x="1958601" y="1079545"/>
                </a:lnTo>
                <a:lnTo>
                  <a:pt x="1970934" y="1124385"/>
                </a:lnTo>
                <a:lnTo>
                  <a:pt x="1981904" y="1169774"/>
                </a:lnTo>
                <a:lnTo>
                  <a:pt x="1991486" y="1215687"/>
                </a:lnTo>
                <a:lnTo>
                  <a:pt x="1999659" y="1262103"/>
                </a:lnTo>
                <a:lnTo>
                  <a:pt x="2006397" y="1308997"/>
                </a:lnTo>
                <a:lnTo>
                  <a:pt x="2011679" y="1356346"/>
                </a:lnTo>
                <a:lnTo>
                  <a:pt x="2015481" y="1404127"/>
                </a:lnTo>
                <a:lnTo>
                  <a:pt x="2017779" y="1452317"/>
                </a:lnTo>
                <a:lnTo>
                  <a:pt x="2018550" y="1500892"/>
                </a:lnTo>
                <a:lnTo>
                  <a:pt x="2017779" y="1549467"/>
                </a:lnTo>
                <a:lnTo>
                  <a:pt x="2015481" y="1597657"/>
                </a:lnTo>
                <a:lnTo>
                  <a:pt x="2011679" y="1645438"/>
                </a:lnTo>
                <a:lnTo>
                  <a:pt x="2006397" y="1692787"/>
                </a:lnTo>
                <a:lnTo>
                  <a:pt x="1999659" y="1739681"/>
                </a:lnTo>
                <a:lnTo>
                  <a:pt x="1994319" y="1770006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294551" y="0"/>
            <a:ext cx="1993900" cy="2336800"/>
          </a:xfrm>
          <a:custGeom>
            <a:avLst/>
            <a:gdLst/>
            <a:ahLst/>
            <a:cxnLst/>
            <a:rect l="l" t="t" r="r" b="b"/>
            <a:pathLst>
              <a:path w="1993900" h="2336800">
                <a:moveTo>
                  <a:pt x="1500892" y="2336533"/>
                </a:moveTo>
                <a:lnTo>
                  <a:pt x="1452317" y="2335762"/>
                </a:lnTo>
                <a:lnTo>
                  <a:pt x="1404127" y="2333464"/>
                </a:lnTo>
                <a:lnTo>
                  <a:pt x="1356346" y="2329662"/>
                </a:lnTo>
                <a:lnTo>
                  <a:pt x="1308997" y="2324380"/>
                </a:lnTo>
                <a:lnTo>
                  <a:pt x="1262103" y="2317642"/>
                </a:lnTo>
                <a:lnTo>
                  <a:pt x="1215687" y="2309469"/>
                </a:lnTo>
                <a:lnTo>
                  <a:pt x="1169774" y="2299887"/>
                </a:lnTo>
                <a:lnTo>
                  <a:pt x="1124385" y="2288917"/>
                </a:lnTo>
                <a:lnTo>
                  <a:pt x="1079545" y="2276584"/>
                </a:lnTo>
                <a:lnTo>
                  <a:pt x="1035277" y="2262910"/>
                </a:lnTo>
                <a:lnTo>
                  <a:pt x="991603" y="2247919"/>
                </a:lnTo>
                <a:lnTo>
                  <a:pt x="948548" y="2231634"/>
                </a:lnTo>
                <a:lnTo>
                  <a:pt x="906135" y="2214078"/>
                </a:lnTo>
                <a:lnTo>
                  <a:pt x="864386" y="2195276"/>
                </a:lnTo>
                <a:lnTo>
                  <a:pt x="823326" y="2175249"/>
                </a:lnTo>
                <a:lnTo>
                  <a:pt x="782977" y="2154022"/>
                </a:lnTo>
                <a:lnTo>
                  <a:pt x="743363" y="2131617"/>
                </a:lnTo>
                <a:lnTo>
                  <a:pt x="704507" y="2108058"/>
                </a:lnTo>
                <a:lnTo>
                  <a:pt x="666432" y="2083368"/>
                </a:lnTo>
                <a:lnTo>
                  <a:pt x="629162" y="2057571"/>
                </a:lnTo>
                <a:lnTo>
                  <a:pt x="592720" y="2030690"/>
                </a:lnTo>
                <a:lnTo>
                  <a:pt x="557129" y="2002748"/>
                </a:lnTo>
                <a:lnTo>
                  <a:pt x="522412" y="1973768"/>
                </a:lnTo>
                <a:lnTo>
                  <a:pt x="488594" y="1943774"/>
                </a:lnTo>
                <a:lnTo>
                  <a:pt x="455697" y="1912789"/>
                </a:lnTo>
                <a:lnTo>
                  <a:pt x="423744" y="1880836"/>
                </a:lnTo>
                <a:lnTo>
                  <a:pt x="392759" y="1847938"/>
                </a:lnTo>
                <a:lnTo>
                  <a:pt x="362764" y="1814120"/>
                </a:lnTo>
                <a:lnTo>
                  <a:pt x="333784" y="1779403"/>
                </a:lnTo>
                <a:lnTo>
                  <a:pt x="305842" y="1743813"/>
                </a:lnTo>
                <a:lnTo>
                  <a:pt x="278961" y="1707370"/>
                </a:lnTo>
                <a:lnTo>
                  <a:pt x="253164" y="1670100"/>
                </a:lnTo>
                <a:lnTo>
                  <a:pt x="228474" y="1632026"/>
                </a:lnTo>
                <a:lnTo>
                  <a:pt x="204915" y="1593170"/>
                </a:lnTo>
                <a:lnTo>
                  <a:pt x="182511" y="1553555"/>
                </a:lnTo>
                <a:lnTo>
                  <a:pt x="161283" y="1513206"/>
                </a:lnTo>
                <a:lnTo>
                  <a:pt x="141256" y="1472146"/>
                </a:lnTo>
                <a:lnTo>
                  <a:pt x="122454" y="1430397"/>
                </a:lnTo>
                <a:lnTo>
                  <a:pt x="104898" y="1387984"/>
                </a:lnTo>
                <a:lnTo>
                  <a:pt x="88613" y="1344929"/>
                </a:lnTo>
                <a:lnTo>
                  <a:pt x="73622" y="1301255"/>
                </a:lnTo>
                <a:lnTo>
                  <a:pt x="59949" y="1256987"/>
                </a:lnTo>
                <a:lnTo>
                  <a:pt x="47615" y="1212147"/>
                </a:lnTo>
                <a:lnTo>
                  <a:pt x="36645" y="1166758"/>
                </a:lnTo>
                <a:lnTo>
                  <a:pt x="27063" y="1120845"/>
                </a:lnTo>
                <a:lnTo>
                  <a:pt x="18891" y="1074429"/>
                </a:lnTo>
                <a:lnTo>
                  <a:pt x="12152" y="1027536"/>
                </a:lnTo>
                <a:lnTo>
                  <a:pt x="6870" y="980186"/>
                </a:lnTo>
                <a:lnTo>
                  <a:pt x="3069" y="932405"/>
                </a:lnTo>
                <a:lnTo>
                  <a:pt x="771" y="884215"/>
                </a:lnTo>
                <a:lnTo>
                  <a:pt x="0" y="835640"/>
                </a:lnTo>
                <a:lnTo>
                  <a:pt x="771" y="787065"/>
                </a:lnTo>
                <a:lnTo>
                  <a:pt x="3069" y="738876"/>
                </a:lnTo>
                <a:lnTo>
                  <a:pt x="6870" y="691094"/>
                </a:lnTo>
                <a:lnTo>
                  <a:pt x="12152" y="643745"/>
                </a:lnTo>
                <a:lnTo>
                  <a:pt x="18891" y="596851"/>
                </a:lnTo>
                <a:lnTo>
                  <a:pt x="27063" y="550436"/>
                </a:lnTo>
                <a:lnTo>
                  <a:pt x="36645" y="504522"/>
                </a:lnTo>
                <a:lnTo>
                  <a:pt x="47615" y="459134"/>
                </a:lnTo>
                <a:lnTo>
                  <a:pt x="59949" y="414294"/>
                </a:lnTo>
                <a:lnTo>
                  <a:pt x="73622" y="370025"/>
                </a:lnTo>
                <a:lnTo>
                  <a:pt x="88613" y="326352"/>
                </a:lnTo>
                <a:lnTo>
                  <a:pt x="104898" y="283297"/>
                </a:lnTo>
                <a:lnTo>
                  <a:pt x="122454" y="240883"/>
                </a:lnTo>
                <a:lnTo>
                  <a:pt x="141256" y="199135"/>
                </a:lnTo>
                <a:lnTo>
                  <a:pt x="161283" y="158074"/>
                </a:lnTo>
                <a:lnTo>
                  <a:pt x="182511" y="117726"/>
                </a:lnTo>
                <a:lnTo>
                  <a:pt x="204915" y="78111"/>
                </a:lnTo>
                <a:lnTo>
                  <a:pt x="228474" y="39255"/>
                </a:lnTo>
                <a:lnTo>
                  <a:pt x="253981" y="0"/>
                </a:lnTo>
                <a:lnTo>
                  <a:pt x="1993448" y="0"/>
                </a:lnTo>
                <a:lnTo>
                  <a:pt x="1993448" y="2253662"/>
                </a:lnTo>
                <a:lnTo>
                  <a:pt x="1966507" y="2262910"/>
                </a:lnTo>
                <a:lnTo>
                  <a:pt x="1922238" y="2276584"/>
                </a:lnTo>
                <a:lnTo>
                  <a:pt x="1877398" y="2288917"/>
                </a:lnTo>
                <a:lnTo>
                  <a:pt x="1832010" y="2299887"/>
                </a:lnTo>
                <a:lnTo>
                  <a:pt x="1786096" y="2309469"/>
                </a:lnTo>
                <a:lnTo>
                  <a:pt x="1739681" y="2317642"/>
                </a:lnTo>
                <a:lnTo>
                  <a:pt x="1692787" y="2324380"/>
                </a:lnTo>
                <a:lnTo>
                  <a:pt x="1645438" y="2329662"/>
                </a:lnTo>
                <a:lnTo>
                  <a:pt x="1597657" y="2333464"/>
                </a:lnTo>
                <a:lnTo>
                  <a:pt x="1549467" y="2335762"/>
                </a:lnTo>
                <a:lnTo>
                  <a:pt x="1500892" y="2336533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24512" y="2096371"/>
            <a:ext cx="3472179" cy="2023745"/>
          </a:xfrm>
          <a:prstGeom prst="rect">
            <a:avLst/>
          </a:prstGeom>
        </p:spPr>
        <p:txBody>
          <a:bodyPr wrap="square" lIns="0" tIns="271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3650" spc="-290" b="1">
                <a:latin typeface="Tahoma"/>
                <a:cs typeface="Tahoma"/>
              </a:rPr>
              <a:t>Key</a:t>
            </a:r>
            <a:r>
              <a:rPr dirty="0" sz="3650" spc="-320" b="1">
                <a:latin typeface="Tahoma"/>
                <a:cs typeface="Tahoma"/>
              </a:rPr>
              <a:t> </a:t>
            </a:r>
            <a:r>
              <a:rPr dirty="0" sz="3650" spc="-190" b="1">
                <a:latin typeface="Tahoma"/>
                <a:cs typeface="Tahoma"/>
              </a:rPr>
              <a:t>Risk</a:t>
            </a:r>
            <a:r>
              <a:rPr dirty="0" sz="3650" spc="-310" b="1">
                <a:latin typeface="Tahoma"/>
                <a:cs typeface="Tahoma"/>
              </a:rPr>
              <a:t> </a:t>
            </a:r>
            <a:r>
              <a:rPr dirty="0" sz="3650" spc="-114" b="1">
                <a:latin typeface="Tahoma"/>
                <a:cs typeface="Tahoma"/>
              </a:rPr>
              <a:t>Metrics</a:t>
            </a:r>
            <a:endParaRPr sz="3650">
              <a:latin typeface="Tahoma"/>
              <a:cs typeface="Tahoma"/>
            </a:endParaRPr>
          </a:p>
          <a:p>
            <a:pPr marL="89535" marR="2356485" indent="-76200">
              <a:lnSpc>
                <a:spcPct val="116500"/>
              </a:lnSpc>
              <a:spcBef>
                <a:spcPts val="1070"/>
              </a:spcBef>
            </a:pPr>
            <a:r>
              <a:rPr dirty="0" sz="2950" spc="-20">
                <a:latin typeface="Tahoma"/>
                <a:cs typeface="Tahoma"/>
              </a:rPr>
              <a:t>GNPA </a:t>
            </a:r>
            <a:r>
              <a:rPr dirty="0" sz="2950" spc="-130">
                <a:latin typeface="Tahoma"/>
                <a:cs typeface="Tahoma"/>
              </a:rPr>
              <a:t>1.25%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5167" y="4618474"/>
            <a:ext cx="3374390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 marR="5080" indent="-76200">
              <a:lnSpc>
                <a:spcPct val="116500"/>
              </a:lnSpc>
              <a:spcBef>
                <a:spcPts val="100"/>
              </a:spcBef>
            </a:pPr>
            <a:r>
              <a:rPr dirty="0" sz="2950" spc="-30">
                <a:latin typeface="Tahoma"/>
                <a:cs typeface="Tahoma"/>
              </a:rPr>
              <a:t>Credit–</a:t>
            </a:r>
            <a:r>
              <a:rPr dirty="0" sz="2950">
                <a:latin typeface="Tahoma"/>
                <a:cs typeface="Tahoma"/>
              </a:rPr>
              <a:t>Deposit</a:t>
            </a:r>
            <a:r>
              <a:rPr dirty="0" sz="2950" spc="-185">
                <a:latin typeface="Tahoma"/>
                <a:cs typeface="Tahoma"/>
              </a:rPr>
              <a:t> </a:t>
            </a:r>
            <a:r>
              <a:rPr dirty="0" sz="2950" spc="-10">
                <a:latin typeface="Tahoma"/>
                <a:cs typeface="Tahoma"/>
              </a:rPr>
              <a:t>Ratio </a:t>
            </a:r>
            <a:r>
              <a:rPr dirty="0" sz="2950" spc="-25">
                <a:latin typeface="Tahoma"/>
                <a:cs typeface="Tahoma"/>
              </a:rPr>
              <a:t>95%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5167" y="6190099"/>
            <a:ext cx="2887980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 marR="5080" indent="-76200">
              <a:lnSpc>
                <a:spcPct val="116500"/>
              </a:lnSpc>
              <a:spcBef>
                <a:spcPts val="100"/>
              </a:spcBef>
            </a:pPr>
            <a:r>
              <a:rPr dirty="0" sz="2950" spc="45">
                <a:latin typeface="Tahoma"/>
                <a:cs typeface="Tahoma"/>
              </a:rPr>
              <a:t>Capital</a:t>
            </a:r>
            <a:r>
              <a:rPr dirty="0" sz="2950" spc="-300">
                <a:latin typeface="Tahoma"/>
                <a:cs typeface="Tahoma"/>
              </a:rPr>
              <a:t> </a:t>
            </a:r>
            <a:r>
              <a:rPr dirty="0" sz="2950" spc="-10">
                <a:latin typeface="Tahoma"/>
                <a:cs typeface="Tahoma"/>
              </a:rPr>
              <a:t>Adequacy Strong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5167" y="7761723"/>
            <a:ext cx="2091055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265" marR="5080" indent="-76200">
              <a:lnSpc>
                <a:spcPct val="116500"/>
              </a:lnSpc>
              <a:spcBef>
                <a:spcPts val="100"/>
              </a:spcBef>
            </a:pPr>
            <a:r>
              <a:rPr dirty="0" sz="2950" spc="-10">
                <a:latin typeface="Tahoma"/>
                <a:cs typeface="Tahoma"/>
              </a:rPr>
              <a:t>Loan</a:t>
            </a:r>
            <a:r>
              <a:rPr dirty="0" sz="2950" spc="-305">
                <a:latin typeface="Tahoma"/>
                <a:cs typeface="Tahoma"/>
              </a:rPr>
              <a:t> </a:t>
            </a:r>
            <a:r>
              <a:rPr dirty="0" sz="2950" spc="-20">
                <a:latin typeface="Tahoma"/>
                <a:cs typeface="Tahoma"/>
              </a:rPr>
              <a:t>Growth </a:t>
            </a:r>
            <a:r>
              <a:rPr dirty="0" sz="2950" spc="-25">
                <a:latin typeface="Tahoma"/>
                <a:cs typeface="Tahoma"/>
              </a:rPr>
              <a:t>11%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71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pc="-190"/>
              <a:t>Risk</a:t>
            </a:r>
            <a:r>
              <a:rPr dirty="0" spc="-305"/>
              <a:t> </a:t>
            </a:r>
            <a:r>
              <a:rPr dirty="0" spc="-170"/>
              <a:t>Interpretation</a:t>
            </a:r>
          </a:p>
          <a:p>
            <a:pPr marL="39370">
              <a:lnSpc>
                <a:spcPct val="100000"/>
              </a:lnSpc>
              <a:spcBef>
                <a:spcPts val="1650"/>
              </a:spcBef>
            </a:pPr>
            <a:r>
              <a:rPr dirty="0" sz="2950" spc="-55" b="0">
                <a:latin typeface="Tahoma"/>
                <a:cs typeface="Tahoma"/>
              </a:rPr>
              <a:t>1.</a:t>
            </a:r>
            <a:r>
              <a:rPr dirty="0" sz="2950" spc="-590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Controlled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asset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spc="-20" b="0">
                <a:latin typeface="Tahoma"/>
                <a:cs typeface="Tahoma"/>
              </a:rPr>
              <a:t>quality</a:t>
            </a:r>
            <a:r>
              <a:rPr dirty="0" sz="2950" spc="-240" b="0">
                <a:latin typeface="Tahoma"/>
                <a:cs typeface="Tahoma"/>
              </a:rPr>
              <a:t> </a:t>
            </a:r>
            <a:r>
              <a:rPr dirty="0" sz="2950" spc="-40" b="0">
                <a:latin typeface="Tahoma"/>
                <a:cs typeface="Tahoma"/>
              </a:rPr>
              <a:t>with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GNPA</a:t>
            </a:r>
            <a:r>
              <a:rPr dirty="0" sz="2950" spc="-240" b="0">
                <a:latin typeface="Tahoma"/>
                <a:cs typeface="Tahoma"/>
              </a:rPr>
              <a:t> </a:t>
            </a:r>
            <a:r>
              <a:rPr dirty="0" sz="2950" spc="-35" b="0">
                <a:latin typeface="Tahoma"/>
                <a:cs typeface="Tahoma"/>
              </a:rPr>
              <a:t>at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spc="-10" b="0">
                <a:latin typeface="Tahoma"/>
                <a:cs typeface="Tahoma"/>
              </a:rPr>
              <a:t>1.25%.</a:t>
            </a:r>
            <a:endParaRPr sz="2950">
              <a:latin typeface="Tahoma"/>
              <a:cs typeface="Tahoma"/>
            </a:endParaRPr>
          </a:p>
          <a:p>
            <a:pPr marL="384175" marR="5080" indent="-345440">
              <a:lnSpc>
                <a:spcPct val="116500"/>
              </a:lnSpc>
              <a:spcBef>
                <a:spcPts val="5"/>
              </a:spcBef>
            </a:pPr>
            <a:r>
              <a:rPr dirty="0" sz="2950" spc="-55" b="0">
                <a:latin typeface="Tahoma"/>
                <a:cs typeface="Tahoma"/>
              </a:rPr>
              <a:t>2.</a:t>
            </a:r>
            <a:r>
              <a:rPr dirty="0" sz="2950" spc="-595" b="0">
                <a:latin typeface="Tahoma"/>
                <a:cs typeface="Tahoma"/>
              </a:rPr>
              <a:t> </a:t>
            </a:r>
            <a:r>
              <a:rPr dirty="0" sz="2950" spc="-195" b="0">
                <a:latin typeface="Tahoma"/>
                <a:cs typeface="Tahoma"/>
              </a:rPr>
              <a:t>95%</a:t>
            </a:r>
            <a:r>
              <a:rPr dirty="0" sz="2950" spc="-240" b="0">
                <a:latin typeface="Tahoma"/>
                <a:cs typeface="Tahoma"/>
              </a:rPr>
              <a:t> </a:t>
            </a:r>
            <a:r>
              <a:rPr dirty="0" sz="2950" spc="-35" b="0">
                <a:latin typeface="Tahoma"/>
                <a:cs typeface="Tahoma"/>
              </a:rPr>
              <a:t>credit–</a:t>
            </a:r>
            <a:r>
              <a:rPr dirty="0" sz="2950" b="0">
                <a:latin typeface="Tahoma"/>
                <a:cs typeface="Tahoma"/>
              </a:rPr>
              <a:t>deposit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spc="-45" b="0">
                <a:latin typeface="Tahoma"/>
                <a:cs typeface="Tahoma"/>
              </a:rPr>
              <a:t>ratio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indicates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spc="-55" b="0">
                <a:latin typeface="Tahoma"/>
                <a:cs typeface="Tahoma"/>
              </a:rPr>
              <a:t>strong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spc="-20" b="0">
                <a:latin typeface="Tahoma"/>
                <a:cs typeface="Tahoma"/>
              </a:rPr>
              <a:t>deployment</a:t>
            </a:r>
            <a:r>
              <a:rPr dirty="0" sz="2950" spc="-245" b="0">
                <a:latin typeface="Tahoma"/>
                <a:cs typeface="Tahoma"/>
              </a:rPr>
              <a:t> </a:t>
            </a:r>
            <a:r>
              <a:rPr dirty="0" sz="2950" spc="-25" b="0">
                <a:latin typeface="Tahoma"/>
                <a:cs typeface="Tahoma"/>
              </a:rPr>
              <a:t>of </a:t>
            </a:r>
            <a:r>
              <a:rPr dirty="0" sz="2950" b="0">
                <a:latin typeface="Tahoma"/>
                <a:cs typeface="Tahoma"/>
              </a:rPr>
              <a:t>deposits</a:t>
            </a:r>
            <a:r>
              <a:rPr dirty="0" sz="2950" spc="-210" b="0">
                <a:latin typeface="Tahoma"/>
                <a:cs typeface="Tahoma"/>
              </a:rPr>
              <a:t> </a:t>
            </a:r>
            <a:r>
              <a:rPr dirty="0" sz="2950" spc="-20" b="0">
                <a:latin typeface="Tahoma"/>
                <a:cs typeface="Tahoma"/>
              </a:rPr>
              <a:t>into</a:t>
            </a:r>
            <a:r>
              <a:rPr dirty="0" sz="2950" spc="-210" b="0">
                <a:latin typeface="Tahoma"/>
                <a:cs typeface="Tahoma"/>
              </a:rPr>
              <a:t> </a:t>
            </a:r>
            <a:r>
              <a:rPr dirty="0" sz="2950" spc="-10" b="0">
                <a:latin typeface="Tahoma"/>
                <a:cs typeface="Tahoma"/>
              </a:rPr>
              <a:t>loans.</a:t>
            </a:r>
            <a:endParaRPr sz="2950">
              <a:latin typeface="Tahoma"/>
              <a:cs typeface="Tahoma"/>
            </a:endParaRPr>
          </a:p>
          <a:p>
            <a:pPr marL="384175" marR="610870" indent="-345440">
              <a:lnSpc>
                <a:spcPct val="116500"/>
              </a:lnSpc>
            </a:pPr>
            <a:r>
              <a:rPr dirty="0" sz="2950" spc="-55" b="0">
                <a:latin typeface="Tahoma"/>
                <a:cs typeface="Tahoma"/>
              </a:rPr>
              <a:t>3.</a:t>
            </a:r>
            <a:r>
              <a:rPr dirty="0" sz="2950" spc="-605" b="0">
                <a:latin typeface="Tahoma"/>
                <a:cs typeface="Tahoma"/>
              </a:rPr>
              <a:t> </a:t>
            </a:r>
            <a:r>
              <a:rPr dirty="0" sz="2950" spc="-195" b="0">
                <a:latin typeface="Tahoma"/>
                <a:cs typeface="Tahoma"/>
              </a:rPr>
              <a:t>11%</a:t>
            </a:r>
            <a:r>
              <a:rPr dirty="0" sz="2950" spc="-265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loan</a:t>
            </a:r>
            <a:r>
              <a:rPr dirty="0" sz="2950" spc="-265" b="0">
                <a:latin typeface="Tahoma"/>
                <a:cs typeface="Tahoma"/>
              </a:rPr>
              <a:t> </a:t>
            </a:r>
            <a:r>
              <a:rPr dirty="0" sz="2950" spc="-85" b="0">
                <a:latin typeface="Tahoma"/>
                <a:cs typeface="Tahoma"/>
              </a:rPr>
              <a:t>growth</a:t>
            </a:r>
            <a:r>
              <a:rPr dirty="0" sz="2950" spc="-265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reflects</a:t>
            </a:r>
            <a:r>
              <a:rPr dirty="0" sz="2950" spc="-265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continued</a:t>
            </a:r>
            <a:r>
              <a:rPr dirty="0" sz="2950" spc="-270" b="0">
                <a:latin typeface="Tahoma"/>
                <a:cs typeface="Tahoma"/>
              </a:rPr>
              <a:t> </a:t>
            </a:r>
            <a:r>
              <a:rPr dirty="0" sz="2950" spc="-20" b="0">
                <a:latin typeface="Tahoma"/>
                <a:cs typeface="Tahoma"/>
              </a:rPr>
              <a:t>expansion</a:t>
            </a:r>
            <a:r>
              <a:rPr dirty="0" sz="2950" spc="-265" b="0">
                <a:latin typeface="Tahoma"/>
                <a:cs typeface="Tahoma"/>
              </a:rPr>
              <a:t> </a:t>
            </a:r>
            <a:r>
              <a:rPr dirty="0" sz="2950" spc="-10" b="0">
                <a:latin typeface="Tahoma"/>
                <a:cs typeface="Tahoma"/>
              </a:rPr>
              <a:t>while </a:t>
            </a:r>
            <a:r>
              <a:rPr dirty="0" sz="2950" spc="-30" b="0">
                <a:latin typeface="Tahoma"/>
                <a:cs typeface="Tahoma"/>
              </a:rPr>
              <a:t>maintaining</a:t>
            </a:r>
            <a:r>
              <a:rPr dirty="0" sz="2950" spc="-290" b="0">
                <a:latin typeface="Tahoma"/>
                <a:cs typeface="Tahoma"/>
              </a:rPr>
              <a:t> </a:t>
            </a:r>
            <a:r>
              <a:rPr dirty="0" sz="2950" b="0">
                <a:latin typeface="Tahoma"/>
                <a:cs typeface="Tahoma"/>
              </a:rPr>
              <a:t>risk</a:t>
            </a:r>
            <a:r>
              <a:rPr dirty="0" sz="2950" spc="-290" b="0">
                <a:latin typeface="Tahoma"/>
                <a:cs typeface="Tahoma"/>
              </a:rPr>
              <a:t> </a:t>
            </a:r>
            <a:r>
              <a:rPr dirty="0" sz="2950" spc="-10" b="0">
                <a:latin typeface="Tahoma"/>
                <a:cs typeface="Tahoma"/>
              </a:rPr>
              <a:t>discipline.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40521" y="7172325"/>
            <a:ext cx="10673715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41145" marR="5080" indent="-1529080">
              <a:lnSpc>
                <a:spcPct val="116500"/>
              </a:lnSpc>
              <a:spcBef>
                <a:spcPts val="100"/>
              </a:spcBef>
            </a:pPr>
            <a:r>
              <a:rPr dirty="0" sz="2950" spc="-240" b="1">
                <a:latin typeface="Tahoma"/>
                <a:cs typeface="Tahoma"/>
              </a:rPr>
              <a:t>Key</a:t>
            </a:r>
            <a:r>
              <a:rPr dirty="0" sz="2950" spc="-200" b="1">
                <a:latin typeface="Tahoma"/>
                <a:cs typeface="Tahoma"/>
              </a:rPr>
              <a:t> </a:t>
            </a:r>
            <a:r>
              <a:rPr dirty="0" sz="2950" spc="-260" b="1">
                <a:latin typeface="Tahoma"/>
                <a:cs typeface="Tahoma"/>
              </a:rPr>
              <a:t>Takeaway</a:t>
            </a:r>
            <a:r>
              <a:rPr dirty="0" sz="2950" spc="-260">
                <a:latin typeface="Tahoma"/>
                <a:cs typeface="Tahoma"/>
              </a:rPr>
              <a:t>:</a:t>
            </a:r>
            <a:r>
              <a:rPr dirty="0" sz="2950" spc="-265">
                <a:latin typeface="Tahoma"/>
                <a:cs typeface="Tahoma"/>
              </a:rPr>
              <a:t> </a:t>
            </a:r>
            <a:r>
              <a:rPr dirty="0" sz="2950" spc="90">
                <a:latin typeface="Tahoma"/>
                <a:cs typeface="Tahoma"/>
              </a:rPr>
              <a:t>HDFC</a:t>
            </a:r>
            <a:r>
              <a:rPr dirty="0" sz="2950" spc="-260">
                <a:latin typeface="Tahoma"/>
                <a:cs typeface="Tahoma"/>
              </a:rPr>
              <a:t> </a:t>
            </a:r>
            <a:r>
              <a:rPr dirty="0" sz="2950" spc="-20">
                <a:latin typeface="Tahoma"/>
                <a:cs typeface="Tahoma"/>
              </a:rPr>
              <a:t>Bank</a:t>
            </a:r>
            <a:r>
              <a:rPr dirty="0" sz="2950" spc="-260">
                <a:latin typeface="Tahoma"/>
                <a:cs typeface="Tahoma"/>
              </a:rPr>
              <a:t> </a:t>
            </a:r>
            <a:r>
              <a:rPr dirty="0" sz="2950">
                <a:latin typeface="Tahoma"/>
                <a:cs typeface="Tahoma"/>
              </a:rPr>
              <a:t>maintains</a:t>
            </a:r>
            <a:r>
              <a:rPr dirty="0" sz="2950" spc="-265">
                <a:latin typeface="Tahoma"/>
                <a:cs typeface="Tahoma"/>
              </a:rPr>
              <a:t> </a:t>
            </a:r>
            <a:r>
              <a:rPr dirty="0" sz="2950">
                <a:latin typeface="Tahoma"/>
                <a:cs typeface="Tahoma"/>
              </a:rPr>
              <a:t>controlled</a:t>
            </a:r>
            <a:r>
              <a:rPr dirty="0" sz="2950" spc="-260">
                <a:latin typeface="Tahoma"/>
                <a:cs typeface="Tahoma"/>
              </a:rPr>
              <a:t> </a:t>
            </a:r>
            <a:r>
              <a:rPr dirty="0" sz="2950">
                <a:latin typeface="Tahoma"/>
                <a:cs typeface="Tahoma"/>
              </a:rPr>
              <a:t>asset-</a:t>
            </a:r>
            <a:r>
              <a:rPr dirty="0" sz="2950" spc="-20">
                <a:latin typeface="Tahoma"/>
                <a:cs typeface="Tahoma"/>
              </a:rPr>
              <a:t>quality</a:t>
            </a:r>
            <a:r>
              <a:rPr dirty="0" sz="2950" spc="-260">
                <a:latin typeface="Tahoma"/>
                <a:cs typeface="Tahoma"/>
              </a:rPr>
              <a:t> </a:t>
            </a:r>
            <a:r>
              <a:rPr dirty="0" sz="2950" spc="-20">
                <a:latin typeface="Tahoma"/>
                <a:cs typeface="Tahoma"/>
              </a:rPr>
              <a:t>risk </a:t>
            </a:r>
            <a:r>
              <a:rPr dirty="0" sz="2950" spc="-10">
                <a:latin typeface="Tahoma"/>
                <a:cs typeface="Tahoma"/>
              </a:rPr>
              <a:t>while</a:t>
            </a:r>
            <a:r>
              <a:rPr dirty="0" sz="2950" spc="-280">
                <a:latin typeface="Tahoma"/>
                <a:cs typeface="Tahoma"/>
              </a:rPr>
              <a:t> </a:t>
            </a:r>
            <a:r>
              <a:rPr dirty="0" sz="2950" spc="-20">
                <a:latin typeface="Tahoma"/>
                <a:cs typeface="Tahoma"/>
              </a:rPr>
              <a:t>continuing</a:t>
            </a:r>
            <a:r>
              <a:rPr dirty="0" sz="2950" spc="-275">
                <a:latin typeface="Tahoma"/>
                <a:cs typeface="Tahoma"/>
              </a:rPr>
              <a:t> </a:t>
            </a:r>
            <a:r>
              <a:rPr dirty="0" sz="2950" spc="-25">
                <a:latin typeface="Tahoma"/>
                <a:cs typeface="Tahoma"/>
              </a:rPr>
              <a:t>to</a:t>
            </a:r>
            <a:r>
              <a:rPr dirty="0" sz="2950" spc="-275">
                <a:latin typeface="Tahoma"/>
                <a:cs typeface="Tahoma"/>
              </a:rPr>
              <a:t> </a:t>
            </a:r>
            <a:r>
              <a:rPr dirty="0" sz="2950" spc="-45">
                <a:latin typeface="Tahoma"/>
                <a:cs typeface="Tahoma"/>
              </a:rPr>
              <a:t>expand</a:t>
            </a:r>
            <a:r>
              <a:rPr dirty="0" sz="2950" spc="-275">
                <a:latin typeface="Tahoma"/>
                <a:cs typeface="Tahoma"/>
              </a:rPr>
              <a:t> </a:t>
            </a:r>
            <a:r>
              <a:rPr dirty="0" sz="2950">
                <a:latin typeface="Tahoma"/>
                <a:cs typeface="Tahoma"/>
              </a:rPr>
              <a:t>its</a:t>
            </a:r>
            <a:r>
              <a:rPr dirty="0" sz="2950" spc="-275">
                <a:latin typeface="Tahoma"/>
                <a:cs typeface="Tahoma"/>
              </a:rPr>
              <a:t> </a:t>
            </a:r>
            <a:r>
              <a:rPr dirty="0" sz="2950" spc="-30">
                <a:latin typeface="Tahoma"/>
                <a:cs typeface="Tahoma"/>
              </a:rPr>
              <a:t>lending</a:t>
            </a:r>
            <a:r>
              <a:rPr dirty="0" sz="2950" spc="-275">
                <a:latin typeface="Tahoma"/>
                <a:cs typeface="Tahoma"/>
              </a:rPr>
              <a:t> </a:t>
            </a:r>
            <a:r>
              <a:rPr dirty="0" sz="2950" spc="-10">
                <a:latin typeface="Tahoma"/>
                <a:cs typeface="Tahoma"/>
              </a:rPr>
              <a:t>portfolio.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01898" y="8229600"/>
            <a:ext cx="3086100" cy="2057400"/>
            <a:chOff x="15201898" y="8229600"/>
            <a:chExt cx="3086100" cy="2057400"/>
          </a:xfrm>
        </p:grpSpPr>
        <p:sp>
          <p:nvSpPr>
            <p:cNvPr id="3" name="object 3"/>
            <p:cNvSpPr/>
            <p:nvPr/>
          </p:nvSpPr>
          <p:spPr>
            <a:xfrm>
              <a:off x="15201898" y="9882037"/>
              <a:ext cx="3086100" cy="405130"/>
            </a:xfrm>
            <a:custGeom>
              <a:avLst/>
              <a:gdLst/>
              <a:ahLst/>
              <a:cxnLst/>
              <a:rect l="l" t="t" r="r" b="b"/>
              <a:pathLst>
                <a:path w="3086100" h="405129">
                  <a:moveTo>
                    <a:pt x="188464" y="404962"/>
                  </a:moveTo>
                  <a:lnTo>
                    <a:pt x="0" y="404962"/>
                  </a:lnTo>
                  <a:lnTo>
                    <a:pt x="3713" y="350157"/>
                  </a:lnTo>
                  <a:lnTo>
                    <a:pt x="14524" y="297542"/>
                  </a:lnTo>
                  <a:lnTo>
                    <a:pt x="31940" y="247609"/>
                  </a:lnTo>
                  <a:lnTo>
                    <a:pt x="55468" y="200853"/>
                  </a:lnTo>
                  <a:lnTo>
                    <a:pt x="84616" y="157769"/>
                  </a:lnTo>
                  <a:lnTo>
                    <a:pt x="118889" y="118850"/>
                  </a:lnTo>
                  <a:lnTo>
                    <a:pt x="157805" y="84579"/>
                  </a:lnTo>
                  <a:lnTo>
                    <a:pt x="200882" y="55439"/>
                  </a:lnTo>
                  <a:lnTo>
                    <a:pt x="247629" y="31921"/>
                  </a:lnTo>
                  <a:lnTo>
                    <a:pt x="297552" y="14514"/>
                  </a:lnTo>
                  <a:lnTo>
                    <a:pt x="350160" y="3710"/>
                  </a:lnTo>
                  <a:lnTo>
                    <a:pt x="404962" y="0"/>
                  </a:lnTo>
                  <a:lnTo>
                    <a:pt x="3086099" y="0"/>
                  </a:lnTo>
                  <a:lnTo>
                    <a:pt x="3086099" y="188424"/>
                  </a:lnTo>
                  <a:lnTo>
                    <a:pt x="404962" y="188424"/>
                  </a:lnTo>
                  <a:lnTo>
                    <a:pt x="361522" y="192848"/>
                  </a:lnTo>
                  <a:lnTo>
                    <a:pt x="320968" y="205523"/>
                  </a:lnTo>
                  <a:lnTo>
                    <a:pt x="284197" y="225561"/>
                  </a:lnTo>
                  <a:lnTo>
                    <a:pt x="252109" y="252070"/>
                  </a:lnTo>
                  <a:lnTo>
                    <a:pt x="225601" y="284175"/>
                  </a:lnTo>
                  <a:lnTo>
                    <a:pt x="205563" y="320948"/>
                  </a:lnTo>
                  <a:lnTo>
                    <a:pt x="192887" y="361505"/>
                  </a:lnTo>
                  <a:lnTo>
                    <a:pt x="188464" y="404962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854296" y="8229600"/>
              <a:ext cx="810260" cy="2057400"/>
            </a:xfrm>
            <a:custGeom>
              <a:avLst/>
              <a:gdLst/>
              <a:ahLst/>
              <a:cxnLst/>
              <a:rect l="l" t="t" r="r" b="b"/>
              <a:pathLst>
                <a:path w="810259" h="2057400">
                  <a:moveTo>
                    <a:pt x="188464" y="1665276"/>
                  </a:moveTo>
                  <a:lnTo>
                    <a:pt x="39" y="1665276"/>
                  </a:lnTo>
                  <a:lnTo>
                    <a:pt x="39" y="404962"/>
                  </a:lnTo>
                  <a:lnTo>
                    <a:pt x="3752" y="350160"/>
                  </a:lnTo>
                  <a:lnTo>
                    <a:pt x="14563" y="297552"/>
                  </a:lnTo>
                  <a:lnTo>
                    <a:pt x="31980" y="247629"/>
                  </a:lnTo>
                  <a:lnTo>
                    <a:pt x="55508" y="200882"/>
                  </a:lnTo>
                  <a:lnTo>
                    <a:pt x="84655" y="157805"/>
                  </a:lnTo>
                  <a:lnTo>
                    <a:pt x="118928" y="118889"/>
                  </a:lnTo>
                  <a:lnTo>
                    <a:pt x="157845" y="84616"/>
                  </a:lnTo>
                  <a:lnTo>
                    <a:pt x="200922" y="55468"/>
                  </a:lnTo>
                  <a:lnTo>
                    <a:pt x="247668" y="31940"/>
                  </a:lnTo>
                  <a:lnTo>
                    <a:pt x="297591" y="14524"/>
                  </a:lnTo>
                  <a:lnTo>
                    <a:pt x="350199" y="3713"/>
                  </a:lnTo>
                  <a:lnTo>
                    <a:pt x="405001" y="0"/>
                  </a:lnTo>
                  <a:lnTo>
                    <a:pt x="459803" y="3713"/>
                  </a:lnTo>
                  <a:lnTo>
                    <a:pt x="512413" y="14524"/>
                  </a:lnTo>
                  <a:lnTo>
                    <a:pt x="562339" y="31940"/>
                  </a:lnTo>
                  <a:lnTo>
                    <a:pt x="609092" y="55468"/>
                  </a:lnTo>
                  <a:lnTo>
                    <a:pt x="652180" y="84616"/>
                  </a:lnTo>
                  <a:lnTo>
                    <a:pt x="691113" y="118889"/>
                  </a:lnTo>
                  <a:lnTo>
                    <a:pt x="725370" y="157805"/>
                  </a:lnTo>
                  <a:lnTo>
                    <a:pt x="746080" y="188424"/>
                  </a:lnTo>
                  <a:lnTo>
                    <a:pt x="405001" y="188424"/>
                  </a:lnTo>
                  <a:lnTo>
                    <a:pt x="361561" y="192854"/>
                  </a:lnTo>
                  <a:lnTo>
                    <a:pt x="321007" y="205543"/>
                  </a:lnTo>
                  <a:lnTo>
                    <a:pt x="284237" y="225594"/>
                  </a:lnTo>
                  <a:lnTo>
                    <a:pt x="252149" y="252109"/>
                  </a:lnTo>
                  <a:lnTo>
                    <a:pt x="225634" y="284197"/>
                  </a:lnTo>
                  <a:lnTo>
                    <a:pt x="205582" y="320968"/>
                  </a:lnTo>
                  <a:lnTo>
                    <a:pt x="192893" y="361522"/>
                  </a:lnTo>
                  <a:lnTo>
                    <a:pt x="188464" y="404962"/>
                  </a:lnTo>
                  <a:lnTo>
                    <a:pt x="188464" y="1665276"/>
                  </a:lnTo>
                  <a:close/>
                </a:path>
                <a:path w="810259" h="2057400">
                  <a:moveTo>
                    <a:pt x="809963" y="2057399"/>
                  </a:moveTo>
                  <a:lnTo>
                    <a:pt x="621499" y="2057399"/>
                  </a:lnTo>
                  <a:lnTo>
                    <a:pt x="621499" y="404962"/>
                  </a:lnTo>
                  <a:lnTo>
                    <a:pt x="617070" y="361522"/>
                  </a:lnTo>
                  <a:lnTo>
                    <a:pt x="604380" y="320968"/>
                  </a:lnTo>
                  <a:lnTo>
                    <a:pt x="584329" y="284197"/>
                  </a:lnTo>
                  <a:lnTo>
                    <a:pt x="557814" y="252109"/>
                  </a:lnTo>
                  <a:lnTo>
                    <a:pt x="525732" y="225594"/>
                  </a:lnTo>
                  <a:lnTo>
                    <a:pt x="488976" y="205543"/>
                  </a:lnTo>
                  <a:lnTo>
                    <a:pt x="448435" y="192854"/>
                  </a:lnTo>
                  <a:lnTo>
                    <a:pt x="405001" y="188424"/>
                  </a:lnTo>
                  <a:lnTo>
                    <a:pt x="746080" y="188424"/>
                  </a:lnTo>
                  <a:lnTo>
                    <a:pt x="778027" y="247629"/>
                  </a:lnTo>
                  <a:lnTo>
                    <a:pt x="795440" y="297552"/>
                  </a:lnTo>
                  <a:lnTo>
                    <a:pt x="806250" y="350160"/>
                  </a:lnTo>
                  <a:lnTo>
                    <a:pt x="809963" y="404962"/>
                  </a:lnTo>
                  <a:lnTo>
                    <a:pt x="809963" y="2057399"/>
                  </a:lnTo>
                  <a:close/>
                </a:path>
                <a:path w="810259" h="2057400">
                  <a:moveTo>
                    <a:pt x="188464" y="2057399"/>
                  </a:moveTo>
                  <a:lnTo>
                    <a:pt x="0" y="2057399"/>
                  </a:lnTo>
                  <a:lnTo>
                    <a:pt x="0" y="1825549"/>
                  </a:lnTo>
                  <a:lnTo>
                    <a:pt x="188464" y="1825549"/>
                  </a:lnTo>
                  <a:lnTo>
                    <a:pt x="188464" y="2057399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3086100" cy="2057400"/>
            <a:chOff x="0" y="0"/>
            <a:chExt cx="3086100" cy="205740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3086100" cy="405130"/>
            </a:xfrm>
            <a:custGeom>
              <a:avLst/>
              <a:gdLst/>
              <a:ahLst/>
              <a:cxnLst/>
              <a:rect l="l" t="t" r="r" b="b"/>
              <a:pathLst>
                <a:path w="3086100" h="405130">
                  <a:moveTo>
                    <a:pt x="2681137" y="404962"/>
                  </a:moveTo>
                  <a:lnTo>
                    <a:pt x="0" y="404962"/>
                  </a:lnTo>
                  <a:lnTo>
                    <a:pt x="0" y="216537"/>
                  </a:lnTo>
                  <a:lnTo>
                    <a:pt x="2681137" y="216537"/>
                  </a:lnTo>
                  <a:lnTo>
                    <a:pt x="2724577" y="212108"/>
                  </a:lnTo>
                  <a:lnTo>
                    <a:pt x="2765131" y="199418"/>
                  </a:lnTo>
                  <a:lnTo>
                    <a:pt x="2801901" y="179367"/>
                  </a:lnTo>
                  <a:lnTo>
                    <a:pt x="2833989" y="152852"/>
                  </a:lnTo>
                  <a:lnTo>
                    <a:pt x="2860498" y="120764"/>
                  </a:lnTo>
                  <a:lnTo>
                    <a:pt x="2880536" y="83994"/>
                  </a:lnTo>
                  <a:lnTo>
                    <a:pt x="2893212" y="43439"/>
                  </a:lnTo>
                  <a:lnTo>
                    <a:pt x="2897635" y="0"/>
                  </a:lnTo>
                  <a:lnTo>
                    <a:pt x="3086099" y="0"/>
                  </a:lnTo>
                  <a:lnTo>
                    <a:pt x="3082386" y="54801"/>
                  </a:lnTo>
                  <a:lnTo>
                    <a:pt x="3071575" y="107409"/>
                  </a:lnTo>
                  <a:lnTo>
                    <a:pt x="3054158" y="157333"/>
                  </a:lnTo>
                  <a:lnTo>
                    <a:pt x="3030630" y="204079"/>
                  </a:lnTo>
                  <a:lnTo>
                    <a:pt x="3001483" y="247156"/>
                  </a:lnTo>
                  <a:lnTo>
                    <a:pt x="2967210" y="286072"/>
                  </a:lnTo>
                  <a:lnTo>
                    <a:pt x="2928293" y="320345"/>
                  </a:lnTo>
                  <a:lnTo>
                    <a:pt x="2885216" y="349493"/>
                  </a:lnTo>
                  <a:lnTo>
                    <a:pt x="2838470" y="373021"/>
                  </a:lnTo>
                  <a:lnTo>
                    <a:pt x="2788547" y="390437"/>
                  </a:lnTo>
                  <a:lnTo>
                    <a:pt x="2735939" y="401248"/>
                  </a:lnTo>
                  <a:lnTo>
                    <a:pt x="2681137" y="404962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23698" y="0"/>
              <a:ext cx="810260" cy="2057400"/>
            </a:xfrm>
            <a:custGeom>
              <a:avLst/>
              <a:gdLst/>
              <a:ahLst/>
              <a:cxnLst/>
              <a:rect l="l" t="t" r="r" b="b"/>
              <a:pathLst>
                <a:path w="810260" h="2057400">
                  <a:moveTo>
                    <a:pt x="405001" y="2057399"/>
                  </a:moveTo>
                  <a:lnTo>
                    <a:pt x="350196" y="2053686"/>
                  </a:lnTo>
                  <a:lnTo>
                    <a:pt x="297581" y="2042875"/>
                  </a:lnTo>
                  <a:lnTo>
                    <a:pt x="247648" y="2025458"/>
                  </a:lnTo>
                  <a:lnTo>
                    <a:pt x="200892" y="2001930"/>
                  </a:lnTo>
                  <a:lnTo>
                    <a:pt x="157808" y="1972783"/>
                  </a:lnTo>
                  <a:lnTo>
                    <a:pt x="118889" y="1938510"/>
                  </a:lnTo>
                  <a:lnTo>
                    <a:pt x="84616" y="1899591"/>
                  </a:lnTo>
                  <a:lnTo>
                    <a:pt x="55468" y="1856507"/>
                  </a:lnTo>
                  <a:lnTo>
                    <a:pt x="31940" y="1809755"/>
                  </a:lnTo>
                  <a:lnTo>
                    <a:pt x="14524" y="1759829"/>
                  </a:lnTo>
                  <a:lnTo>
                    <a:pt x="3713" y="1707225"/>
                  </a:lnTo>
                  <a:lnTo>
                    <a:pt x="0" y="1652437"/>
                  </a:lnTo>
                  <a:lnTo>
                    <a:pt x="0" y="0"/>
                  </a:lnTo>
                  <a:lnTo>
                    <a:pt x="188464" y="0"/>
                  </a:lnTo>
                  <a:lnTo>
                    <a:pt x="188464" y="1652437"/>
                  </a:lnTo>
                  <a:lnTo>
                    <a:pt x="192893" y="1695877"/>
                  </a:lnTo>
                  <a:lnTo>
                    <a:pt x="205582" y="1736431"/>
                  </a:lnTo>
                  <a:lnTo>
                    <a:pt x="225634" y="1773201"/>
                  </a:lnTo>
                  <a:lnTo>
                    <a:pt x="252149" y="1805289"/>
                  </a:lnTo>
                  <a:lnTo>
                    <a:pt x="284237" y="1831798"/>
                  </a:lnTo>
                  <a:lnTo>
                    <a:pt x="321007" y="1851836"/>
                  </a:lnTo>
                  <a:lnTo>
                    <a:pt x="361561" y="1864512"/>
                  </a:lnTo>
                  <a:lnTo>
                    <a:pt x="405001" y="1868935"/>
                  </a:lnTo>
                  <a:lnTo>
                    <a:pt x="746092" y="1868935"/>
                  </a:lnTo>
                  <a:lnTo>
                    <a:pt x="725349" y="1899591"/>
                  </a:lnTo>
                  <a:lnTo>
                    <a:pt x="691074" y="1938510"/>
                  </a:lnTo>
                  <a:lnTo>
                    <a:pt x="652157" y="1972783"/>
                  </a:lnTo>
                  <a:lnTo>
                    <a:pt x="609080" y="2001930"/>
                  </a:lnTo>
                  <a:lnTo>
                    <a:pt x="562334" y="2025458"/>
                  </a:lnTo>
                  <a:lnTo>
                    <a:pt x="512411" y="2042875"/>
                  </a:lnTo>
                  <a:lnTo>
                    <a:pt x="459803" y="2053686"/>
                  </a:lnTo>
                  <a:lnTo>
                    <a:pt x="405001" y="2057399"/>
                  </a:lnTo>
                  <a:close/>
                </a:path>
                <a:path w="810260" h="2057400">
                  <a:moveTo>
                    <a:pt x="809963" y="234284"/>
                  </a:moveTo>
                  <a:lnTo>
                    <a:pt x="621499" y="234284"/>
                  </a:lnTo>
                  <a:lnTo>
                    <a:pt x="621499" y="0"/>
                  </a:lnTo>
                  <a:lnTo>
                    <a:pt x="809963" y="0"/>
                  </a:lnTo>
                  <a:lnTo>
                    <a:pt x="809963" y="234284"/>
                  </a:lnTo>
                  <a:close/>
                </a:path>
                <a:path w="810260" h="2057400">
                  <a:moveTo>
                    <a:pt x="746092" y="1868935"/>
                  </a:moveTo>
                  <a:lnTo>
                    <a:pt x="405001" y="1868935"/>
                  </a:lnTo>
                  <a:lnTo>
                    <a:pt x="448435" y="1864512"/>
                  </a:lnTo>
                  <a:lnTo>
                    <a:pt x="488976" y="1851836"/>
                  </a:lnTo>
                  <a:lnTo>
                    <a:pt x="525732" y="1831798"/>
                  </a:lnTo>
                  <a:lnTo>
                    <a:pt x="557814" y="1805289"/>
                  </a:lnTo>
                  <a:lnTo>
                    <a:pt x="584329" y="1773201"/>
                  </a:lnTo>
                  <a:lnTo>
                    <a:pt x="604380" y="1736431"/>
                  </a:lnTo>
                  <a:lnTo>
                    <a:pt x="617070" y="1695877"/>
                  </a:lnTo>
                  <a:lnTo>
                    <a:pt x="621499" y="1652437"/>
                  </a:lnTo>
                  <a:lnTo>
                    <a:pt x="621499" y="389963"/>
                  </a:lnTo>
                  <a:lnTo>
                    <a:pt x="809963" y="389963"/>
                  </a:lnTo>
                  <a:lnTo>
                    <a:pt x="809963" y="1652437"/>
                  </a:lnTo>
                  <a:lnTo>
                    <a:pt x="806251" y="1707225"/>
                  </a:lnTo>
                  <a:lnTo>
                    <a:pt x="795442" y="1759829"/>
                  </a:lnTo>
                  <a:lnTo>
                    <a:pt x="778028" y="1809755"/>
                  </a:lnTo>
                  <a:lnTo>
                    <a:pt x="754499" y="1856507"/>
                  </a:lnTo>
                  <a:lnTo>
                    <a:pt x="746092" y="1868935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619727" y="8303310"/>
            <a:ext cx="1289685" cy="1289685"/>
          </a:xfrm>
          <a:custGeom>
            <a:avLst/>
            <a:gdLst/>
            <a:ahLst/>
            <a:cxnLst/>
            <a:rect l="l" t="t" r="r" b="b"/>
            <a:pathLst>
              <a:path w="1289685" h="1289684">
                <a:moveTo>
                  <a:pt x="644778" y="1289556"/>
                </a:moveTo>
                <a:lnTo>
                  <a:pt x="596657" y="1287788"/>
                </a:lnTo>
                <a:lnTo>
                  <a:pt x="549497" y="1282565"/>
                </a:lnTo>
                <a:lnTo>
                  <a:pt x="503422" y="1274013"/>
                </a:lnTo>
                <a:lnTo>
                  <a:pt x="458557" y="1262257"/>
                </a:lnTo>
                <a:lnTo>
                  <a:pt x="415027" y="1247421"/>
                </a:lnTo>
                <a:lnTo>
                  <a:pt x="372956" y="1229629"/>
                </a:lnTo>
                <a:lnTo>
                  <a:pt x="332468" y="1209007"/>
                </a:lnTo>
                <a:lnTo>
                  <a:pt x="293689" y="1185678"/>
                </a:lnTo>
                <a:lnTo>
                  <a:pt x="256744" y="1159769"/>
                </a:lnTo>
                <a:lnTo>
                  <a:pt x="221756" y="1131403"/>
                </a:lnTo>
                <a:lnTo>
                  <a:pt x="188851" y="1100705"/>
                </a:lnTo>
                <a:lnTo>
                  <a:pt x="158153" y="1067800"/>
                </a:lnTo>
                <a:lnTo>
                  <a:pt x="129787" y="1032812"/>
                </a:lnTo>
                <a:lnTo>
                  <a:pt x="103877" y="995866"/>
                </a:lnTo>
                <a:lnTo>
                  <a:pt x="80549" y="957088"/>
                </a:lnTo>
                <a:lnTo>
                  <a:pt x="59927" y="916600"/>
                </a:lnTo>
                <a:lnTo>
                  <a:pt x="42135" y="874529"/>
                </a:lnTo>
                <a:lnTo>
                  <a:pt x="27299" y="830998"/>
                </a:lnTo>
                <a:lnTo>
                  <a:pt x="15542" y="786133"/>
                </a:lnTo>
                <a:lnTo>
                  <a:pt x="6991" y="740058"/>
                </a:lnTo>
                <a:lnTo>
                  <a:pt x="1768" y="692898"/>
                </a:lnTo>
                <a:lnTo>
                  <a:pt x="0" y="644778"/>
                </a:lnTo>
                <a:lnTo>
                  <a:pt x="1768" y="596657"/>
                </a:lnTo>
                <a:lnTo>
                  <a:pt x="6991" y="549497"/>
                </a:lnTo>
                <a:lnTo>
                  <a:pt x="15542" y="503422"/>
                </a:lnTo>
                <a:lnTo>
                  <a:pt x="27299" y="458557"/>
                </a:lnTo>
                <a:lnTo>
                  <a:pt x="42135" y="415027"/>
                </a:lnTo>
                <a:lnTo>
                  <a:pt x="59927" y="372956"/>
                </a:lnTo>
                <a:lnTo>
                  <a:pt x="80549" y="332468"/>
                </a:lnTo>
                <a:lnTo>
                  <a:pt x="103877" y="293689"/>
                </a:lnTo>
                <a:lnTo>
                  <a:pt x="129787" y="256744"/>
                </a:lnTo>
                <a:lnTo>
                  <a:pt x="158153" y="221756"/>
                </a:lnTo>
                <a:lnTo>
                  <a:pt x="188851" y="188851"/>
                </a:lnTo>
                <a:lnTo>
                  <a:pt x="221756" y="158153"/>
                </a:lnTo>
                <a:lnTo>
                  <a:pt x="256744" y="129787"/>
                </a:lnTo>
                <a:lnTo>
                  <a:pt x="293689" y="103877"/>
                </a:lnTo>
                <a:lnTo>
                  <a:pt x="332468" y="80549"/>
                </a:lnTo>
                <a:lnTo>
                  <a:pt x="372956" y="59927"/>
                </a:lnTo>
                <a:lnTo>
                  <a:pt x="415027" y="42135"/>
                </a:lnTo>
                <a:lnTo>
                  <a:pt x="458557" y="27299"/>
                </a:lnTo>
                <a:lnTo>
                  <a:pt x="503422" y="15542"/>
                </a:lnTo>
                <a:lnTo>
                  <a:pt x="549497" y="6991"/>
                </a:lnTo>
                <a:lnTo>
                  <a:pt x="596657" y="1768"/>
                </a:lnTo>
                <a:lnTo>
                  <a:pt x="644778" y="0"/>
                </a:lnTo>
                <a:lnTo>
                  <a:pt x="692898" y="1768"/>
                </a:lnTo>
                <a:lnTo>
                  <a:pt x="740058" y="6991"/>
                </a:lnTo>
                <a:lnTo>
                  <a:pt x="786133" y="15542"/>
                </a:lnTo>
                <a:lnTo>
                  <a:pt x="830998" y="27299"/>
                </a:lnTo>
                <a:lnTo>
                  <a:pt x="874529" y="42135"/>
                </a:lnTo>
                <a:lnTo>
                  <a:pt x="916600" y="59927"/>
                </a:lnTo>
                <a:lnTo>
                  <a:pt x="957088" y="80549"/>
                </a:lnTo>
                <a:lnTo>
                  <a:pt x="995866" y="103877"/>
                </a:lnTo>
                <a:lnTo>
                  <a:pt x="1032812" y="129787"/>
                </a:lnTo>
                <a:lnTo>
                  <a:pt x="1067800" y="158153"/>
                </a:lnTo>
                <a:lnTo>
                  <a:pt x="1100705" y="188851"/>
                </a:lnTo>
                <a:lnTo>
                  <a:pt x="1131403" y="221756"/>
                </a:lnTo>
                <a:lnTo>
                  <a:pt x="1159769" y="256744"/>
                </a:lnTo>
                <a:lnTo>
                  <a:pt x="1185678" y="293689"/>
                </a:lnTo>
                <a:lnTo>
                  <a:pt x="1209007" y="332468"/>
                </a:lnTo>
                <a:lnTo>
                  <a:pt x="1229629" y="372956"/>
                </a:lnTo>
                <a:lnTo>
                  <a:pt x="1247421" y="415027"/>
                </a:lnTo>
                <a:lnTo>
                  <a:pt x="1262257" y="458557"/>
                </a:lnTo>
                <a:lnTo>
                  <a:pt x="1274013" y="503422"/>
                </a:lnTo>
                <a:lnTo>
                  <a:pt x="1282565" y="549497"/>
                </a:lnTo>
                <a:lnTo>
                  <a:pt x="1287788" y="596657"/>
                </a:lnTo>
                <a:lnTo>
                  <a:pt x="1289556" y="644778"/>
                </a:lnTo>
                <a:lnTo>
                  <a:pt x="1287788" y="692898"/>
                </a:lnTo>
                <a:lnTo>
                  <a:pt x="1282565" y="740058"/>
                </a:lnTo>
                <a:lnTo>
                  <a:pt x="1274013" y="786133"/>
                </a:lnTo>
                <a:lnTo>
                  <a:pt x="1262257" y="830998"/>
                </a:lnTo>
                <a:lnTo>
                  <a:pt x="1247421" y="874529"/>
                </a:lnTo>
                <a:lnTo>
                  <a:pt x="1229629" y="916600"/>
                </a:lnTo>
                <a:lnTo>
                  <a:pt x="1209007" y="957088"/>
                </a:lnTo>
                <a:lnTo>
                  <a:pt x="1185678" y="995866"/>
                </a:lnTo>
                <a:lnTo>
                  <a:pt x="1159769" y="1032812"/>
                </a:lnTo>
                <a:lnTo>
                  <a:pt x="1131403" y="1067800"/>
                </a:lnTo>
                <a:lnTo>
                  <a:pt x="1100705" y="1100705"/>
                </a:lnTo>
                <a:lnTo>
                  <a:pt x="1067800" y="1131403"/>
                </a:lnTo>
                <a:lnTo>
                  <a:pt x="1032812" y="1159769"/>
                </a:lnTo>
                <a:lnTo>
                  <a:pt x="995866" y="1185678"/>
                </a:lnTo>
                <a:lnTo>
                  <a:pt x="957088" y="1209007"/>
                </a:lnTo>
                <a:lnTo>
                  <a:pt x="916600" y="1229629"/>
                </a:lnTo>
                <a:lnTo>
                  <a:pt x="874529" y="1247421"/>
                </a:lnTo>
                <a:lnTo>
                  <a:pt x="830998" y="1262257"/>
                </a:lnTo>
                <a:lnTo>
                  <a:pt x="786133" y="1274013"/>
                </a:lnTo>
                <a:lnTo>
                  <a:pt x="740058" y="1282565"/>
                </a:lnTo>
                <a:lnTo>
                  <a:pt x="692898" y="1287788"/>
                </a:lnTo>
                <a:lnTo>
                  <a:pt x="644778" y="1289556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5716310" y="807480"/>
            <a:ext cx="995044" cy="995044"/>
          </a:xfrm>
          <a:custGeom>
            <a:avLst/>
            <a:gdLst/>
            <a:ahLst/>
            <a:cxnLst/>
            <a:rect l="l" t="t" r="r" b="b"/>
            <a:pathLst>
              <a:path w="995044" h="995044">
                <a:moveTo>
                  <a:pt x="497399" y="994799"/>
                </a:moveTo>
                <a:lnTo>
                  <a:pt x="449496" y="992522"/>
                </a:lnTo>
                <a:lnTo>
                  <a:pt x="402882" y="985830"/>
                </a:lnTo>
                <a:lnTo>
                  <a:pt x="357764" y="974932"/>
                </a:lnTo>
                <a:lnTo>
                  <a:pt x="314351" y="960035"/>
                </a:lnTo>
                <a:lnTo>
                  <a:pt x="272852" y="941349"/>
                </a:lnTo>
                <a:lnTo>
                  <a:pt x="233475" y="919082"/>
                </a:lnTo>
                <a:lnTo>
                  <a:pt x="196429" y="893442"/>
                </a:lnTo>
                <a:lnTo>
                  <a:pt x="161921" y="864638"/>
                </a:lnTo>
                <a:lnTo>
                  <a:pt x="130161" y="832877"/>
                </a:lnTo>
                <a:lnTo>
                  <a:pt x="101357" y="798370"/>
                </a:lnTo>
                <a:lnTo>
                  <a:pt x="75717" y="761323"/>
                </a:lnTo>
                <a:lnTo>
                  <a:pt x="53449" y="721946"/>
                </a:lnTo>
                <a:lnTo>
                  <a:pt x="34763" y="680447"/>
                </a:lnTo>
                <a:lnTo>
                  <a:pt x="19867" y="637035"/>
                </a:lnTo>
                <a:lnTo>
                  <a:pt x="8968" y="591917"/>
                </a:lnTo>
                <a:lnTo>
                  <a:pt x="2276" y="545302"/>
                </a:lnTo>
                <a:lnTo>
                  <a:pt x="0" y="497399"/>
                </a:lnTo>
                <a:lnTo>
                  <a:pt x="2276" y="449496"/>
                </a:lnTo>
                <a:lnTo>
                  <a:pt x="8968" y="402882"/>
                </a:lnTo>
                <a:lnTo>
                  <a:pt x="19867" y="357764"/>
                </a:lnTo>
                <a:lnTo>
                  <a:pt x="34763" y="314351"/>
                </a:lnTo>
                <a:lnTo>
                  <a:pt x="53449" y="272852"/>
                </a:lnTo>
                <a:lnTo>
                  <a:pt x="75717" y="233475"/>
                </a:lnTo>
                <a:lnTo>
                  <a:pt x="101357" y="196429"/>
                </a:lnTo>
                <a:lnTo>
                  <a:pt x="130161" y="161921"/>
                </a:lnTo>
                <a:lnTo>
                  <a:pt x="161921" y="130161"/>
                </a:lnTo>
                <a:lnTo>
                  <a:pt x="196429" y="101357"/>
                </a:lnTo>
                <a:lnTo>
                  <a:pt x="233475" y="75717"/>
                </a:lnTo>
                <a:lnTo>
                  <a:pt x="272852" y="53449"/>
                </a:lnTo>
                <a:lnTo>
                  <a:pt x="314351" y="34763"/>
                </a:lnTo>
                <a:lnTo>
                  <a:pt x="357764" y="19867"/>
                </a:lnTo>
                <a:lnTo>
                  <a:pt x="402882" y="8968"/>
                </a:lnTo>
                <a:lnTo>
                  <a:pt x="449496" y="2276"/>
                </a:lnTo>
                <a:lnTo>
                  <a:pt x="497399" y="0"/>
                </a:lnTo>
                <a:lnTo>
                  <a:pt x="545302" y="2276"/>
                </a:lnTo>
                <a:lnTo>
                  <a:pt x="591917" y="8968"/>
                </a:lnTo>
                <a:lnTo>
                  <a:pt x="637035" y="19867"/>
                </a:lnTo>
                <a:lnTo>
                  <a:pt x="680447" y="34763"/>
                </a:lnTo>
                <a:lnTo>
                  <a:pt x="721946" y="53449"/>
                </a:lnTo>
                <a:lnTo>
                  <a:pt x="761323" y="75717"/>
                </a:lnTo>
                <a:lnTo>
                  <a:pt x="798370" y="101357"/>
                </a:lnTo>
                <a:lnTo>
                  <a:pt x="832877" y="130161"/>
                </a:lnTo>
                <a:lnTo>
                  <a:pt x="864638" y="161921"/>
                </a:lnTo>
                <a:lnTo>
                  <a:pt x="893442" y="196429"/>
                </a:lnTo>
                <a:lnTo>
                  <a:pt x="919082" y="233475"/>
                </a:lnTo>
                <a:lnTo>
                  <a:pt x="941349" y="272852"/>
                </a:lnTo>
                <a:lnTo>
                  <a:pt x="960035" y="314351"/>
                </a:lnTo>
                <a:lnTo>
                  <a:pt x="974932" y="357764"/>
                </a:lnTo>
                <a:lnTo>
                  <a:pt x="985830" y="402882"/>
                </a:lnTo>
                <a:lnTo>
                  <a:pt x="992522" y="449496"/>
                </a:lnTo>
                <a:lnTo>
                  <a:pt x="994799" y="497399"/>
                </a:lnTo>
                <a:lnTo>
                  <a:pt x="992522" y="545302"/>
                </a:lnTo>
                <a:lnTo>
                  <a:pt x="985830" y="591917"/>
                </a:lnTo>
                <a:lnTo>
                  <a:pt x="974932" y="637035"/>
                </a:lnTo>
                <a:lnTo>
                  <a:pt x="960035" y="680447"/>
                </a:lnTo>
                <a:lnTo>
                  <a:pt x="941349" y="721946"/>
                </a:lnTo>
                <a:lnTo>
                  <a:pt x="919082" y="761323"/>
                </a:lnTo>
                <a:lnTo>
                  <a:pt x="893442" y="798370"/>
                </a:lnTo>
                <a:lnTo>
                  <a:pt x="864638" y="832877"/>
                </a:lnTo>
                <a:lnTo>
                  <a:pt x="832877" y="864638"/>
                </a:lnTo>
                <a:lnTo>
                  <a:pt x="798370" y="893442"/>
                </a:lnTo>
                <a:lnTo>
                  <a:pt x="761323" y="919082"/>
                </a:lnTo>
                <a:lnTo>
                  <a:pt x="721946" y="941349"/>
                </a:lnTo>
                <a:lnTo>
                  <a:pt x="680447" y="960035"/>
                </a:lnTo>
                <a:lnTo>
                  <a:pt x="637035" y="974932"/>
                </a:lnTo>
                <a:lnTo>
                  <a:pt x="591917" y="985830"/>
                </a:lnTo>
                <a:lnTo>
                  <a:pt x="545302" y="992522"/>
                </a:lnTo>
                <a:lnTo>
                  <a:pt x="497399" y="994799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2463" y="2325491"/>
            <a:ext cx="5953124" cy="5381624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193317" y="965263"/>
            <a:ext cx="990155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5"/>
              <a:t>FORWARD</a:t>
            </a:r>
            <a:r>
              <a:rPr dirty="0" spc="-440"/>
              <a:t> </a:t>
            </a:r>
            <a:r>
              <a:rPr dirty="0" spc="-300"/>
              <a:t>OUTLOOK</a:t>
            </a:r>
            <a:r>
              <a:rPr dirty="0" spc="-434"/>
              <a:t> </a:t>
            </a:r>
            <a:r>
              <a:rPr dirty="0" spc="-375"/>
              <a:t>G</a:t>
            </a:r>
            <a:r>
              <a:rPr dirty="0" spc="-434"/>
              <a:t> </a:t>
            </a:r>
            <a:r>
              <a:rPr dirty="0" spc="-270"/>
              <a:t>FORECAST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225466" y="2404288"/>
            <a:ext cx="3836670" cy="38481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 sz="2950" spc="-130" b="1">
                <a:solidFill>
                  <a:srgbClr val="282828"/>
                </a:solidFill>
                <a:latin typeface="Tahoma"/>
                <a:cs typeface="Tahoma"/>
              </a:rPr>
              <a:t>Forecast</a:t>
            </a:r>
            <a:r>
              <a:rPr dirty="0" sz="2950" spc="-220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10" b="1">
                <a:solidFill>
                  <a:srgbClr val="282828"/>
                </a:solidFill>
                <a:latin typeface="Tahoma"/>
                <a:cs typeface="Tahoma"/>
              </a:rPr>
              <a:t>Assumptions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FY2027E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Loan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Growth: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12%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Deposit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Growth:</a:t>
            </a:r>
            <a:r>
              <a:rPr dirty="0" sz="295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13%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Growth: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10%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PAT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5">
                <a:solidFill>
                  <a:srgbClr val="282828"/>
                </a:solidFill>
                <a:latin typeface="Tahoma"/>
                <a:cs typeface="Tahoma"/>
              </a:rPr>
              <a:t>Growth: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12%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2950" spc="-110">
                <a:solidFill>
                  <a:srgbClr val="282828"/>
                </a:solidFill>
                <a:latin typeface="Tahoma"/>
                <a:cs typeface="Tahoma"/>
              </a:rPr>
              <a:t>NIM:</a:t>
            </a:r>
            <a:r>
              <a:rPr dirty="0" sz="2950" spc="-2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3.50%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9887" y="3652104"/>
            <a:ext cx="104775" cy="1047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9887" y="5480904"/>
            <a:ext cx="104775" cy="1047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89887" y="7309704"/>
            <a:ext cx="104775" cy="1047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1181912" y="2232135"/>
            <a:ext cx="6030595" cy="622300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363980">
              <a:lnSpc>
                <a:spcPct val="100000"/>
              </a:lnSpc>
              <a:spcBef>
                <a:spcPts val="1460"/>
              </a:spcBef>
            </a:pPr>
            <a:r>
              <a:rPr dirty="0" sz="2950" spc="-155" b="1">
                <a:solidFill>
                  <a:srgbClr val="282828"/>
                </a:solidFill>
                <a:latin typeface="Tahoma"/>
                <a:cs typeface="Tahoma"/>
              </a:rPr>
              <a:t>Analyst</a:t>
            </a:r>
            <a:r>
              <a:rPr dirty="0" sz="2950" spc="-225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 b="1">
                <a:solidFill>
                  <a:srgbClr val="282828"/>
                </a:solidFill>
                <a:latin typeface="Tahoma"/>
                <a:cs typeface="Tahoma"/>
              </a:rPr>
              <a:t>View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2600" spc="-35">
                <a:solidFill>
                  <a:srgbClr val="282828"/>
                </a:solidFill>
                <a:latin typeface="Tahoma"/>
                <a:cs typeface="Tahoma"/>
              </a:rPr>
              <a:t>Growth</a:t>
            </a:r>
            <a:r>
              <a:rPr dirty="0" sz="26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Outlook</a:t>
            </a:r>
            <a:endParaRPr sz="2600">
              <a:latin typeface="Tahoma"/>
              <a:cs typeface="Tahoma"/>
            </a:endParaRPr>
          </a:p>
          <a:p>
            <a:pPr marL="572135" marR="5080">
              <a:lnSpc>
                <a:spcPct val="115399"/>
              </a:lnSpc>
            </a:pP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Continued</a:t>
            </a:r>
            <a:r>
              <a:rPr dirty="0" sz="2600" spc="-2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balance-sheet</a:t>
            </a:r>
            <a:r>
              <a:rPr dirty="0" sz="2600" spc="-1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282828"/>
                </a:solidFill>
                <a:latin typeface="Tahoma"/>
                <a:cs typeface="Tahoma"/>
              </a:rPr>
              <a:t>expansion</a:t>
            </a:r>
            <a:r>
              <a:rPr dirty="0" sz="2600" spc="-19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25">
                <a:solidFill>
                  <a:srgbClr val="282828"/>
                </a:solidFill>
                <a:latin typeface="Tahoma"/>
                <a:cs typeface="Tahoma"/>
              </a:rPr>
              <a:t>is </a:t>
            </a:r>
            <a:r>
              <a:rPr dirty="0" sz="2600" spc="-25">
                <a:solidFill>
                  <a:srgbClr val="282828"/>
                </a:solidFill>
                <a:latin typeface="Tahoma"/>
                <a:cs typeface="Tahoma"/>
              </a:rPr>
              <a:t>expected,</a:t>
            </a:r>
            <a:r>
              <a:rPr dirty="0" sz="260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supported</a:t>
            </a:r>
            <a:r>
              <a:rPr dirty="0" sz="260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80">
                <a:solidFill>
                  <a:srgbClr val="282828"/>
                </a:solidFill>
                <a:latin typeface="Tahoma"/>
                <a:cs typeface="Tahoma"/>
              </a:rPr>
              <a:t>by</a:t>
            </a:r>
            <a:r>
              <a:rPr dirty="0" sz="260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loan</a:t>
            </a:r>
            <a:r>
              <a:rPr dirty="0" sz="260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282828"/>
                </a:solidFill>
                <a:latin typeface="Tahoma"/>
                <a:cs typeface="Tahoma"/>
              </a:rPr>
              <a:t>and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deposit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growth.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 spc="-45">
                <a:solidFill>
                  <a:srgbClr val="282828"/>
                </a:solidFill>
                <a:latin typeface="Tahoma"/>
                <a:cs typeface="Tahoma"/>
              </a:rPr>
              <a:t>Earnings</a:t>
            </a:r>
            <a:r>
              <a:rPr dirty="0" sz="2600" spc="-22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Outlook</a:t>
            </a:r>
            <a:endParaRPr sz="2600">
              <a:latin typeface="Tahoma"/>
              <a:cs typeface="Tahoma"/>
            </a:endParaRPr>
          </a:p>
          <a:p>
            <a:pPr marL="572135" marR="75565">
              <a:lnSpc>
                <a:spcPct val="115399"/>
              </a:lnSpc>
            </a:pPr>
            <a:r>
              <a:rPr dirty="0" sz="2600" spc="-185">
                <a:solidFill>
                  <a:srgbClr val="282828"/>
                </a:solidFill>
                <a:latin typeface="Tahoma"/>
                <a:cs typeface="Tahoma"/>
              </a:rPr>
              <a:t>NII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and</a:t>
            </a:r>
            <a:r>
              <a:rPr dirty="0" sz="26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85">
                <a:solidFill>
                  <a:srgbClr val="282828"/>
                </a:solidFill>
                <a:latin typeface="Tahoma"/>
                <a:cs typeface="Tahoma"/>
              </a:rPr>
              <a:t>PAT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45">
                <a:solidFill>
                  <a:srgbClr val="282828"/>
                </a:solidFill>
                <a:latin typeface="Tahoma"/>
                <a:cs typeface="Tahoma"/>
              </a:rPr>
              <a:t>are</a:t>
            </a:r>
            <a:r>
              <a:rPr dirty="0" sz="26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282828"/>
                </a:solidFill>
                <a:latin typeface="Tahoma"/>
                <a:cs typeface="Tahoma"/>
              </a:rPr>
              <a:t>projected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282828"/>
                </a:solidFill>
                <a:latin typeface="Tahoma"/>
                <a:cs typeface="Tahoma"/>
              </a:rPr>
              <a:t>to</a:t>
            </a:r>
            <a:r>
              <a:rPr dirty="0" sz="26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5">
                <a:solidFill>
                  <a:srgbClr val="282828"/>
                </a:solidFill>
                <a:latin typeface="Tahoma"/>
                <a:cs typeface="Tahoma"/>
              </a:rPr>
              <a:t>grow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35">
                <a:solidFill>
                  <a:srgbClr val="282828"/>
                </a:solidFill>
                <a:latin typeface="Tahoma"/>
                <a:cs typeface="Tahoma"/>
              </a:rPr>
              <a:t>at</a:t>
            </a:r>
            <a:r>
              <a:rPr dirty="0" sz="26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50">
                <a:solidFill>
                  <a:srgbClr val="282828"/>
                </a:solidFill>
                <a:latin typeface="Tahoma"/>
                <a:cs typeface="Tahoma"/>
              </a:rPr>
              <a:t>a </a:t>
            </a:r>
            <a:r>
              <a:rPr dirty="0" sz="2600" spc="-30">
                <a:solidFill>
                  <a:srgbClr val="282828"/>
                </a:solidFill>
                <a:latin typeface="Tahoma"/>
                <a:cs typeface="Tahoma"/>
              </a:rPr>
              <a:t>moderate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pace,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while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70">
                <a:solidFill>
                  <a:srgbClr val="282828"/>
                </a:solidFill>
                <a:latin typeface="Tahoma"/>
                <a:cs typeface="Tahoma"/>
              </a:rPr>
              <a:t>NIM</a:t>
            </a:r>
            <a:r>
              <a:rPr dirty="0" sz="260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50">
                <a:solidFill>
                  <a:srgbClr val="282828"/>
                </a:solidFill>
                <a:latin typeface="Tahoma"/>
                <a:cs typeface="Tahoma"/>
              </a:rPr>
              <a:t>is</a:t>
            </a:r>
            <a:r>
              <a:rPr dirty="0" sz="260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assumed </a:t>
            </a:r>
            <a:r>
              <a:rPr dirty="0" sz="2600" spc="-30">
                <a:solidFill>
                  <a:srgbClr val="282828"/>
                </a:solidFill>
                <a:latin typeface="Tahoma"/>
                <a:cs typeface="Tahoma"/>
              </a:rPr>
              <a:t>to</a:t>
            </a:r>
            <a:r>
              <a:rPr dirty="0" sz="26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282828"/>
                </a:solidFill>
                <a:latin typeface="Tahoma"/>
                <a:cs typeface="Tahoma"/>
              </a:rPr>
              <a:t>remain</a:t>
            </a:r>
            <a:r>
              <a:rPr dirty="0" sz="2600" spc="-25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282828"/>
                </a:solidFill>
                <a:latin typeface="Tahoma"/>
                <a:cs typeface="Tahoma"/>
              </a:rPr>
              <a:t>broadly</a:t>
            </a:r>
            <a:r>
              <a:rPr dirty="0" sz="260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stable.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Model</a:t>
            </a:r>
            <a:r>
              <a:rPr dirty="0" sz="2600" spc="-1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Approach</a:t>
            </a:r>
            <a:endParaRPr sz="2600">
              <a:latin typeface="Tahoma"/>
              <a:cs typeface="Tahoma"/>
            </a:endParaRPr>
          </a:p>
          <a:p>
            <a:pPr marL="572135" marR="553720">
              <a:lnSpc>
                <a:spcPct val="115399"/>
              </a:lnSpc>
            </a:pP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Forecasts</a:t>
            </a:r>
            <a:r>
              <a:rPr dirty="0" sz="26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45">
                <a:solidFill>
                  <a:srgbClr val="282828"/>
                </a:solidFill>
                <a:latin typeface="Tahoma"/>
                <a:cs typeface="Tahoma"/>
              </a:rPr>
              <a:t>are</a:t>
            </a:r>
            <a:r>
              <a:rPr dirty="0" sz="26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based</a:t>
            </a:r>
            <a:r>
              <a:rPr dirty="0" sz="26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on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analyst </a:t>
            </a:r>
            <a:r>
              <a:rPr dirty="0" sz="2600">
                <a:solidFill>
                  <a:srgbClr val="282828"/>
                </a:solidFill>
                <a:latin typeface="Tahoma"/>
                <a:cs typeface="Tahoma"/>
              </a:rPr>
              <a:t>assumptions</a:t>
            </a:r>
            <a:r>
              <a:rPr dirty="0" sz="260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and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45">
                <a:solidFill>
                  <a:srgbClr val="282828"/>
                </a:solidFill>
                <a:latin typeface="Tahoma"/>
                <a:cs typeface="Tahoma"/>
              </a:rPr>
              <a:t>are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30">
                <a:solidFill>
                  <a:srgbClr val="282828"/>
                </a:solidFill>
                <a:latin typeface="Tahoma"/>
                <a:cs typeface="Tahoma"/>
              </a:rPr>
              <a:t>not</a:t>
            </a:r>
            <a:r>
              <a:rPr dirty="0" sz="2600" spc="-229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600" spc="-10">
                <a:solidFill>
                  <a:srgbClr val="282828"/>
                </a:solidFill>
                <a:latin typeface="Tahoma"/>
                <a:cs typeface="Tahoma"/>
              </a:rPr>
              <a:t>company guidance.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343" y="8644626"/>
            <a:ext cx="16919575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46875" marR="5080" indent="-6734809">
              <a:lnSpc>
                <a:spcPct val="116500"/>
              </a:lnSpc>
              <a:spcBef>
                <a:spcPts val="100"/>
              </a:spcBef>
            </a:pPr>
            <a:r>
              <a:rPr dirty="0" sz="2950" spc="-240" b="1">
                <a:solidFill>
                  <a:srgbClr val="282828"/>
                </a:solidFill>
                <a:latin typeface="Tahoma"/>
                <a:cs typeface="Tahoma"/>
              </a:rPr>
              <a:t>Key</a:t>
            </a:r>
            <a:r>
              <a:rPr dirty="0" sz="2950" spc="-185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60" b="1">
                <a:solidFill>
                  <a:srgbClr val="282828"/>
                </a:solidFill>
                <a:latin typeface="Tahoma"/>
                <a:cs typeface="Tahoma"/>
              </a:rPr>
              <a:t>Takeaway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: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30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base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forecast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assumes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sustainable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85">
                <a:solidFill>
                  <a:srgbClr val="282828"/>
                </a:solidFill>
                <a:latin typeface="Tahoma"/>
                <a:cs typeface="Tahoma"/>
              </a:rPr>
              <a:t>growth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40">
                <a:solidFill>
                  <a:srgbClr val="282828"/>
                </a:solidFill>
                <a:latin typeface="Tahoma"/>
                <a:cs typeface="Tahoma"/>
              </a:rPr>
              <a:t>with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stable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margins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70">
                <a:solidFill>
                  <a:srgbClr val="282828"/>
                </a:solidFill>
                <a:latin typeface="Tahoma"/>
                <a:cs typeface="Tahoma"/>
              </a:rPr>
              <a:t>rather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than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aggressive </a:t>
            </a:r>
            <a:r>
              <a:rPr dirty="0" sz="2950" spc="-50">
                <a:solidFill>
                  <a:srgbClr val="282828"/>
                </a:solidFill>
                <a:latin typeface="Tahoma"/>
                <a:cs typeface="Tahoma"/>
              </a:rPr>
              <a:t>long-</a:t>
            </a:r>
            <a:r>
              <a:rPr dirty="0" sz="2950" spc="-40">
                <a:solidFill>
                  <a:srgbClr val="282828"/>
                </a:solidFill>
                <a:latin typeface="Tahoma"/>
                <a:cs typeface="Tahoma"/>
              </a:rPr>
              <a:t>term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expansion.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87586" y="326675"/>
            <a:ext cx="4200525" cy="1400175"/>
            <a:chOff x="14087586" y="326675"/>
            <a:chExt cx="4200525" cy="1400175"/>
          </a:xfrm>
        </p:grpSpPr>
        <p:sp>
          <p:nvSpPr>
            <p:cNvPr id="3" name="object 3"/>
            <p:cNvSpPr/>
            <p:nvPr/>
          </p:nvSpPr>
          <p:spPr>
            <a:xfrm>
              <a:off x="14087586" y="731499"/>
              <a:ext cx="4200525" cy="995680"/>
            </a:xfrm>
            <a:custGeom>
              <a:avLst/>
              <a:gdLst/>
              <a:ahLst/>
              <a:cxnLst/>
              <a:rect l="l" t="t" r="r" b="b"/>
              <a:pathLst>
                <a:path w="4200525" h="995680">
                  <a:moveTo>
                    <a:pt x="4200411" y="995351"/>
                  </a:moveTo>
                  <a:lnTo>
                    <a:pt x="492113" y="995351"/>
                  </a:lnTo>
                  <a:lnTo>
                    <a:pt x="447050" y="993058"/>
                  </a:lnTo>
                  <a:lnTo>
                    <a:pt x="397736" y="985482"/>
                  </a:lnTo>
                  <a:lnTo>
                    <a:pt x="350106" y="973168"/>
                  </a:lnTo>
                  <a:lnTo>
                    <a:pt x="304414" y="956372"/>
                  </a:lnTo>
                  <a:lnTo>
                    <a:pt x="260914" y="935348"/>
                  </a:lnTo>
                  <a:lnTo>
                    <a:pt x="219860" y="910354"/>
                  </a:lnTo>
                  <a:lnTo>
                    <a:pt x="181507" y="881644"/>
                  </a:lnTo>
                  <a:lnTo>
                    <a:pt x="146110" y="849474"/>
                  </a:lnTo>
                  <a:lnTo>
                    <a:pt x="113942" y="814093"/>
                  </a:lnTo>
                  <a:lnTo>
                    <a:pt x="85239" y="775748"/>
                  </a:lnTo>
                  <a:lnTo>
                    <a:pt x="60253" y="734697"/>
                  </a:lnTo>
                  <a:lnTo>
                    <a:pt x="39240" y="691198"/>
                  </a:lnTo>
                  <a:lnTo>
                    <a:pt x="22454" y="645506"/>
                  </a:lnTo>
                  <a:lnTo>
                    <a:pt x="10149" y="597879"/>
                  </a:lnTo>
                  <a:lnTo>
                    <a:pt x="2579" y="548574"/>
                  </a:lnTo>
                  <a:lnTo>
                    <a:pt x="0" y="497848"/>
                  </a:lnTo>
                  <a:lnTo>
                    <a:pt x="2579" y="447106"/>
                  </a:lnTo>
                  <a:lnTo>
                    <a:pt x="10150" y="397792"/>
                  </a:lnTo>
                  <a:lnTo>
                    <a:pt x="22457" y="350162"/>
                  </a:lnTo>
                  <a:lnTo>
                    <a:pt x="39247" y="304470"/>
                  </a:lnTo>
                  <a:lnTo>
                    <a:pt x="60267" y="260970"/>
                  </a:lnTo>
                  <a:lnTo>
                    <a:pt x="85262" y="219916"/>
                  </a:lnTo>
                  <a:lnTo>
                    <a:pt x="113980" y="181563"/>
                  </a:lnTo>
                  <a:lnTo>
                    <a:pt x="146166" y="146166"/>
                  </a:lnTo>
                  <a:lnTo>
                    <a:pt x="181563" y="113980"/>
                  </a:lnTo>
                  <a:lnTo>
                    <a:pt x="219915" y="85262"/>
                  </a:lnTo>
                  <a:lnTo>
                    <a:pt x="260967" y="60267"/>
                  </a:lnTo>
                  <a:lnTo>
                    <a:pt x="304463" y="39247"/>
                  </a:lnTo>
                  <a:lnTo>
                    <a:pt x="350149" y="22457"/>
                  </a:lnTo>
                  <a:lnTo>
                    <a:pt x="397769" y="10150"/>
                  </a:lnTo>
                  <a:lnTo>
                    <a:pt x="447068" y="2579"/>
                  </a:lnTo>
                  <a:lnTo>
                    <a:pt x="497792" y="0"/>
                  </a:lnTo>
                  <a:lnTo>
                    <a:pt x="4200411" y="0"/>
                  </a:lnTo>
                  <a:lnTo>
                    <a:pt x="4200411" y="171282"/>
                  </a:lnTo>
                  <a:lnTo>
                    <a:pt x="497792" y="171282"/>
                  </a:lnTo>
                  <a:lnTo>
                    <a:pt x="445045" y="175578"/>
                  </a:lnTo>
                  <a:lnTo>
                    <a:pt x="394929" y="188009"/>
                  </a:lnTo>
                  <a:lnTo>
                    <a:pt x="348129" y="207892"/>
                  </a:lnTo>
                  <a:lnTo>
                    <a:pt x="305329" y="234541"/>
                  </a:lnTo>
                  <a:lnTo>
                    <a:pt x="267215" y="267271"/>
                  </a:lnTo>
                  <a:lnTo>
                    <a:pt x="234485" y="305385"/>
                  </a:lnTo>
                  <a:lnTo>
                    <a:pt x="207836" y="348185"/>
                  </a:lnTo>
                  <a:lnTo>
                    <a:pt x="187953" y="394985"/>
                  </a:lnTo>
                  <a:lnTo>
                    <a:pt x="175522" y="445101"/>
                  </a:lnTo>
                  <a:lnTo>
                    <a:pt x="171226" y="497848"/>
                  </a:lnTo>
                  <a:lnTo>
                    <a:pt x="175522" y="550595"/>
                  </a:lnTo>
                  <a:lnTo>
                    <a:pt x="187953" y="600708"/>
                  </a:lnTo>
                  <a:lnTo>
                    <a:pt x="207836" y="647499"/>
                  </a:lnTo>
                  <a:lnTo>
                    <a:pt x="234485" y="690282"/>
                  </a:lnTo>
                  <a:lnTo>
                    <a:pt x="267215" y="728368"/>
                  </a:lnTo>
                  <a:lnTo>
                    <a:pt x="305329" y="761099"/>
                  </a:lnTo>
                  <a:lnTo>
                    <a:pt x="348129" y="787748"/>
                  </a:lnTo>
                  <a:lnTo>
                    <a:pt x="394929" y="807630"/>
                  </a:lnTo>
                  <a:lnTo>
                    <a:pt x="445045" y="820062"/>
                  </a:lnTo>
                  <a:lnTo>
                    <a:pt x="497792" y="824358"/>
                  </a:lnTo>
                  <a:lnTo>
                    <a:pt x="4200411" y="824358"/>
                  </a:lnTo>
                  <a:lnTo>
                    <a:pt x="4200411" y="995351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4713868" y="326675"/>
              <a:ext cx="3574415" cy="993775"/>
            </a:xfrm>
            <a:custGeom>
              <a:avLst/>
              <a:gdLst/>
              <a:ahLst/>
              <a:cxnLst/>
              <a:rect l="l" t="t" r="r" b="b"/>
              <a:pathLst>
                <a:path w="3574415" h="993775">
                  <a:moveTo>
                    <a:pt x="3574129" y="993626"/>
                  </a:moveTo>
                  <a:lnTo>
                    <a:pt x="497848" y="993626"/>
                  </a:lnTo>
                  <a:lnTo>
                    <a:pt x="447106" y="991044"/>
                  </a:lnTo>
                  <a:lnTo>
                    <a:pt x="397792" y="983468"/>
                  </a:lnTo>
                  <a:lnTo>
                    <a:pt x="350162" y="971154"/>
                  </a:lnTo>
                  <a:lnTo>
                    <a:pt x="304470" y="954358"/>
                  </a:lnTo>
                  <a:lnTo>
                    <a:pt x="260970" y="933335"/>
                  </a:lnTo>
                  <a:lnTo>
                    <a:pt x="219916" y="908340"/>
                  </a:lnTo>
                  <a:lnTo>
                    <a:pt x="181563" y="879630"/>
                  </a:lnTo>
                  <a:lnTo>
                    <a:pt x="146166" y="847460"/>
                  </a:lnTo>
                  <a:lnTo>
                    <a:pt x="113996" y="812063"/>
                  </a:lnTo>
                  <a:lnTo>
                    <a:pt x="85286" y="773710"/>
                  </a:lnTo>
                  <a:lnTo>
                    <a:pt x="60291" y="732656"/>
                  </a:lnTo>
                  <a:lnTo>
                    <a:pt x="39268" y="689156"/>
                  </a:lnTo>
                  <a:lnTo>
                    <a:pt x="22472" y="643464"/>
                  </a:lnTo>
                  <a:lnTo>
                    <a:pt x="10157" y="595834"/>
                  </a:lnTo>
                  <a:lnTo>
                    <a:pt x="2582" y="546520"/>
                  </a:lnTo>
                  <a:lnTo>
                    <a:pt x="0" y="495778"/>
                  </a:lnTo>
                  <a:lnTo>
                    <a:pt x="2579" y="445036"/>
                  </a:lnTo>
                  <a:lnTo>
                    <a:pt x="10150" y="395723"/>
                  </a:lnTo>
                  <a:lnTo>
                    <a:pt x="22457" y="348096"/>
                  </a:lnTo>
                  <a:lnTo>
                    <a:pt x="39247" y="302407"/>
                  </a:lnTo>
                  <a:lnTo>
                    <a:pt x="60267" y="258914"/>
                  </a:lnTo>
                  <a:lnTo>
                    <a:pt x="85262" y="217870"/>
                  </a:lnTo>
                  <a:lnTo>
                    <a:pt x="113980" y="179531"/>
                  </a:lnTo>
                  <a:lnTo>
                    <a:pt x="146166" y="144152"/>
                  </a:lnTo>
                  <a:lnTo>
                    <a:pt x="181545" y="111982"/>
                  </a:lnTo>
                  <a:lnTo>
                    <a:pt x="219885" y="83272"/>
                  </a:lnTo>
                  <a:lnTo>
                    <a:pt x="260931" y="58277"/>
                  </a:lnTo>
                  <a:lnTo>
                    <a:pt x="304428" y="37254"/>
                  </a:lnTo>
                  <a:lnTo>
                    <a:pt x="350123" y="20458"/>
                  </a:lnTo>
                  <a:lnTo>
                    <a:pt x="397761" y="8144"/>
                  </a:lnTo>
                  <a:lnTo>
                    <a:pt x="447087" y="568"/>
                  </a:lnTo>
                  <a:lnTo>
                    <a:pt x="458259" y="0"/>
                  </a:lnTo>
                  <a:lnTo>
                    <a:pt x="3574129" y="0"/>
                  </a:lnTo>
                  <a:lnTo>
                    <a:pt x="3574129" y="169268"/>
                  </a:lnTo>
                  <a:lnTo>
                    <a:pt x="497848" y="169268"/>
                  </a:lnTo>
                  <a:lnTo>
                    <a:pt x="445101" y="173564"/>
                  </a:lnTo>
                  <a:lnTo>
                    <a:pt x="394985" y="185996"/>
                  </a:lnTo>
                  <a:lnTo>
                    <a:pt x="348185" y="205878"/>
                  </a:lnTo>
                  <a:lnTo>
                    <a:pt x="305385" y="232527"/>
                  </a:lnTo>
                  <a:lnTo>
                    <a:pt x="267271" y="265258"/>
                  </a:lnTo>
                  <a:lnTo>
                    <a:pt x="234541" y="303371"/>
                  </a:lnTo>
                  <a:lnTo>
                    <a:pt x="207892" y="346167"/>
                  </a:lnTo>
                  <a:lnTo>
                    <a:pt x="188009" y="392959"/>
                  </a:lnTo>
                  <a:lnTo>
                    <a:pt x="175578" y="443058"/>
                  </a:lnTo>
                  <a:lnTo>
                    <a:pt x="171282" y="495778"/>
                  </a:lnTo>
                  <a:lnTo>
                    <a:pt x="175578" y="548525"/>
                  </a:lnTo>
                  <a:lnTo>
                    <a:pt x="188009" y="598641"/>
                  </a:lnTo>
                  <a:lnTo>
                    <a:pt x="207892" y="645441"/>
                  </a:lnTo>
                  <a:lnTo>
                    <a:pt x="234541" y="688241"/>
                  </a:lnTo>
                  <a:lnTo>
                    <a:pt x="267271" y="726355"/>
                  </a:lnTo>
                  <a:lnTo>
                    <a:pt x="305385" y="759085"/>
                  </a:lnTo>
                  <a:lnTo>
                    <a:pt x="348185" y="785734"/>
                  </a:lnTo>
                  <a:lnTo>
                    <a:pt x="394985" y="805617"/>
                  </a:lnTo>
                  <a:lnTo>
                    <a:pt x="445101" y="818048"/>
                  </a:lnTo>
                  <a:lnTo>
                    <a:pt x="497848" y="822344"/>
                  </a:lnTo>
                  <a:lnTo>
                    <a:pt x="3574129" y="822344"/>
                  </a:lnTo>
                  <a:lnTo>
                    <a:pt x="3574129" y="993626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/>
          <p:cNvGrpSpPr/>
          <p:nvPr/>
        </p:nvGrpSpPr>
        <p:grpSpPr>
          <a:xfrm>
            <a:off x="0" y="9584976"/>
            <a:ext cx="4197350" cy="702310"/>
            <a:chOff x="0" y="9584976"/>
            <a:chExt cx="4197350" cy="702310"/>
          </a:xfrm>
        </p:grpSpPr>
        <p:sp>
          <p:nvSpPr>
            <p:cNvPr id="6" name="object 6"/>
            <p:cNvSpPr/>
            <p:nvPr/>
          </p:nvSpPr>
          <p:spPr>
            <a:xfrm>
              <a:off x="0" y="9989799"/>
              <a:ext cx="3531870" cy="297815"/>
            </a:xfrm>
            <a:custGeom>
              <a:avLst/>
              <a:gdLst/>
              <a:ahLst/>
              <a:cxnLst/>
              <a:rect l="l" t="t" r="r" b="b"/>
              <a:pathLst>
                <a:path w="3531870" h="297815">
                  <a:moveTo>
                    <a:pt x="3531257" y="297200"/>
                  </a:moveTo>
                  <a:lnTo>
                    <a:pt x="3332448" y="297200"/>
                  </a:lnTo>
                  <a:lnTo>
                    <a:pt x="3306747" y="267271"/>
                  </a:lnTo>
                  <a:lnTo>
                    <a:pt x="3268661" y="234541"/>
                  </a:lnTo>
                  <a:lnTo>
                    <a:pt x="3225878" y="207892"/>
                  </a:lnTo>
                  <a:lnTo>
                    <a:pt x="3179086" y="188009"/>
                  </a:lnTo>
                  <a:lnTo>
                    <a:pt x="3128973" y="175578"/>
                  </a:lnTo>
                  <a:lnTo>
                    <a:pt x="3076226" y="171282"/>
                  </a:lnTo>
                  <a:lnTo>
                    <a:pt x="0" y="171282"/>
                  </a:lnTo>
                  <a:lnTo>
                    <a:pt x="0" y="0"/>
                  </a:lnTo>
                  <a:lnTo>
                    <a:pt x="3076226" y="0"/>
                  </a:lnTo>
                  <a:lnTo>
                    <a:pt x="3126953" y="2582"/>
                  </a:lnTo>
                  <a:lnTo>
                    <a:pt x="3176258" y="10157"/>
                  </a:lnTo>
                  <a:lnTo>
                    <a:pt x="3223884" y="22471"/>
                  </a:lnTo>
                  <a:lnTo>
                    <a:pt x="3269576" y="39268"/>
                  </a:lnTo>
                  <a:lnTo>
                    <a:pt x="3313076" y="60291"/>
                  </a:lnTo>
                  <a:lnTo>
                    <a:pt x="3354127" y="85286"/>
                  </a:lnTo>
                  <a:lnTo>
                    <a:pt x="3392471" y="113996"/>
                  </a:lnTo>
                  <a:lnTo>
                    <a:pt x="3427853" y="146165"/>
                  </a:lnTo>
                  <a:lnTo>
                    <a:pt x="3460023" y="181545"/>
                  </a:lnTo>
                  <a:lnTo>
                    <a:pt x="3488733" y="219885"/>
                  </a:lnTo>
                  <a:lnTo>
                    <a:pt x="3513727" y="260931"/>
                  </a:lnTo>
                  <a:lnTo>
                    <a:pt x="3531257" y="297200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9584976"/>
              <a:ext cx="4197350" cy="702310"/>
            </a:xfrm>
            <a:custGeom>
              <a:avLst/>
              <a:gdLst/>
              <a:ahLst/>
              <a:cxnLst/>
              <a:rect l="l" t="t" r="r" b="b"/>
              <a:pathLst>
                <a:path w="4197350" h="702309">
                  <a:moveTo>
                    <a:pt x="4154870" y="702023"/>
                  </a:moveTo>
                  <a:lnTo>
                    <a:pt x="3953980" y="702023"/>
                  </a:lnTo>
                  <a:lnTo>
                    <a:pt x="3965816" y="688241"/>
                  </a:lnTo>
                  <a:lnTo>
                    <a:pt x="3992464" y="645442"/>
                  </a:lnTo>
                  <a:lnTo>
                    <a:pt x="4012347" y="598642"/>
                  </a:lnTo>
                  <a:lnTo>
                    <a:pt x="4024779" y="548526"/>
                  </a:lnTo>
                  <a:lnTo>
                    <a:pt x="4029075" y="495778"/>
                  </a:lnTo>
                  <a:lnTo>
                    <a:pt x="4024779" y="443031"/>
                  </a:lnTo>
                  <a:lnTo>
                    <a:pt x="4012347" y="392918"/>
                  </a:lnTo>
                  <a:lnTo>
                    <a:pt x="3992465" y="346127"/>
                  </a:lnTo>
                  <a:lnTo>
                    <a:pt x="3965816" y="303344"/>
                  </a:lnTo>
                  <a:lnTo>
                    <a:pt x="3933085" y="265258"/>
                  </a:lnTo>
                  <a:lnTo>
                    <a:pt x="3894971" y="232549"/>
                  </a:lnTo>
                  <a:lnTo>
                    <a:pt x="3852172" y="205902"/>
                  </a:lnTo>
                  <a:lnTo>
                    <a:pt x="3805372" y="186012"/>
                  </a:lnTo>
                  <a:lnTo>
                    <a:pt x="3755256" y="173569"/>
                  </a:lnTo>
                  <a:lnTo>
                    <a:pt x="3702508" y="169268"/>
                  </a:lnTo>
                  <a:lnTo>
                    <a:pt x="0" y="169268"/>
                  </a:lnTo>
                  <a:lnTo>
                    <a:pt x="0" y="0"/>
                  </a:lnTo>
                  <a:lnTo>
                    <a:pt x="3742080" y="0"/>
                  </a:lnTo>
                  <a:lnTo>
                    <a:pt x="3753251" y="568"/>
                  </a:lnTo>
                  <a:lnTo>
                    <a:pt x="3802564" y="8144"/>
                  </a:lnTo>
                  <a:lnTo>
                    <a:pt x="3850194" y="20458"/>
                  </a:lnTo>
                  <a:lnTo>
                    <a:pt x="3895886" y="37254"/>
                  </a:lnTo>
                  <a:lnTo>
                    <a:pt x="3939386" y="58278"/>
                  </a:lnTo>
                  <a:lnTo>
                    <a:pt x="3980440" y="83272"/>
                  </a:lnTo>
                  <a:lnTo>
                    <a:pt x="4018793" y="111982"/>
                  </a:lnTo>
                  <a:lnTo>
                    <a:pt x="4054191" y="144152"/>
                  </a:lnTo>
                  <a:lnTo>
                    <a:pt x="4086361" y="179531"/>
                  </a:lnTo>
                  <a:lnTo>
                    <a:pt x="4115071" y="217870"/>
                  </a:lnTo>
                  <a:lnTo>
                    <a:pt x="4140065" y="258914"/>
                  </a:lnTo>
                  <a:lnTo>
                    <a:pt x="4161089" y="302407"/>
                  </a:lnTo>
                  <a:lnTo>
                    <a:pt x="4177885" y="348096"/>
                  </a:lnTo>
                  <a:lnTo>
                    <a:pt x="4190199" y="395723"/>
                  </a:lnTo>
                  <a:lnTo>
                    <a:pt x="4196737" y="438279"/>
                  </a:lnTo>
                  <a:lnTo>
                    <a:pt x="4196737" y="553277"/>
                  </a:lnTo>
                  <a:lnTo>
                    <a:pt x="4190199" y="595834"/>
                  </a:lnTo>
                  <a:lnTo>
                    <a:pt x="4177885" y="643464"/>
                  </a:lnTo>
                  <a:lnTo>
                    <a:pt x="4161089" y="689156"/>
                  </a:lnTo>
                  <a:lnTo>
                    <a:pt x="4154870" y="702023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767843" y="8043533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69" h="521970">
                <a:moveTo>
                  <a:pt x="260856" y="521713"/>
                </a:moveTo>
                <a:lnTo>
                  <a:pt x="213967" y="517510"/>
                </a:lnTo>
                <a:lnTo>
                  <a:pt x="169835" y="505393"/>
                </a:lnTo>
                <a:lnTo>
                  <a:pt x="129197" y="486098"/>
                </a:lnTo>
                <a:lnTo>
                  <a:pt x="92790" y="460363"/>
                </a:lnTo>
                <a:lnTo>
                  <a:pt x="61350" y="428923"/>
                </a:lnTo>
                <a:lnTo>
                  <a:pt x="35614" y="392516"/>
                </a:lnTo>
                <a:lnTo>
                  <a:pt x="16319" y="351878"/>
                </a:lnTo>
                <a:lnTo>
                  <a:pt x="4202" y="307746"/>
                </a:lnTo>
                <a:lnTo>
                  <a:pt x="0" y="260856"/>
                </a:lnTo>
                <a:lnTo>
                  <a:pt x="4202" y="213967"/>
                </a:lnTo>
                <a:lnTo>
                  <a:pt x="16319" y="169835"/>
                </a:lnTo>
                <a:lnTo>
                  <a:pt x="35614" y="129197"/>
                </a:lnTo>
                <a:lnTo>
                  <a:pt x="61350" y="92790"/>
                </a:lnTo>
                <a:lnTo>
                  <a:pt x="92790" y="61350"/>
                </a:lnTo>
                <a:lnTo>
                  <a:pt x="129197" y="35614"/>
                </a:lnTo>
                <a:lnTo>
                  <a:pt x="169835" y="16319"/>
                </a:lnTo>
                <a:lnTo>
                  <a:pt x="213967" y="4202"/>
                </a:lnTo>
                <a:lnTo>
                  <a:pt x="260856" y="0"/>
                </a:lnTo>
                <a:lnTo>
                  <a:pt x="307746" y="4202"/>
                </a:lnTo>
                <a:lnTo>
                  <a:pt x="351878" y="16319"/>
                </a:lnTo>
                <a:lnTo>
                  <a:pt x="392516" y="35614"/>
                </a:lnTo>
                <a:lnTo>
                  <a:pt x="428923" y="61350"/>
                </a:lnTo>
                <a:lnTo>
                  <a:pt x="460363" y="92790"/>
                </a:lnTo>
                <a:lnTo>
                  <a:pt x="486098" y="129197"/>
                </a:lnTo>
                <a:lnTo>
                  <a:pt x="505393" y="169835"/>
                </a:lnTo>
                <a:lnTo>
                  <a:pt x="517510" y="213967"/>
                </a:lnTo>
                <a:lnTo>
                  <a:pt x="521713" y="260856"/>
                </a:lnTo>
                <a:lnTo>
                  <a:pt x="517510" y="307746"/>
                </a:lnTo>
                <a:lnTo>
                  <a:pt x="505393" y="351878"/>
                </a:lnTo>
                <a:lnTo>
                  <a:pt x="486098" y="392516"/>
                </a:lnTo>
                <a:lnTo>
                  <a:pt x="460363" y="428923"/>
                </a:lnTo>
                <a:lnTo>
                  <a:pt x="428923" y="460363"/>
                </a:lnTo>
                <a:lnTo>
                  <a:pt x="392516" y="486098"/>
                </a:lnTo>
                <a:lnTo>
                  <a:pt x="351878" y="505393"/>
                </a:lnTo>
                <a:lnTo>
                  <a:pt x="307746" y="517510"/>
                </a:lnTo>
                <a:lnTo>
                  <a:pt x="260856" y="521713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6998444" y="2228046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69" h="521969">
                <a:moveTo>
                  <a:pt x="260856" y="521713"/>
                </a:moveTo>
                <a:lnTo>
                  <a:pt x="213967" y="517510"/>
                </a:lnTo>
                <a:lnTo>
                  <a:pt x="169835" y="505393"/>
                </a:lnTo>
                <a:lnTo>
                  <a:pt x="129197" y="486098"/>
                </a:lnTo>
                <a:lnTo>
                  <a:pt x="92790" y="460363"/>
                </a:lnTo>
                <a:lnTo>
                  <a:pt x="61350" y="428923"/>
                </a:lnTo>
                <a:lnTo>
                  <a:pt x="35614" y="392516"/>
                </a:lnTo>
                <a:lnTo>
                  <a:pt x="16319" y="351878"/>
                </a:lnTo>
                <a:lnTo>
                  <a:pt x="4202" y="307746"/>
                </a:lnTo>
                <a:lnTo>
                  <a:pt x="0" y="260856"/>
                </a:lnTo>
                <a:lnTo>
                  <a:pt x="4202" y="213967"/>
                </a:lnTo>
                <a:lnTo>
                  <a:pt x="16319" y="169835"/>
                </a:lnTo>
                <a:lnTo>
                  <a:pt x="35614" y="129197"/>
                </a:lnTo>
                <a:lnTo>
                  <a:pt x="61350" y="92790"/>
                </a:lnTo>
                <a:lnTo>
                  <a:pt x="92790" y="61350"/>
                </a:lnTo>
                <a:lnTo>
                  <a:pt x="129197" y="35614"/>
                </a:lnTo>
                <a:lnTo>
                  <a:pt x="169835" y="16319"/>
                </a:lnTo>
                <a:lnTo>
                  <a:pt x="213967" y="4202"/>
                </a:lnTo>
                <a:lnTo>
                  <a:pt x="260856" y="0"/>
                </a:lnTo>
                <a:lnTo>
                  <a:pt x="307746" y="4202"/>
                </a:lnTo>
                <a:lnTo>
                  <a:pt x="351878" y="16319"/>
                </a:lnTo>
                <a:lnTo>
                  <a:pt x="392516" y="35614"/>
                </a:lnTo>
                <a:lnTo>
                  <a:pt x="428923" y="61350"/>
                </a:lnTo>
                <a:lnTo>
                  <a:pt x="460363" y="92790"/>
                </a:lnTo>
                <a:lnTo>
                  <a:pt x="486098" y="129197"/>
                </a:lnTo>
                <a:lnTo>
                  <a:pt x="505393" y="169835"/>
                </a:lnTo>
                <a:lnTo>
                  <a:pt x="517510" y="213967"/>
                </a:lnTo>
                <a:lnTo>
                  <a:pt x="521713" y="260856"/>
                </a:lnTo>
                <a:lnTo>
                  <a:pt x="517510" y="307746"/>
                </a:lnTo>
                <a:lnTo>
                  <a:pt x="505393" y="351878"/>
                </a:lnTo>
                <a:lnTo>
                  <a:pt x="486098" y="392516"/>
                </a:lnTo>
                <a:lnTo>
                  <a:pt x="460363" y="428923"/>
                </a:lnTo>
                <a:lnTo>
                  <a:pt x="428923" y="460363"/>
                </a:lnTo>
                <a:lnTo>
                  <a:pt x="392516" y="486098"/>
                </a:lnTo>
                <a:lnTo>
                  <a:pt x="351878" y="505393"/>
                </a:lnTo>
                <a:lnTo>
                  <a:pt x="307746" y="517510"/>
                </a:lnTo>
                <a:lnTo>
                  <a:pt x="260856" y="521713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0608" y="2040075"/>
            <a:ext cx="5762624" cy="6667499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6643853" y="585850"/>
            <a:ext cx="4558030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35"/>
              <a:t>P/B</a:t>
            </a:r>
            <a:r>
              <a:rPr dirty="0" spc="-445"/>
              <a:t> </a:t>
            </a:r>
            <a:r>
              <a:rPr dirty="0" spc="-405"/>
              <a:t>VALUATION</a:t>
            </a: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599" y="2912260"/>
            <a:ext cx="114300" cy="11429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599" y="3960010"/>
            <a:ext cx="114300" cy="1142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599" y="5007760"/>
            <a:ext cx="114300" cy="1142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599" y="6055510"/>
            <a:ext cx="114300" cy="1142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599" y="7103260"/>
            <a:ext cx="114300" cy="1142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599" y="8151010"/>
            <a:ext cx="114300" cy="11429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77451" y="1726679"/>
            <a:ext cx="3060700" cy="7207884"/>
          </a:xfrm>
          <a:prstGeom prst="rect">
            <a:avLst/>
          </a:prstGeom>
        </p:spPr>
        <p:txBody>
          <a:bodyPr wrap="square" lIns="0" tIns="272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2950" spc="-175" b="1">
                <a:solidFill>
                  <a:srgbClr val="282828"/>
                </a:solidFill>
                <a:latin typeface="Tahoma"/>
                <a:cs typeface="Tahoma"/>
              </a:rPr>
              <a:t>Valuation</a:t>
            </a:r>
            <a:r>
              <a:rPr dirty="0" sz="2950" spc="-185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 b="1">
                <a:solidFill>
                  <a:srgbClr val="282828"/>
                </a:solidFill>
                <a:latin typeface="Tahoma"/>
                <a:cs typeface="Tahoma"/>
              </a:rPr>
              <a:t>Metrics</a:t>
            </a:r>
            <a:endParaRPr sz="2950">
              <a:latin typeface="Tahoma"/>
              <a:cs typeface="Tahoma"/>
            </a:endParaRPr>
          </a:p>
          <a:p>
            <a:pPr marL="388620">
              <a:lnSpc>
                <a:spcPct val="100000"/>
              </a:lnSpc>
              <a:spcBef>
                <a:spcPts val="2050"/>
              </a:spcBef>
            </a:pP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Reference</a:t>
            </a:r>
            <a:r>
              <a:rPr dirty="0" sz="2950" spc="-25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>
                <a:solidFill>
                  <a:srgbClr val="282828"/>
                </a:solidFill>
                <a:latin typeface="Tahoma"/>
                <a:cs typeface="Tahoma"/>
              </a:rPr>
              <a:t>Price</a:t>
            </a:r>
            <a:endParaRPr sz="2950">
              <a:latin typeface="Tahoma"/>
              <a:cs typeface="Tahoma"/>
            </a:endParaRPr>
          </a:p>
          <a:p>
            <a:pPr marL="436880">
              <a:lnSpc>
                <a:spcPct val="100000"/>
              </a:lnSpc>
              <a:spcBef>
                <a:spcPts val="5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₹732.90</a:t>
            </a:r>
            <a:endParaRPr sz="2950">
              <a:latin typeface="Tahoma"/>
              <a:cs typeface="Tahoma"/>
            </a:endParaRPr>
          </a:p>
          <a:p>
            <a:pPr marL="388620" marR="313055">
              <a:lnSpc>
                <a:spcPct val="116500"/>
              </a:lnSpc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Current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P/B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2.00× </a:t>
            </a: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FY2027E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>
                <a:solidFill>
                  <a:srgbClr val="282828"/>
                </a:solidFill>
                <a:latin typeface="Tahoma"/>
                <a:cs typeface="Tahoma"/>
              </a:rPr>
              <a:t>BVPS</a:t>
            </a:r>
            <a:endParaRPr sz="2950">
              <a:latin typeface="Tahoma"/>
              <a:cs typeface="Tahoma"/>
            </a:endParaRPr>
          </a:p>
          <a:p>
            <a:pPr marL="360680">
              <a:lnSpc>
                <a:spcPct val="100000"/>
              </a:lnSpc>
              <a:spcBef>
                <a:spcPts val="5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₹409.92</a:t>
            </a:r>
            <a:endParaRPr sz="2950">
              <a:latin typeface="Tahoma"/>
              <a:cs typeface="Tahoma"/>
            </a:endParaRPr>
          </a:p>
          <a:p>
            <a:pPr marL="436880" marR="1078230" indent="-48260">
              <a:lnSpc>
                <a:spcPct val="116500"/>
              </a:lnSpc>
            </a:pPr>
            <a:r>
              <a:rPr dirty="0" sz="2950" spc="-165">
                <a:solidFill>
                  <a:srgbClr val="282828"/>
                </a:solidFill>
                <a:latin typeface="Tahoma"/>
                <a:cs typeface="Tahoma"/>
              </a:rPr>
              <a:t>Target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70">
                <a:solidFill>
                  <a:srgbClr val="282828"/>
                </a:solidFill>
                <a:latin typeface="Tahoma"/>
                <a:cs typeface="Tahoma"/>
              </a:rPr>
              <a:t>P/B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2.20×</a:t>
            </a:r>
            <a:endParaRPr sz="2950">
              <a:latin typeface="Tahoma"/>
              <a:cs typeface="Tahoma"/>
            </a:endParaRPr>
          </a:p>
          <a:p>
            <a:pPr marL="388620">
              <a:lnSpc>
                <a:spcPct val="100000"/>
              </a:lnSpc>
              <a:spcBef>
                <a:spcPts val="585"/>
              </a:spcBef>
            </a:pPr>
            <a:r>
              <a:rPr dirty="0" sz="2950" spc="-165">
                <a:solidFill>
                  <a:srgbClr val="282828"/>
                </a:solidFill>
                <a:latin typeface="Tahoma"/>
                <a:cs typeface="Tahoma"/>
              </a:rPr>
              <a:t>Target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Price</a:t>
            </a:r>
            <a:endParaRPr sz="2950">
              <a:latin typeface="Tahoma"/>
              <a:cs typeface="Tahoma"/>
            </a:endParaRPr>
          </a:p>
          <a:p>
            <a:pPr marL="360680">
              <a:lnSpc>
                <a:spcPct val="100000"/>
              </a:lnSpc>
              <a:spcBef>
                <a:spcPts val="585"/>
              </a:spcBef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₹901.82</a:t>
            </a:r>
            <a:endParaRPr sz="2950">
              <a:latin typeface="Tahoma"/>
              <a:cs typeface="Tahoma"/>
            </a:endParaRPr>
          </a:p>
          <a:p>
            <a:pPr marL="436880" marR="5080" indent="-48260">
              <a:lnSpc>
                <a:spcPct val="116500"/>
              </a:lnSpc>
            </a:pP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Potential</a:t>
            </a:r>
            <a:r>
              <a:rPr dirty="0" sz="2950" spc="-31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Upside 23.0%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1349" y="8833625"/>
            <a:ext cx="6485255" cy="107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1920">
              <a:lnSpc>
                <a:spcPct val="116500"/>
              </a:lnSpc>
              <a:spcBef>
                <a:spcPts val="100"/>
              </a:spcBef>
            </a:pP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Valuation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70">
                <a:solidFill>
                  <a:srgbClr val="282828"/>
                </a:solidFill>
                <a:latin typeface="Tahoma"/>
                <a:cs typeface="Tahoma"/>
              </a:rPr>
              <a:t>is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based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>
                <a:solidFill>
                  <a:srgbClr val="282828"/>
                </a:solidFill>
                <a:latin typeface="Tahoma"/>
                <a:cs typeface="Tahoma"/>
              </a:rPr>
              <a:t>on</a:t>
            </a:r>
            <a:r>
              <a:rPr dirty="0" sz="2950" spc="-28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assumptions and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95">
                <a:solidFill>
                  <a:srgbClr val="282828"/>
                </a:solidFill>
                <a:latin typeface="Tahoma"/>
                <a:cs typeface="Tahoma"/>
              </a:rPr>
              <a:t>P/B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5">
                <a:solidFill>
                  <a:srgbClr val="282828"/>
                </a:solidFill>
                <a:latin typeface="Tahoma"/>
                <a:cs typeface="Tahoma"/>
              </a:rPr>
              <a:t>framework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used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in</a:t>
            </a:r>
            <a:r>
              <a:rPr dirty="0" sz="2950" spc="-28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this</a:t>
            </a:r>
            <a:r>
              <a:rPr dirty="0" sz="2950" spc="-27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analysis.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56202" y="1912489"/>
            <a:ext cx="4632325" cy="3692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500"/>
              </a:lnSpc>
              <a:spcBef>
                <a:spcPts val="100"/>
              </a:spcBef>
            </a:pPr>
            <a:r>
              <a:rPr dirty="0" sz="2950" spc="-240" b="1">
                <a:solidFill>
                  <a:srgbClr val="282828"/>
                </a:solidFill>
                <a:latin typeface="Tahoma"/>
                <a:cs typeface="Tahoma"/>
              </a:rPr>
              <a:t>Key </a:t>
            </a:r>
            <a:r>
              <a:rPr dirty="0" sz="2950" spc="-260" b="1">
                <a:solidFill>
                  <a:srgbClr val="282828"/>
                </a:solidFill>
                <a:latin typeface="Tahoma"/>
                <a:cs typeface="Tahoma"/>
              </a:rPr>
              <a:t>Takeaway: </a:t>
            </a:r>
            <a:r>
              <a:rPr dirty="0" sz="2950" spc="-130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9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base-</a:t>
            </a:r>
            <a:r>
              <a:rPr dirty="0" sz="2950" spc="65">
                <a:solidFill>
                  <a:srgbClr val="282828"/>
                </a:solidFill>
                <a:latin typeface="Tahoma"/>
                <a:cs typeface="Tahoma"/>
              </a:rPr>
              <a:t>case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95">
                <a:solidFill>
                  <a:srgbClr val="282828"/>
                </a:solidFill>
                <a:latin typeface="Tahoma"/>
                <a:cs typeface="Tahoma"/>
              </a:rPr>
              <a:t>P/B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valuation</a:t>
            </a:r>
            <a:r>
              <a:rPr dirty="0" sz="2950" spc="-29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indicates </a:t>
            </a:r>
            <a:r>
              <a:rPr dirty="0" sz="2950" spc="-40">
                <a:solidFill>
                  <a:srgbClr val="282828"/>
                </a:solidFill>
                <a:latin typeface="Tahoma"/>
                <a:cs typeface="Tahoma"/>
              </a:rPr>
              <a:t>approximately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95">
                <a:solidFill>
                  <a:srgbClr val="282828"/>
                </a:solidFill>
                <a:latin typeface="Tahoma"/>
                <a:cs typeface="Tahoma"/>
              </a:rPr>
              <a:t>23%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potential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upside,</a:t>
            </a:r>
            <a:r>
              <a:rPr dirty="0" sz="2950" spc="-30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while</a:t>
            </a:r>
            <a:r>
              <a:rPr dirty="0" sz="29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950" spc="-30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scenario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analysis</a:t>
            </a:r>
            <a:r>
              <a:rPr dirty="0" sz="2950" spc="-24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40">
                <a:solidFill>
                  <a:srgbClr val="282828"/>
                </a:solidFill>
                <a:latin typeface="Tahoma"/>
                <a:cs typeface="Tahoma"/>
              </a:rPr>
              <a:t>highlights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range </a:t>
            </a:r>
            <a:r>
              <a:rPr dirty="0" sz="2950" spc="-30">
                <a:solidFill>
                  <a:srgbClr val="282828"/>
                </a:solidFill>
                <a:latin typeface="Tahoma"/>
                <a:cs typeface="Tahoma"/>
              </a:rPr>
              <a:t>of</a:t>
            </a:r>
            <a:r>
              <a:rPr dirty="0" sz="2950" spc="-1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possible</a:t>
            </a:r>
            <a:r>
              <a:rPr dirty="0" sz="2950" spc="-1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valuation outcomes.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0009" rIns="0" bIns="0" rtlCol="0" vert="horz">
            <a:spAutoFit/>
          </a:bodyPr>
          <a:lstStyle/>
          <a:p>
            <a:pPr marL="909955">
              <a:lnSpc>
                <a:spcPct val="100000"/>
              </a:lnSpc>
              <a:spcBef>
                <a:spcPts val="100"/>
              </a:spcBef>
            </a:pPr>
            <a:r>
              <a:rPr dirty="0" spc="-430"/>
              <a:t>FINAL</a:t>
            </a:r>
            <a:r>
              <a:rPr dirty="0" spc="-440"/>
              <a:t> </a:t>
            </a:r>
            <a:r>
              <a:rPr dirty="0" spc="-400"/>
              <a:t>INVESTMENT</a:t>
            </a:r>
            <a:r>
              <a:rPr dirty="0" spc="-434"/>
              <a:t> </a:t>
            </a:r>
            <a:r>
              <a:rPr dirty="0" spc="-515"/>
              <a:t>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201898" y="8229600"/>
            <a:ext cx="3086100" cy="2057400"/>
            <a:chOff x="15201898" y="8229600"/>
            <a:chExt cx="3086100" cy="2057400"/>
          </a:xfrm>
        </p:grpSpPr>
        <p:sp>
          <p:nvSpPr>
            <p:cNvPr id="4" name="object 4"/>
            <p:cNvSpPr/>
            <p:nvPr/>
          </p:nvSpPr>
          <p:spPr>
            <a:xfrm>
              <a:off x="15201898" y="9882037"/>
              <a:ext cx="3086100" cy="405130"/>
            </a:xfrm>
            <a:custGeom>
              <a:avLst/>
              <a:gdLst/>
              <a:ahLst/>
              <a:cxnLst/>
              <a:rect l="l" t="t" r="r" b="b"/>
              <a:pathLst>
                <a:path w="3086100" h="405129">
                  <a:moveTo>
                    <a:pt x="188464" y="404962"/>
                  </a:moveTo>
                  <a:lnTo>
                    <a:pt x="0" y="404962"/>
                  </a:lnTo>
                  <a:lnTo>
                    <a:pt x="3713" y="350157"/>
                  </a:lnTo>
                  <a:lnTo>
                    <a:pt x="14524" y="297542"/>
                  </a:lnTo>
                  <a:lnTo>
                    <a:pt x="31940" y="247609"/>
                  </a:lnTo>
                  <a:lnTo>
                    <a:pt x="55468" y="200853"/>
                  </a:lnTo>
                  <a:lnTo>
                    <a:pt x="84616" y="157769"/>
                  </a:lnTo>
                  <a:lnTo>
                    <a:pt x="118889" y="118850"/>
                  </a:lnTo>
                  <a:lnTo>
                    <a:pt x="157805" y="84579"/>
                  </a:lnTo>
                  <a:lnTo>
                    <a:pt x="200882" y="55439"/>
                  </a:lnTo>
                  <a:lnTo>
                    <a:pt x="247629" y="31921"/>
                  </a:lnTo>
                  <a:lnTo>
                    <a:pt x="297552" y="14514"/>
                  </a:lnTo>
                  <a:lnTo>
                    <a:pt x="350160" y="3710"/>
                  </a:lnTo>
                  <a:lnTo>
                    <a:pt x="404962" y="0"/>
                  </a:lnTo>
                  <a:lnTo>
                    <a:pt x="3086099" y="0"/>
                  </a:lnTo>
                  <a:lnTo>
                    <a:pt x="3086099" y="188424"/>
                  </a:lnTo>
                  <a:lnTo>
                    <a:pt x="404962" y="188424"/>
                  </a:lnTo>
                  <a:lnTo>
                    <a:pt x="361522" y="192848"/>
                  </a:lnTo>
                  <a:lnTo>
                    <a:pt x="320968" y="205523"/>
                  </a:lnTo>
                  <a:lnTo>
                    <a:pt x="284197" y="225561"/>
                  </a:lnTo>
                  <a:lnTo>
                    <a:pt x="252109" y="252070"/>
                  </a:lnTo>
                  <a:lnTo>
                    <a:pt x="225601" y="284175"/>
                  </a:lnTo>
                  <a:lnTo>
                    <a:pt x="205563" y="320948"/>
                  </a:lnTo>
                  <a:lnTo>
                    <a:pt x="192887" y="361505"/>
                  </a:lnTo>
                  <a:lnTo>
                    <a:pt x="188464" y="404962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854296" y="8229600"/>
              <a:ext cx="810260" cy="2057400"/>
            </a:xfrm>
            <a:custGeom>
              <a:avLst/>
              <a:gdLst/>
              <a:ahLst/>
              <a:cxnLst/>
              <a:rect l="l" t="t" r="r" b="b"/>
              <a:pathLst>
                <a:path w="810259" h="2057400">
                  <a:moveTo>
                    <a:pt x="188464" y="1665276"/>
                  </a:moveTo>
                  <a:lnTo>
                    <a:pt x="39" y="1665276"/>
                  </a:lnTo>
                  <a:lnTo>
                    <a:pt x="39" y="404962"/>
                  </a:lnTo>
                  <a:lnTo>
                    <a:pt x="3752" y="350160"/>
                  </a:lnTo>
                  <a:lnTo>
                    <a:pt x="14563" y="297552"/>
                  </a:lnTo>
                  <a:lnTo>
                    <a:pt x="31980" y="247629"/>
                  </a:lnTo>
                  <a:lnTo>
                    <a:pt x="55508" y="200882"/>
                  </a:lnTo>
                  <a:lnTo>
                    <a:pt x="84655" y="157805"/>
                  </a:lnTo>
                  <a:lnTo>
                    <a:pt x="118928" y="118889"/>
                  </a:lnTo>
                  <a:lnTo>
                    <a:pt x="157845" y="84616"/>
                  </a:lnTo>
                  <a:lnTo>
                    <a:pt x="200922" y="55468"/>
                  </a:lnTo>
                  <a:lnTo>
                    <a:pt x="247668" y="31940"/>
                  </a:lnTo>
                  <a:lnTo>
                    <a:pt x="297591" y="14524"/>
                  </a:lnTo>
                  <a:lnTo>
                    <a:pt x="350199" y="3713"/>
                  </a:lnTo>
                  <a:lnTo>
                    <a:pt x="405001" y="0"/>
                  </a:lnTo>
                  <a:lnTo>
                    <a:pt x="459803" y="3713"/>
                  </a:lnTo>
                  <a:lnTo>
                    <a:pt x="512413" y="14524"/>
                  </a:lnTo>
                  <a:lnTo>
                    <a:pt x="562339" y="31940"/>
                  </a:lnTo>
                  <a:lnTo>
                    <a:pt x="609092" y="55468"/>
                  </a:lnTo>
                  <a:lnTo>
                    <a:pt x="652180" y="84616"/>
                  </a:lnTo>
                  <a:lnTo>
                    <a:pt x="691113" y="118889"/>
                  </a:lnTo>
                  <a:lnTo>
                    <a:pt x="725370" y="157805"/>
                  </a:lnTo>
                  <a:lnTo>
                    <a:pt x="746080" y="188424"/>
                  </a:lnTo>
                  <a:lnTo>
                    <a:pt x="405001" y="188424"/>
                  </a:lnTo>
                  <a:lnTo>
                    <a:pt x="361561" y="192854"/>
                  </a:lnTo>
                  <a:lnTo>
                    <a:pt x="321007" y="205543"/>
                  </a:lnTo>
                  <a:lnTo>
                    <a:pt x="284237" y="225594"/>
                  </a:lnTo>
                  <a:lnTo>
                    <a:pt x="252149" y="252109"/>
                  </a:lnTo>
                  <a:lnTo>
                    <a:pt x="225634" y="284197"/>
                  </a:lnTo>
                  <a:lnTo>
                    <a:pt x="205582" y="320968"/>
                  </a:lnTo>
                  <a:lnTo>
                    <a:pt x="192893" y="361522"/>
                  </a:lnTo>
                  <a:lnTo>
                    <a:pt x="188464" y="404962"/>
                  </a:lnTo>
                  <a:lnTo>
                    <a:pt x="188464" y="1665276"/>
                  </a:lnTo>
                  <a:close/>
                </a:path>
                <a:path w="810259" h="2057400">
                  <a:moveTo>
                    <a:pt x="809963" y="2057399"/>
                  </a:moveTo>
                  <a:lnTo>
                    <a:pt x="621499" y="2057399"/>
                  </a:lnTo>
                  <a:lnTo>
                    <a:pt x="621499" y="404962"/>
                  </a:lnTo>
                  <a:lnTo>
                    <a:pt x="617070" y="361522"/>
                  </a:lnTo>
                  <a:lnTo>
                    <a:pt x="604380" y="320968"/>
                  </a:lnTo>
                  <a:lnTo>
                    <a:pt x="584329" y="284197"/>
                  </a:lnTo>
                  <a:lnTo>
                    <a:pt x="557814" y="252109"/>
                  </a:lnTo>
                  <a:lnTo>
                    <a:pt x="525732" y="225594"/>
                  </a:lnTo>
                  <a:lnTo>
                    <a:pt x="488976" y="205543"/>
                  </a:lnTo>
                  <a:lnTo>
                    <a:pt x="448435" y="192854"/>
                  </a:lnTo>
                  <a:lnTo>
                    <a:pt x="405001" y="188424"/>
                  </a:lnTo>
                  <a:lnTo>
                    <a:pt x="746080" y="188424"/>
                  </a:lnTo>
                  <a:lnTo>
                    <a:pt x="778027" y="247629"/>
                  </a:lnTo>
                  <a:lnTo>
                    <a:pt x="795440" y="297552"/>
                  </a:lnTo>
                  <a:lnTo>
                    <a:pt x="806250" y="350160"/>
                  </a:lnTo>
                  <a:lnTo>
                    <a:pt x="809963" y="404962"/>
                  </a:lnTo>
                  <a:lnTo>
                    <a:pt x="809963" y="2057399"/>
                  </a:lnTo>
                  <a:close/>
                </a:path>
                <a:path w="810259" h="2057400">
                  <a:moveTo>
                    <a:pt x="188464" y="2057399"/>
                  </a:moveTo>
                  <a:lnTo>
                    <a:pt x="0" y="2057399"/>
                  </a:lnTo>
                  <a:lnTo>
                    <a:pt x="0" y="1825549"/>
                  </a:lnTo>
                  <a:lnTo>
                    <a:pt x="188464" y="1825549"/>
                  </a:lnTo>
                  <a:lnTo>
                    <a:pt x="188464" y="2057399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3086100" cy="2057400"/>
            <a:chOff x="0" y="0"/>
            <a:chExt cx="3086100" cy="2057400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086100" cy="405130"/>
            </a:xfrm>
            <a:custGeom>
              <a:avLst/>
              <a:gdLst/>
              <a:ahLst/>
              <a:cxnLst/>
              <a:rect l="l" t="t" r="r" b="b"/>
              <a:pathLst>
                <a:path w="3086100" h="405130">
                  <a:moveTo>
                    <a:pt x="2681137" y="404962"/>
                  </a:moveTo>
                  <a:lnTo>
                    <a:pt x="0" y="404962"/>
                  </a:lnTo>
                  <a:lnTo>
                    <a:pt x="0" y="216537"/>
                  </a:lnTo>
                  <a:lnTo>
                    <a:pt x="2681137" y="216537"/>
                  </a:lnTo>
                  <a:lnTo>
                    <a:pt x="2724577" y="212108"/>
                  </a:lnTo>
                  <a:lnTo>
                    <a:pt x="2765131" y="199418"/>
                  </a:lnTo>
                  <a:lnTo>
                    <a:pt x="2801901" y="179367"/>
                  </a:lnTo>
                  <a:lnTo>
                    <a:pt x="2833989" y="152852"/>
                  </a:lnTo>
                  <a:lnTo>
                    <a:pt x="2860498" y="120764"/>
                  </a:lnTo>
                  <a:lnTo>
                    <a:pt x="2880536" y="83994"/>
                  </a:lnTo>
                  <a:lnTo>
                    <a:pt x="2893212" y="43439"/>
                  </a:lnTo>
                  <a:lnTo>
                    <a:pt x="2897635" y="0"/>
                  </a:lnTo>
                  <a:lnTo>
                    <a:pt x="3086099" y="0"/>
                  </a:lnTo>
                  <a:lnTo>
                    <a:pt x="3082386" y="54801"/>
                  </a:lnTo>
                  <a:lnTo>
                    <a:pt x="3071575" y="107409"/>
                  </a:lnTo>
                  <a:lnTo>
                    <a:pt x="3054158" y="157333"/>
                  </a:lnTo>
                  <a:lnTo>
                    <a:pt x="3030630" y="204079"/>
                  </a:lnTo>
                  <a:lnTo>
                    <a:pt x="3001483" y="247156"/>
                  </a:lnTo>
                  <a:lnTo>
                    <a:pt x="2967210" y="286072"/>
                  </a:lnTo>
                  <a:lnTo>
                    <a:pt x="2928293" y="320345"/>
                  </a:lnTo>
                  <a:lnTo>
                    <a:pt x="2885216" y="349493"/>
                  </a:lnTo>
                  <a:lnTo>
                    <a:pt x="2838470" y="373021"/>
                  </a:lnTo>
                  <a:lnTo>
                    <a:pt x="2788547" y="390437"/>
                  </a:lnTo>
                  <a:lnTo>
                    <a:pt x="2735939" y="401248"/>
                  </a:lnTo>
                  <a:lnTo>
                    <a:pt x="2681137" y="404962"/>
                  </a:lnTo>
                  <a:close/>
                </a:path>
              </a:pathLst>
            </a:custGeom>
            <a:solidFill>
              <a:srgbClr val="FEFEFE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3698" y="0"/>
              <a:ext cx="810260" cy="2057400"/>
            </a:xfrm>
            <a:custGeom>
              <a:avLst/>
              <a:gdLst/>
              <a:ahLst/>
              <a:cxnLst/>
              <a:rect l="l" t="t" r="r" b="b"/>
              <a:pathLst>
                <a:path w="810260" h="2057400">
                  <a:moveTo>
                    <a:pt x="405001" y="2057399"/>
                  </a:moveTo>
                  <a:lnTo>
                    <a:pt x="350196" y="2053686"/>
                  </a:lnTo>
                  <a:lnTo>
                    <a:pt x="297581" y="2042875"/>
                  </a:lnTo>
                  <a:lnTo>
                    <a:pt x="247648" y="2025458"/>
                  </a:lnTo>
                  <a:lnTo>
                    <a:pt x="200892" y="2001930"/>
                  </a:lnTo>
                  <a:lnTo>
                    <a:pt x="157808" y="1972783"/>
                  </a:lnTo>
                  <a:lnTo>
                    <a:pt x="118889" y="1938510"/>
                  </a:lnTo>
                  <a:lnTo>
                    <a:pt x="84616" y="1899591"/>
                  </a:lnTo>
                  <a:lnTo>
                    <a:pt x="55468" y="1856507"/>
                  </a:lnTo>
                  <a:lnTo>
                    <a:pt x="31940" y="1809755"/>
                  </a:lnTo>
                  <a:lnTo>
                    <a:pt x="14524" y="1759829"/>
                  </a:lnTo>
                  <a:lnTo>
                    <a:pt x="3713" y="1707225"/>
                  </a:lnTo>
                  <a:lnTo>
                    <a:pt x="0" y="1652437"/>
                  </a:lnTo>
                  <a:lnTo>
                    <a:pt x="0" y="0"/>
                  </a:lnTo>
                  <a:lnTo>
                    <a:pt x="188464" y="0"/>
                  </a:lnTo>
                  <a:lnTo>
                    <a:pt x="188464" y="1652437"/>
                  </a:lnTo>
                  <a:lnTo>
                    <a:pt x="192893" y="1695877"/>
                  </a:lnTo>
                  <a:lnTo>
                    <a:pt x="205582" y="1736431"/>
                  </a:lnTo>
                  <a:lnTo>
                    <a:pt x="225634" y="1773201"/>
                  </a:lnTo>
                  <a:lnTo>
                    <a:pt x="252149" y="1805289"/>
                  </a:lnTo>
                  <a:lnTo>
                    <a:pt x="284237" y="1831798"/>
                  </a:lnTo>
                  <a:lnTo>
                    <a:pt x="321007" y="1851836"/>
                  </a:lnTo>
                  <a:lnTo>
                    <a:pt x="361561" y="1864512"/>
                  </a:lnTo>
                  <a:lnTo>
                    <a:pt x="405001" y="1868935"/>
                  </a:lnTo>
                  <a:lnTo>
                    <a:pt x="746092" y="1868935"/>
                  </a:lnTo>
                  <a:lnTo>
                    <a:pt x="725349" y="1899591"/>
                  </a:lnTo>
                  <a:lnTo>
                    <a:pt x="691074" y="1938510"/>
                  </a:lnTo>
                  <a:lnTo>
                    <a:pt x="652157" y="1972783"/>
                  </a:lnTo>
                  <a:lnTo>
                    <a:pt x="609080" y="2001930"/>
                  </a:lnTo>
                  <a:lnTo>
                    <a:pt x="562334" y="2025458"/>
                  </a:lnTo>
                  <a:lnTo>
                    <a:pt x="512411" y="2042875"/>
                  </a:lnTo>
                  <a:lnTo>
                    <a:pt x="459803" y="2053686"/>
                  </a:lnTo>
                  <a:lnTo>
                    <a:pt x="405001" y="2057399"/>
                  </a:lnTo>
                  <a:close/>
                </a:path>
                <a:path w="810260" h="2057400">
                  <a:moveTo>
                    <a:pt x="809963" y="234284"/>
                  </a:moveTo>
                  <a:lnTo>
                    <a:pt x="621499" y="234284"/>
                  </a:lnTo>
                  <a:lnTo>
                    <a:pt x="621499" y="0"/>
                  </a:lnTo>
                  <a:lnTo>
                    <a:pt x="809963" y="0"/>
                  </a:lnTo>
                  <a:lnTo>
                    <a:pt x="809963" y="234284"/>
                  </a:lnTo>
                  <a:close/>
                </a:path>
                <a:path w="810260" h="2057400">
                  <a:moveTo>
                    <a:pt x="746092" y="1868935"/>
                  </a:moveTo>
                  <a:lnTo>
                    <a:pt x="405001" y="1868935"/>
                  </a:lnTo>
                  <a:lnTo>
                    <a:pt x="448435" y="1864512"/>
                  </a:lnTo>
                  <a:lnTo>
                    <a:pt x="488976" y="1851836"/>
                  </a:lnTo>
                  <a:lnTo>
                    <a:pt x="525732" y="1831798"/>
                  </a:lnTo>
                  <a:lnTo>
                    <a:pt x="557814" y="1805289"/>
                  </a:lnTo>
                  <a:lnTo>
                    <a:pt x="584329" y="1773201"/>
                  </a:lnTo>
                  <a:lnTo>
                    <a:pt x="604380" y="1736431"/>
                  </a:lnTo>
                  <a:lnTo>
                    <a:pt x="617070" y="1695877"/>
                  </a:lnTo>
                  <a:lnTo>
                    <a:pt x="621499" y="1652437"/>
                  </a:lnTo>
                  <a:lnTo>
                    <a:pt x="621499" y="389963"/>
                  </a:lnTo>
                  <a:lnTo>
                    <a:pt x="809963" y="389963"/>
                  </a:lnTo>
                  <a:lnTo>
                    <a:pt x="809963" y="1652437"/>
                  </a:lnTo>
                  <a:lnTo>
                    <a:pt x="806251" y="1707225"/>
                  </a:lnTo>
                  <a:lnTo>
                    <a:pt x="795442" y="1759829"/>
                  </a:lnTo>
                  <a:lnTo>
                    <a:pt x="778028" y="1809755"/>
                  </a:lnTo>
                  <a:lnTo>
                    <a:pt x="754499" y="1856507"/>
                  </a:lnTo>
                  <a:lnTo>
                    <a:pt x="746092" y="1868935"/>
                  </a:lnTo>
                  <a:close/>
                </a:path>
              </a:pathLst>
            </a:custGeom>
            <a:solidFill>
              <a:srgbClr val="DADADA">
                <a:alpha val="56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619727" y="8303310"/>
            <a:ext cx="1289685" cy="1289685"/>
          </a:xfrm>
          <a:custGeom>
            <a:avLst/>
            <a:gdLst/>
            <a:ahLst/>
            <a:cxnLst/>
            <a:rect l="l" t="t" r="r" b="b"/>
            <a:pathLst>
              <a:path w="1289685" h="1289684">
                <a:moveTo>
                  <a:pt x="644778" y="1289556"/>
                </a:moveTo>
                <a:lnTo>
                  <a:pt x="596657" y="1287788"/>
                </a:lnTo>
                <a:lnTo>
                  <a:pt x="549497" y="1282565"/>
                </a:lnTo>
                <a:lnTo>
                  <a:pt x="503422" y="1274013"/>
                </a:lnTo>
                <a:lnTo>
                  <a:pt x="458557" y="1262257"/>
                </a:lnTo>
                <a:lnTo>
                  <a:pt x="415027" y="1247421"/>
                </a:lnTo>
                <a:lnTo>
                  <a:pt x="372956" y="1229629"/>
                </a:lnTo>
                <a:lnTo>
                  <a:pt x="332468" y="1209007"/>
                </a:lnTo>
                <a:lnTo>
                  <a:pt x="293689" y="1185678"/>
                </a:lnTo>
                <a:lnTo>
                  <a:pt x="256744" y="1159769"/>
                </a:lnTo>
                <a:lnTo>
                  <a:pt x="221756" y="1131403"/>
                </a:lnTo>
                <a:lnTo>
                  <a:pt x="188851" y="1100705"/>
                </a:lnTo>
                <a:lnTo>
                  <a:pt x="158153" y="1067800"/>
                </a:lnTo>
                <a:lnTo>
                  <a:pt x="129787" y="1032812"/>
                </a:lnTo>
                <a:lnTo>
                  <a:pt x="103877" y="995866"/>
                </a:lnTo>
                <a:lnTo>
                  <a:pt x="80549" y="957088"/>
                </a:lnTo>
                <a:lnTo>
                  <a:pt x="59927" y="916600"/>
                </a:lnTo>
                <a:lnTo>
                  <a:pt x="42135" y="874529"/>
                </a:lnTo>
                <a:lnTo>
                  <a:pt x="27299" y="830998"/>
                </a:lnTo>
                <a:lnTo>
                  <a:pt x="15542" y="786133"/>
                </a:lnTo>
                <a:lnTo>
                  <a:pt x="6991" y="740058"/>
                </a:lnTo>
                <a:lnTo>
                  <a:pt x="1768" y="692898"/>
                </a:lnTo>
                <a:lnTo>
                  <a:pt x="0" y="644778"/>
                </a:lnTo>
                <a:lnTo>
                  <a:pt x="1768" y="596657"/>
                </a:lnTo>
                <a:lnTo>
                  <a:pt x="6991" y="549497"/>
                </a:lnTo>
                <a:lnTo>
                  <a:pt x="15542" y="503422"/>
                </a:lnTo>
                <a:lnTo>
                  <a:pt x="27299" y="458557"/>
                </a:lnTo>
                <a:lnTo>
                  <a:pt x="42135" y="415027"/>
                </a:lnTo>
                <a:lnTo>
                  <a:pt x="59927" y="372956"/>
                </a:lnTo>
                <a:lnTo>
                  <a:pt x="80549" y="332468"/>
                </a:lnTo>
                <a:lnTo>
                  <a:pt x="103877" y="293689"/>
                </a:lnTo>
                <a:lnTo>
                  <a:pt x="129787" y="256744"/>
                </a:lnTo>
                <a:lnTo>
                  <a:pt x="158153" y="221756"/>
                </a:lnTo>
                <a:lnTo>
                  <a:pt x="188851" y="188851"/>
                </a:lnTo>
                <a:lnTo>
                  <a:pt x="221756" y="158153"/>
                </a:lnTo>
                <a:lnTo>
                  <a:pt x="256744" y="129787"/>
                </a:lnTo>
                <a:lnTo>
                  <a:pt x="293689" y="103877"/>
                </a:lnTo>
                <a:lnTo>
                  <a:pt x="332468" y="80549"/>
                </a:lnTo>
                <a:lnTo>
                  <a:pt x="372956" y="59927"/>
                </a:lnTo>
                <a:lnTo>
                  <a:pt x="415027" y="42135"/>
                </a:lnTo>
                <a:lnTo>
                  <a:pt x="458557" y="27299"/>
                </a:lnTo>
                <a:lnTo>
                  <a:pt x="503422" y="15542"/>
                </a:lnTo>
                <a:lnTo>
                  <a:pt x="549497" y="6991"/>
                </a:lnTo>
                <a:lnTo>
                  <a:pt x="596657" y="1768"/>
                </a:lnTo>
                <a:lnTo>
                  <a:pt x="644778" y="0"/>
                </a:lnTo>
                <a:lnTo>
                  <a:pt x="692898" y="1768"/>
                </a:lnTo>
                <a:lnTo>
                  <a:pt x="740058" y="6991"/>
                </a:lnTo>
                <a:lnTo>
                  <a:pt x="786133" y="15542"/>
                </a:lnTo>
                <a:lnTo>
                  <a:pt x="830998" y="27299"/>
                </a:lnTo>
                <a:lnTo>
                  <a:pt x="874529" y="42135"/>
                </a:lnTo>
                <a:lnTo>
                  <a:pt x="916600" y="59927"/>
                </a:lnTo>
                <a:lnTo>
                  <a:pt x="957088" y="80549"/>
                </a:lnTo>
                <a:lnTo>
                  <a:pt x="995866" y="103877"/>
                </a:lnTo>
                <a:lnTo>
                  <a:pt x="1032812" y="129787"/>
                </a:lnTo>
                <a:lnTo>
                  <a:pt x="1067800" y="158153"/>
                </a:lnTo>
                <a:lnTo>
                  <a:pt x="1100705" y="188851"/>
                </a:lnTo>
                <a:lnTo>
                  <a:pt x="1131403" y="221756"/>
                </a:lnTo>
                <a:lnTo>
                  <a:pt x="1159769" y="256744"/>
                </a:lnTo>
                <a:lnTo>
                  <a:pt x="1185678" y="293689"/>
                </a:lnTo>
                <a:lnTo>
                  <a:pt x="1209007" y="332468"/>
                </a:lnTo>
                <a:lnTo>
                  <a:pt x="1229629" y="372956"/>
                </a:lnTo>
                <a:lnTo>
                  <a:pt x="1247421" y="415027"/>
                </a:lnTo>
                <a:lnTo>
                  <a:pt x="1262257" y="458557"/>
                </a:lnTo>
                <a:lnTo>
                  <a:pt x="1274013" y="503422"/>
                </a:lnTo>
                <a:lnTo>
                  <a:pt x="1282565" y="549497"/>
                </a:lnTo>
                <a:lnTo>
                  <a:pt x="1287788" y="596657"/>
                </a:lnTo>
                <a:lnTo>
                  <a:pt x="1289556" y="644778"/>
                </a:lnTo>
                <a:lnTo>
                  <a:pt x="1287788" y="692898"/>
                </a:lnTo>
                <a:lnTo>
                  <a:pt x="1282565" y="740058"/>
                </a:lnTo>
                <a:lnTo>
                  <a:pt x="1274013" y="786133"/>
                </a:lnTo>
                <a:lnTo>
                  <a:pt x="1262257" y="830998"/>
                </a:lnTo>
                <a:lnTo>
                  <a:pt x="1247421" y="874529"/>
                </a:lnTo>
                <a:lnTo>
                  <a:pt x="1229629" y="916600"/>
                </a:lnTo>
                <a:lnTo>
                  <a:pt x="1209007" y="957088"/>
                </a:lnTo>
                <a:lnTo>
                  <a:pt x="1185678" y="995866"/>
                </a:lnTo>
                <a:lnTo>
                  <a:pt x="1159769" y="1032812"/>
                </a:lnTo>
                <a:lnTo>
                  <a:pt x="1131403" y="1067800"/>
                </a:lnTo>
                <a:lnTo>
                  <a:pt x="1100705" y="1100705"/>
                </a:lnTo>
                <a:lnTo>
                  <a:pt x="1067800" y="1131403"/>
                </a:lnTo>
                <a:lnTo>
                  <a:pt x="1032812" y="1159769"/>
                </a:lnTo>
                <a:lnTo>
                  <a:pt x="995866" y="1185678"/>
                </a:lnTo>
                <a:lnTo>
                  <a:pt x="957088" y="1209007"/>
                </a:lnTo>
                <a:lnTo>
                  <a:pt x="916600" y="1229629"/>
                </a:lnTo>
                <a:lnTo>
                  <a:pt x="874529" y="1247421"/>
                </a:lnTo>
                <a:lnTo>
                  <a:pt x="830998" y="1262257"/>
                </a:lnTo>
                <a:lnTo>
                  <a:pt x="786133" y="1274013"/>
                </a:lnTo>
                <a:lnTo>
                  <a:pt x="740058" y="1282565"/>
                </a:lnTo>
                <a:lnTo>
                  <a:pt x="692898" y="1287788"/>
                </a:lnTo>
                <a:lnTo>
                  <a:pt x="644778" y="1289556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716310" y="807480"/>
            <a:ext cx="995044" cy="995044"/>
          </a:xfrm>
          <a:custGeom>
            <a:avLst/>
            <a:gdLst/>
            <a:ahLst/>
            <a:cxnLst/>
            <a:rect l="l" t="t" r="r" b="b"/>
            <a:pathLst>
              <a:path w="995044" h="995044">
                <a:moveTo>
                  <a:pt x="497399" y="994799"/>
                </a:moveTo>
                <a:lnTo>
                  <a:pt x="449496" y="992522"/>
                </a:lnTo>
                <a:lnTo>
                  <a:pt x="402882" y="985830"/>
                </a:lnTo>
                <a:lnTo>
                  <a:pt x="357764" y="974932"/>
                </a:lnTo>
                <a:lnTo>
                  <a:pt x="314351" y="960035"/>
                </a:lnTo>
                <a:lnTo>
                  <a:pt x="272852" y="941349"/>
                </a:lnTo>
                <a:lnTo>
                  <a:pt x="233475" y="919082"/>
                </a:lnTo>
                <a:lnTo>
                  <a:pt x="196429" y="893442"/>
                </a:lnTo>
                <a:lnTo>
                  <a:pt x="161921" y="864638"/>
                </a:lnTo>
                <a:lnTo>
                  <a:pt x="130161" y="832877"/>
                </a:lnTo>
                <a:lnTo>
                  <a:pt x="101357" y="798370"/>
                </a:lnTo>
                <a:lnTo>
                  <a:pt x="75717" y="761323"/>
                </a:lnTo>
                <a:lnTo>
                  <a:pt x="53449" y="721946"/>
                </a:lnTo>
                <a:lnTo>
                  <a:pt x="34763" y="680447"/>
                </a:lnTo>
                <a:lnTo>
                  <a:pt x="19867" y="637035"/>
                </a:lnTo>
                <a:lnTo>
                  <a:pt x="8968" y="591917"/>
                </a:lnTo>
                <a:lnTo>
                  <a:pt x="2276" y="545302"/>
                </a:lnTo>
                <a:lnTo>
                  <a:pt x="0" y="497399"/>
                </a:lnTo>
                <a:lnTo>
                  <a:pt x="2276" y="449496"/>
                </a:lnTo>
                <a:lnTo>
                  <a:pt x="8968" y="402882"/>
                </a:lnTo>
                <a:lnTo>
                  <a:pt x="19867" y="357764"/>
                </a:lnTo>
                <a:lnTo>
                  <a:pt x="34763" y="314351"/>
                </a:lnTo>
                <a:lnTo>
                  <a:pt x="53449" y="272852"/>
                </a:lnTo>
                <a:lnTo>
                  <a:pt x="75717" y="233475"/>
                </a:lnTo>
                <a:lnTo>
                  <a:pt x="101357" y="196429"/>
                </a:lnTo>
                <a:lnTo>
                  <a:pt x="130161" y="161921"/>
                </a:lnTo>
                <a:lnTo>
                  <a:pt x="161921" y="130161"/>
                </a:lnTo>
                <a:lnTo>
                  <a:pt x="196429" y="101357"/>
                </a:lnTo>
                <a:lnTo>
                  <a:pt x="233475" y="75717"/>
                </a:lnTo>
                <a:lnTo>
                  <a:pt x="272852" y="53449"/>
                </a:lnTo>
                <a:lnTo>
                  <a:pt x="314351" y="34763"/>
                </a:lnTo>
                <a:lnTo>
                  <a:pt x="357764" y="19867"/>
                </a:lnTo>
                <a:lnTo>
                  <a:pt x="402882" y="8968"/>
                </a:lnTo>
                <a:lnTo>
                  <a:pt x="449496" y="2276"/>
                </a:lnTo>
                <a:lnTo>
                  <a:pt x="497399" y="0"/>
                </a:lnTo>
                <a:lnTo>
                  <a:pt x="545302" y="2276"/>
                </a:lnTo>
                <a:lnTo>
                  <a:pt x="591917" y="8968"/>
                </a:lnTo>
                <a:lnTo>
                  <a:pt x="637035" y="19867"/>
                </a:lnTo>
                <a:lnTo>
                  <a:pt x="680447" y="34763"/>
                </a:lnTo>
                <a:lnTo>
                  <a:pt x="721946" y="53449"/>
                </a:lnTo>
                <a:lnTo>
                  <a:pt x="761323" y="75717"/>
                </a:lnTo>
                <a:lnTo>
                  <a:pt x="798370" y="101357"/>
                </a:lnTo>
                <a:lnTo>
                  <a:pt x="832877" y="130161"/>
                </a:lnTo>
                <a:lnTo>
                  <a:pt x="864638" y="161921"/>
                </a:lnTo>
                <a:lnTo>
                  <a:pt x="893442" y="196429"/>
                </a:lnTo>
                <a:lnTo>
                  <a:pt x="919082" y="233475"/>
                </a:lnTo>
                <a:lnTo>
                  <a:pt x="941349" y="272852"/>
                </a:lnTo>
                <a:lnTo>
                  <a:pt x="960035" y="314351"/>
                </a:lnTo>
                <a:lnTo>
                  <a:pt x="974932" y="357764"/>
                </a:lnTo>
                <a:lnTo>
                  <a:pt x="985830" y="402882"/>
                </a:lnTo>
                <a:lnTo>
                  <a:pt x="992522" y="449496"/>
                </a:lnTo>
                <a:lnTo>
                  <a:pt x="994799" y="497399"/>
                </a:lnTo>
                <a:lnTo>
                  <a:pt x="992522" y="545302"/>
                </a:lnTo>
                <a:lnTo>
                  <a:pt x="985830" y="591917"/>
                </a:lnTo>
                <a:lnTo>
                  <a:pt x="974932" y="637035"/>
                </a:lnTo>
                <a:lnTo>
                  <a:pt x="960035" y="680447"/>
                </a:lnTo>
                <a:lnTo>
                  <a:pt x="941349" y="721946"/>
                </a:lnTo>
                <a:lnTo>
                  <a:pt x="919082" y="761323"/>
                </a:lnTo>
                <a:lnTo>
                  <a:pt x="893442" y="798370"/>
                </a:lnTo>
                <a:lnTo>
                  <a:pt x="864638" y="832877"/>
                </a:lnTo>
                <a:lnTo>
                  <a:pt x="832877" y="864638"/>
                </a:lnTo>
                <a:lnTo>
                  <a:pt x="798370" y="893442"/>
                </a:lnTo>
                <a:lnTo>
                  <a:pt x="761323" y="919082"/>
                </a:lnTo>
                <a:lnTo>
                  <a:pt x="721946" y="941349"/>
                </a:lnTo>
                <a:lnTo>
                  <a:pt x="680447" y="960035"/>
                </a:lnTo>
                <a:lnTo>
                  <a:pt x="637035" y="974932"/>
                </a:lnTo>
                <a:lnTo>
                  <a:pt x="591917" y="985830"/>
                </a:lnTo>
                <a:lnTo>
                  <a:pt x="545302" y="992522"/>
                </a:lnTo>
                <a:lnTo>
                  <a:pt x="497399" y="994799"/>
                </a:lnTo>
                <a:close/>
              </a:path>
            </a:pathLst>
          </a:custGeom>
          <a:solidFill>
            <a:srgbClr val="DADADA">
              <a:alpha val="56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390492" y="2252251"/>
            <a:ext cx="5772785" cy="2322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257175">
              <a:lnSpc>
                <a:spcPct val="100000"/>
              </a:lnSpc>
              <a:spcBef>
                <a:spcPts val="120"/>
              </a:spcBef>
            </a:pPr>
            <a:r>
              <a:rPr dirty="0" sz="4500" spc="12735">
                <a:solidFill>
                  <a:srgbClr val="282828"/>
                </a:solidFill>
                <a:latin typeface="Microsoft Sans Serif"/>
                <a:cs typeface="Microsoft Sans Serif"/>
              </a:rPr>
              <a:t>🟢</a:t>
            </a:r>
            <a:r>
              <a:rPr dirty="0" sz="4500" spc="-550">
                <a:solidFill>
                  <a:srgbClr val="282828"/>
                </a:solidFill>
                <a:latin typeface="Microsoft Sans Serif"/>
                <a:cs typeface="Microsoft Sans Serif"/>
              </a:rPr>
              <a:t> </a:t>
            </a:r>
            <a:r>
              <a:rPr dirty="0" sz="3950" spc="-25">
                <a:solidFill>
                  <a:srgbClr val="282828"/>
                </a:solidFill>
                <a:latin typeface="Tahoma"/>
                <a:cs typeface="Tahoma"/>
              </a:rPr>
              <a:t>BUY</a:t>
            </a:r>
            <a:endParaRPr sz="3950">
              <a:latin typeface="Tahoma"/>
              <a:cs typeface="Tahoma"/>
            </a:endParaRPr>
          </a:p>
          <a:p>
            <a:pPr marL="274320" marR="5080" indent="-262255">
              <a:lnSpc>
                <a:spcPct val="116199"/>
              </a:lnSpc>
              <a:spcBef>
                <a:spcPts val="2765"/>
              </a:spcBef>
            </a:pPr>
            <a:r>
              <a:rPr dirty="0" sz="3550" spc="-20">
                <a:solidFill>
                  <a:srgbClr val="282828"/>
                </a:solidFill>
                <a:latin typeface="Tahoma"/>
                <a:cs typeface="Tahoma"/>
              </a:rPr>
              <a:t>BASE</a:t>
            </a:r>
            <a:r>
              <a:rPr dirty="0" sz="3550" spc="-3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550" spc="-175">
                <a:solidFill>
                  <a:srgbClr val="282828"/>
                </a:solidFill>
                <a:latin typeface="Tahoma"/>
                <a:cs typeface="Tahoma"/>
              </a:rPr>
              <a:t>TARGET</a:t>
            </a:r>
            <a:r>
              <a:rPr dirty="0" sz="3550" spc="-3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550" spc="-60">
                <a:solidFill>
                  <a:srgbClr val="282828"/>
                </a:solidFill>
                <a:latin typeface="Tahoma"/>
                <a:cs typeface="Tahoma"/>
              </a:rPr>
              <a:t>PRICE:</a:t>
            </a:r>
            <a:r>
              <a:rPr dirty="0" sz="3550" spc="-37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550" spc="-20">
                <a:solidFill>
                  <a:srgbClr val="282828"/>
                </a:solidFill>
                <a:latin typeface="Tahoma"/>
                <a:cs typeface="Tahoma"/>
              </a:rPr>
              <a:t>₹901.82 </a:t>
            </a:r>
            <a:r>
              <a:rPr dirty="0" sz="3550" spc="-135">
                <a:solidFill>
                  <a:srgbClr val="282828"/>
                </a:solidFill>
                <a:latin typeface="Tahoma"/>
                <a:cs typeface="Tahoma"/>
              </a:rPr>
              <a:t>POTENTIAL</a:t>
            </a:r>
            <a:r>
              <a:rPr dirty="0" sz="3550" spc="-3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550" spc="-75">
                <a:solidFill>
                  <a:srgbClr val="282828"/>
                </a:solidFill>
                <a:latin typeface="Tahoma"/>
                <a:cs typeface="Tahoma"/>
              </a:rPr>
              <a:t>UPSIDE:</a:t>
            </a:r>
            <a:r>
              <a:rPr dirty="0" sz="3550" spc="-3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550" spc="-10">
                <a:solidFill>
                  <a:srgbClr val="282828"/>
                </a:solidFill>
                <a:latin typeface="Tahoma"/>
                <a:cs typeface="Tahoma"/>
              </a:rPr>
              <a:t>23.0%</a:t>
            </a:r>
            <a:endParaRPr sz="35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10440" y="5643399"/>
            <a:ext cx="2944495" cy="53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30">
                <a:solidFill>
                  <a:srgbClr val="282828"/>
                </a:solidFill>
                <a:latin typeface="Tahoma"/>
                <a:cs typeface="Tahoma"/>
              </a:rPr>
              <a:t>BEAR</a:t>
            </a:r>
            <a:r>
              <a:rPr dirty="0" sz="3350" spc="-3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350" spc="-1340">
                <a:solidFill>
                  <a:srgbClr val="282828"/>
                </a:solidFill>
                <a:latin typeface="Tahoma"/>
                <a:cs typeface="Tahoma"/>
              </a:rPr>
              <a:t>→</a:t>
            </a:r>
            <a:r>
              <a:rPr dirty="0" sz="3350" spc="-3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350" spc="-25">
                <a:solidFill>
                  <a:srgbClr val="282828"/>
                </a:solidFill>
                <a:latin typeface="Tahoma"/>
                <a:cs typeface="Tahoma"/>
              </a:rPr>
              <a:t>₹711.50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36642" y="5643399"/>
            <a:ext cx="2922270" cy="53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20">
                <a:solidFill>
                  <a:srgbClr val="282828"/>
                </a:solidFill>
                <a:latin typeface="Tahoma"/>
                <a:cs typeface="Tahoma"/>
              </a:rPr>
              <a:t>BASE</a:t>
            </a:r>
            <a:r>
              <a:rPr dirty="0" sz="3350" spc="-3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350" spc="-1340">
                <a:solidFill>
                  <a:srgbClr val="282828"/>
                </a:solidFill>
                <a:latin typeface="Tahoma"/>
                <a:cs typeface="Tahoma"/>
              </a:rPr>
              <a:t>→</a:t>
            </a:r>
            <a:r>
              <a:rPr dirty="0" sz="3350" spc="-35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350" spc="-30">
                <a:solidFill>
                  <a:srgbClr val="282828"/>
                </a:solidFill>
                <a:latin typeface="Tahoma"/>
                <a:cs typeface="Tahoma"/>
              </a:rPr>
              <a:t>₹901.82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43732" y="5643399"/>
            <a:ext cx="3259454" cy="536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>
                <a:solidFill>
                  <a:srgbClr val="282828"/>
                </a:solidFill>
                <a:latin typeface="Tahoma"/>
                <a:cs typeface="Tahoma"/>
              </a:rPr>
              <a:t>BULL</a:t>
            </a:r>
            <a:r>
              <a:rPr dirty="0" sz="3350" spc="-3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350" spc="-1340">
                <a:solidFill>
                  <a:srgbClr val="282828"/>
                </a:solidFill>
                <a:latin typeface="Tahoma"/>
                <a:cs typeface="Tahoma"/>
              </a:rPr>
              <a:t>→</a:t>
            </a:r>
            <a:r>
              <a:rPr dirty="0" sz="3350" spc="-3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3350" spc="-30">
                <a:solidFill>
                  <a:srgbClr val="282828"/>
                </a:solidFill>
                <a:latin typeface="Tahoma"/>
                <a:cs typeface="Tahoma"/>
              </a:rPr>
              <a:t>₹1,052.25</a:t>
            </a:r>
            <a:endParaRPr sz="3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35453" y="7410215"/>
            <a:ext cx="14085569" cy="21558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744595" marR="43180" indent="-3694429">
              <a:lnSpc>
                <a:spcPct val="112599"/>
              </a:lnSpc>
              <a:spcBef>
                <a:spcPts val="165"/>
              </a:spcBef>
            </a:pPr>
            <a:r>
              <a:rPr dirty="0" baseline="-6633" sz="5025" spc="-375" b="1">
                <a:solidFill>
                  <a:srgbClr val="282828"/>
                </a:solidFill>
                <a:latin typeface="Tahoma"/>
                <a:cs typeface="Tahoma"/>
              </a:rPr>
              <a:t>Investment</a:t>
            </a:r>
            <a:r>
              <a:rPr dirty="0" baseline="-6633" sz="5025" spc="-315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baseline="-6633" sz="5025" spc="-209" b="1">
                <a:solidFill>
                  <a:srgbClr val="282828"/>
                </a:solidFill>
                <a:latin typeface="Tahoma"/>
                <a:cs typeface="Tahoma"/>
              </a:rPr>
              <a:t>thesis:</a:t>
            </a:r>
            <a:r>
              <a:rPr dirty="0" baseline="-6633" sz="5025" spc="-97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90">
                <a:solidFill>
                  <a:srgbClr val="282828"/>
                </a:solidFill>
                <a:latin typeface="Tahoma"/>
                <a:cs typeface="Tahoma"/>
              </a:rPr>
              <a:t>HDFC</a:t>
            </a:r>
            <a:r>
              <a:rPr dirty="0" sz="295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">
                <a:solidFill>
                  <a:srgbClr val="282828"/>
                </a:solidFill>
                <a:latin typeface="Tahoma"/>
                <a:cs typeface="Tahoma"/>
              </a:rPr>
              <a:t>Bank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combines</a:t>
            </a:r>
            <a:r>
              <a:rPr dirty="0" sz="295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scale,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5">
                <a:solidFill>
                  <a:srgbClr val="282828"/>
                </a:solidFill>
                <a:latin typeface="Tahoma"/>
                <a:cs typeface="Tahoma"/>
              </a:rPr>
              <a:t>strong</a:t>
            </a:r>
            <a:r>
              <a:rPr dirty="0" sz="295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capitalization</a:t>
            </a:r>
            <a:r>
              <a:rPr dirty="0" sz="2950" spc="-24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and</a:t>
            </a:r>
            <a:r>
              <a:rPr dirty="0" sz="295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a</a:t>
            </a:r>
            <a:r>
              <a:rPr dirty="0" sz="2950" spc="-23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resilient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deposit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franchise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40">
                <a:solidFill>
                  <a:srgbClr val="282828"/>
                </a:solidFill>
                <a:latin typeface="Tahoma"/>
                <a:cs typeface="Tahoma"/>
              </a:rPr>
              <a:t>with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60">
                <a:solidFill>
                  <a:srgbClr val="282828"/>
                </a:solidFill>
                <a:latin typeface="Tahoma"/>
                <a:cs typeface="Tahoma"/>
              </a:rPr>
              <a:t>improving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40">
                <a:solidFill>
                  <a:srgbClr val="282828"/>
                </a:solidFill>
                <a:latin typeface="Tahoma"/>
                <a:cs typeface="Tahoma"/>
              </a:rPr>
              <a:t>earnings</a:t>
            </a:r>
            <a:r>
              <a:rPr dirty="0" sz="2950" spc="-254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potential.</a:t>
            </a:r>
            <a:endParaRPr sz="2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50">
              <a:latin typeface="Tahoma"/>
              <a:cs typeface="Tahoma"/>
            </a:endParaRPr>
          </a:p>
          <a:p>
            <a:pPr marL="52705">
              <a:lnSpc>
                <a:spcPct val="100000"/>
              </a:lnSpc>
              <a:spcBef>
                <a:spcPts val="5"/>
              </a:spcBef>
            </a:pPr>
            <a:r>
              <a:rPr dirty="0" sz="2950" spc="-220" b="1">
                <a:solidFill>
                  <a:srgbClr val="282828"/>
                </a:solidFill>
                <a:latin typeface="Tahoma"/>
                <a:cs typeface="Tahoma"/>
              </a:rPr>
              <a:t>BUY</a:t>
            </a:r>
            <a:r>
              <a:rPr dirty="0" sz="2950" spc="-200" b="1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04">
                <a:solidFill>
                  <a:srgbClr val="282828"/>
                </a:solidFill>
                <a:latin typeface="Tahoma"/>
                <a:cs typeface="Tahoma"/>
              </a:rPr>
              <a:t>: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subject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to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35">
                <a:solidFill>
                  <a:srgbClr val="282828"/>
                </a:solidFill>
                <a:latin typeface="Tahoma"/>
                <a:cs typeface="Tahoma"/>
              </a:rPr>
              <a:t>the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assumptions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and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282828"/>
                </a:solidFill>
                <a:latin typeface="Tahoma"/>
                <a:cs typeface="Tahoma"/>
              </a:rPr>
              <a:t>valuation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55">
                <a:solidFill>
                  <a:srgbClr val="282828"/>
                </a:solidFill>
                <a:latin typeface="Tahoma"/>
                <a:cs typeface="Tahoma"/>
              </a:rPr>
              <a:t>framework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used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in</a:t>
            </a:r>
            <a:r>
              <a:rPr dirty="0" sz="2950" spc="-265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282828"/>
                </a:solidFill>
                <a:latin typeface="Tahoma"/>
                <a:cs typeface="Tahoma"/>
              </a:rPr>
              <a:t>this</a:t>
            </a:r>
            <a:r>
              <a:rPr dirty="0" sz="2950" spc="-260">
                <a:solidFill>
                  <a:srgbClr val="282828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282828"/>
                </a:solidFill>
                <a:latin typeface="Tahoma"/>
                <a:cs typeface="Tahoma"/>
              </a:rPr>
              <a:t>analysis.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Varshitha Chowdary</dc:creator>
  <cp:keywords>DAHTSKl3D1k,BAGly12eSSA</cp:keywords>
  <dc:title>HDFC BANK EQUITY RESEARCH</dc:title>
  <dcterms:created xsi:type="dcterms:W3CDTF">2026-08-25T13:40:35Z</dcterms:created>
  <dcterms:modified xsi:type="dcterms:W3CDTF">2026-08-25T13:40:35Z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2026-08-25T00:00:00Z</vt:filetime>
  </property>
  <property fmtid="{D5CDD505-2E9C-101B-9397-08002B2CF9AE}" pid="4" name="Creator">
    <vt:lpwstr>Canva</vt:lpwstr>
  </property>
  <property fmtid="{D5CDD505-2E9C-101B-9397-08002B2CF9AE}" pid="5" name="LastSaved">
    <vt:filetime>2026-08-25T00:00:00Z</vt:filetime>
  </property>
  <property fmtid="{D5CDD505-2E9C-101B-9397-08002B2CF9AE}" pid="6" name="Producer">
    <vt:lpwstr>Canva</vt:lpwstr>
  </property>
</Properties>
</file>